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b275b02ebc4c82" /><Relationship Type="http://schemas.openxmlformats.org/officeDocument/2006/relationships/extended-properties" Target="/docProps/app.xml" Id="R0abdd106f29c496d" /><Relationship Type="http://schemas.openxmlformats.org/officeDocument/2006/relationships/officeDocument" Target="/ppt/presentation.xml" Id="R9a4f0b840ad447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3ca27886dc4e43"/>
  </p:sldMasterIdLst>
  <p:notesMasterIdLst>
    <p:notesMasterId xmlns:r="http://schemas.openxmlformats.org/officeDocument/2006/relationships" r:id="R3a1682a86bbf4776"/>
  </p:notesMasterIdLst>
  <p:sldIdLst>
    <p:sldId xmlns:r="http://schemas.openxmlformats.org/officeDocument/2006/relationships" id="256" r:id="R9fe647e9cfb14965"/>
    <p:sldId xmlns:r="http://schemas.openxmlformats.org/officeDocument/2006/relationships" id="257" r:id="R450cf0a65bfd4b0a"/>
    <p:sldId xmlns:r="http://schemas.openxmlformats.org/officeDocument/2006/relationships" id="258" r:id="R2ea737c52e5b47c6"/>
    <p:sldId xmlns:r="http://schemas.openxmlformats.org/officeDocument/2006/relationships" id="259" r:id="Re44983c8273649b8"/>
    <p:sldId xmlns:r="http://schemas.openxmlformats.org/officeDocument/2006/relationships" id="260" r:id="R77a5cf4ce1c04607"/>
    <p:sldId xmlns:r="http://schemas.openxmlformats.org/officeDocument/2006/relationships" id="261" r:id="Ra2181ae792404833"/>
    <p:sldId xmlns:r="http://schemas.openxmlformats.org/officeDocument/2006/relationships" id="262" r:id="R544916e6d50f4ac4"/>
    <p:sldId xmlns:r="http://schemas.openxmlformats.org/officeDocument/2006/relationships" id="263" r:id="R84461fcd4fc84593"/>
    <p:sldId xmlns:r="http://schemas.openxmlformats.org/officeDocument/2006/relationships" id="264" r:id="R56fdf499a45a43fd"/>
    <p:sldId xmlns:r="http://schemas.openxmlformats.org/officeDocument/2006/relationships" id="265" r:id="R4b833e65d72c4c21"/>
    <p:sldId xmlns:r="http://schemas.openxmlformats.org/officeDocument/2006/relationships" id="266" r:id="R2834ae26e5c04376"/>
    <p:sldId xmlns:r="http://schemas.openxmlformats.org/officeDocument/2006/relationships" id="267" r:id="R3cd0f97bc93e4c12"/>
    <p:sldId xmlns:r="http://schemas.openxmlformats.org/officeDocument/2006/relationships" id="268" r:id="R3e8259c61b6c4e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8ce407ce4a4d28" /><Relationship Type="http://schemas.openxmlformats.org/officeDocument/2006/relationships/slideMaster" Target="/ppt/slideMasters/slideMaster1.xml" Id="R453ca27886dc4e43" /><Relationship Type="http://schemas.openxmlformats.org/officeDocument/2006/relationships/notesMaster" Target="/ppt/notesMasters/notesMaster1.xml" Id="R3a1682a86bbf4776" /><Relationship Type="http://schemas.openxmlformats.org/officeDocument/2006/relationships/presProps" Target="/ppt/presProps.xml" Id="R2dbb7cb4c3c74af7" /><Relationship Type="http://schemas.openxmlformats.org/officeDocument/2006/relationships/tableStyles" Target="/ppt/tableStyles.xml" Id="Ra027e617d1a54163" /><Relationship Type="http://schemas.openxmlformats.org/officeDocument/2006/relationships/slide" Target="/ppt/slides/slide1.xml" Id="R9fe647e9cfb14965" /><Relationship Type="http://schemas.openxmlformats.org/officeDocument/2006/relationships/slide" Target="/ppt/slides/slide2.xml" Id="R450cf0a65bfd4b0a" /><Relationship Type="http://schemas.openxmlformats.org/officeDocument/2006/relationships/slide" Target="/ppt/slides/slide3.xml" Id="R2ea737c52e5b47c6" /><Relationship Type="http://schemas.openxmlformats.org/officeDocument/2006/relationships/slide" Target="/ppt/slides/slide4.xml" Id="Re44983c8273649b8" /><Relationship Type="http://schemas.openxmlformats.org/officeDocument/2006/relationships/slide" Target="/ppt/slides/slide5.xml" Id="R77a5cf4ce1c04607" /><Relationship Type="http://schemas.openxmlformats.org/officeDocument/2006/relationships/slide" Target="/ppt/slides/slide6.xml" Id="Ra2181ae792404833" /><Relationship Type="http://schemas.openxmlformats.org/officeDocument/2006/relationships/slide" Target="/ppt/slides/slide7.xml" Id="R544916e6d50f4ac4" /><Relationship Type="http://schemas.openxmlformats.org/officeDocument/2006/relationships/slide" Target="/ppt/slides/slide8.xml" Id="R84461fcd4fc84593" /><Relationship Type="http://schemas.openxmlformats.org/officeDocument/2006/relationships/slide" Target="/ppt/slides/slide9.xml" Id="R56fdf499a45a43fd" /><Relationship Type="http://schemas.openxmlformats.org/officeDocument/2006/relationships/slide" Target="/ppt/slides/slide10.xml" Id="R4b833e65d72c4c21" /><Relationship Type="http://schemas.openxmlformats.org/officeDocument/2006/relationships/slide" Target="/ppt/slides/slide11.xml" Id="R2834ae26e5c04376" /><Relationship Type="http://schemas.openxmlformats.org/officeDocument/2006/relationships/slide" Target="/ppt/slides/slide12.xml" Id="R3cd0f97bc93e4c12" /><Relationship Type="http://schemas.openxmlformats.org/officeDocument/2006/relationships/slide" Target="/ppt/slides/slide13.xml" Id="R3e8259c61b6c4e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942e3038404d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8ce5eef7f446cf" /><Relationship Type="http://schemas.openxmlformats.org/officeDocument/2006/relationships/notesMaster" Target="/ppt/notesMasters/notesMaster1.xml" Id="R7b6eb3f6fade40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d1fd52eb6f4fa2" /><Relationship Type="http://schemas.openxmlformats.org/officeDocument/2006/relationships/notesMaster" Target="/ppt/notesMasters/notesMaster1.xml" Id="R7f1cab31b8a84a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14cc03363b4f43" /><Relationship Type="http://schemas.openxmlformats.org/officeDocument/2006/relationships/notesMaster" Target="/ppt/notesMasters/notesMaster1.xml" Id="R6c4f74356b464b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a5317b333446b8" /><Relationship Type="http://schemas.openxmlformats.org/officeDocument/2006/relationships/notesMaster" Target="/ppt/notesMasters/notesMaster1.xml" Id="Rb71f84b0c7ea48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746c38c465430e" /><Relationship Type="http://schemas.openxmlformats.org/officeDocument/2006/relationships/notesMaster" Target="/ppt/notesMasters/notesMaster1.xml" Id="R9f13cd5b729549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33f4692ef14b08" /><Relationship Type="http://schemas.openxmlformats.org/officeDocument/2006/relationships/notesMaster" Target="/ppt/notesMasters/notesMaster1.xml" Id="R61cd2a695e3346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13436c804e48d2" /><Relationship Type="http://schemas.openxmlformats.org/officeDocument/2006/relationships/notesMaster" Target="/ppt/notesMasters/notesMaster1.xml" Id="R9cc01abc9c4d47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d122d8c22474b" /><Relationship Type="http://schemas.openxmlformats.org/officeDocument/2006/relationships/notesMaster" Target="/ppt/notesMasters/notesMaster1.xml" Id="Rf31dfa102f1e4e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103a4317aa4795" /><Relationship Type="http://schemas.openxmlformats.org/officeDocument/2006/relationships/notesMaster" Target="/ppt/notesMasters/notesMaster1.xml" Id="Rf4210fee75d44b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287474ce0543a0" /><Relationship Type="http://schemas.openxmlformats.org/officeDocument/2006/relationships/notesMaster" Target="/ppt/notesMasters/notesMaster1.xml" Id="Rcd116d2f49b74a8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879320f21c47f0" /><Relationship Type="http://schemas.openxmlformats.org/officeDocument/2006/relationships/notesMaster" Target="/ppt/notesMasters/notesMaster1.xml" Id="R26489870bfaf40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d3d9ec26374b0f" /><Relationship Type="http://schemas.openxmlformats.org/officeDocument/2006/relationships/notesMaster" Target="/ppt/notesMasters/notesMaster1.xml" Id="Rfce96b04e31c43f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65ce8dd7b84e6a" /><Relationship Type="http://schemas.openxmlformats.org/officeDocument/2006/relationships/notesMaster" Target="/ppt/notesMasters/notesMaster1.xml" Id="Rf71673d10e904e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Tynys өкпе рентгенін NORMAL және PNEUMONIA санаттарына жіктейді. CNN мен MobileNetV2-ні TensorFlow/Keras арқылы үйретіп, қазақша сайтқа қостым. Қазір validation калибрлеуі мен OOD ескертуі де іске қосылды.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Мәселе — рентгенді бастапқы сұрыптауға қолдау қажеттілігі. Мақсат — екі санатты классификация моделін ыңғайлы сайт арқылы қолдану. Клиникада маман уақытын қаншалықты үнемдейтінін өлшеген жоқпын.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5856 жарамды суретті тазалағаннан кейін train 3801, validation 952, test 618 сурет қалды. Көшірмелерді SHA-256 және файл атауынан алынған топтармен тексердім. Бұл топтар ресми пациент ID емес.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CNN белгілерді басынан үйренеді. MobileNetV2 ImageNet салмақтарына сүйенеді. Кіріс бұрынғыдай RGB, float32 және resize_with_pad 224×224. Жаңа validation шектері CNN үшін 0,475, MobileNetV2 үшін 0,745. Сыртқы нормализация қосылған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 sigmoid арқылы raw балл шығарады. Оны sigmoid(logit(raw)/T) арқылы калибрлейміз. Шартты raw 0,80 болса, p_cal шамамен 0,804, ол 0,745 шегінен жоғары, сондықтан PNEUMONIA. Binary cross-entropy формуласы үйретудегі raw баллға қатысты.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Қазіргі калибрленген test: CNN accuracy 71,52%, MobileNetV2 89,16%. MobileNetV2 recall 96,12%, FN 15, FP 52. 90% мақсатына жетпеді. McNemar: CNN-only 19, MobileNetV2-only 128, p=4,83×10⁻²¹. Ensemble accuracy 89,16%, ROC-AUC 0,9583. Accuracy өскен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Бір суретке CNN, MobileNetV2 және Ensemble санаты, баллы және өз шешім шегі көрсетіледі. Ensemble коэффициенттері тек validation NLL бойынша таңдалған: CNN шамамен 0,10%, MobileNetV2 99,90%. Сайт пен PDF осы конфигурацияны қолданады.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Grad-CAM таңдалған санатқа ықпал еткен аймақтарды жуық көрсетеді. Оның reconstructed_score мәні калибрленген емес, raw sigmoid-пен салыстырылады. Карта зақым шекарасы емес. OOD тек ескерту береді, болжамды блоктамайды.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PDF түпнұсқа, Grad-CAM, T, шешім шегі және салыстыруды көрсетеді. OOD ескертуі де кіреді. NORMAL мен PNEUMONIA беттерінің бір параққа сыйуын тексердім. Тарих тек бет жадында, жаңартқанда жойылады.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Ensemble, калибрлеу, OOD және DICOM дайын. 56 жергілікті тест өтті. Үш белгіге жеке эксперимент жүргізілді, бірақ сайтқа қосылған жоқ. Docker daemon өшірулі болғандықтан контейнер тексерілмеді. Келесі жұмыс — деректерді кеңейтіп, белгілерді мамандармен тексеру.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OpenI-дің сол 200 суретін жаңа калибрленген балл және 0,745 шегімен қайта бағаладым. Accuracy 55,00%, recall 57,50%, AUC 0,5442. Таңдау мен шекті сыртқы белгілерге қарап өзгерткен жоқпын. Report UID — surrogate топ, нақты пациент ID толық расталмаған. Сыртқы CNN accuracy 21,50%, Ensemble 55,00%. Екі модельді біріктіру осы сыртқы жиындағы мәселені шешпеді.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952 validation файлының бәрі SHA-256 бойынша тексерілді. MobileNetV2 T=0,97996, CNN T=0,68203. OOD 1280 белгі мен covariance арқылы есептелді, 95-процентиль шегі 26,3409. Non-X-ray сапасы бөлек тексерілген жоқ. Бұл оқу прототипі, клиникалық қолдануға бөлек тексеру қажет.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Бұл сайттан бөлек үш белгі бойынша оқу эксперименті. 617 бірегей сурет, train 434, validation 91, test 92. Бір report және бірдей SHA-256 суреттері бөліктер арасында қайталанбайды. ImageNet MobileNetV2, GAP және үш sigmoid басын BCE арқылы үйреттім. Алдымен head, кейін соңғы 30 қабат, BatchNormalization мұздатылған. Таңдалған кезең: fine. Әр белгі шегі validation F1 бойынша таңдалған. pneumonia: AUC 0,5378, F1 0,2308. atelectasis: AUC 0,6196, F1 0,4828. cardiomegaly: AUC 0,5632, F1 0,4894. MeSH report деңгейіндегі әлсіз белгі, нақты диагноз емес. 0 URL қолжетімсіз болғандықтан бөлуден бұрын шығарылды. 8 қате сурет жергілікті private бумасына сақталды. OpenI суреттері мен осы салмақтар таратылатын архивке кірмейді. Сайтта бұрынғы binary модельдер қалды.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training/outputs/multilabel/{data_report.json,experiment_report.json,per_label_metrics.csv}.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9756781f80417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1d44d323a4c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b48617e24642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68b01f3c7415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37e525ff44e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5282ba350945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14AE31-8D9D-4F27-BEFA-363A9E30E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1F4815-CFE7-4740-9385-F3E30AEFC1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B3971F7-2EFB-4569-B8B6-0912C31E1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C72CFC-2F04-4CAB-A460-2D8AF11DA8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C08BEB-6330-43C6-ADC5-1560C9E235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195D2D4-F27C-4C13-8B39-5E578933DC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97EFA3-BF78-46CC-9479-9FBF3DA71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501100-A07C-41AB-A795-DA01AABEF0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F4718-B7CC-4ACB-AE77-369D5C3E92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FAF339-8AA7-40E8-9823-436BBC4C92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015154d374a8f" /><Relationship Type="http://schemas.openxmlformats.org/officeDocument/2006/relationships/slideLayout" Target="/ppt/slideLayouts/slideLayout1.xml" Id="Re4da53510e9142c2" /><Relationship Type="http://schemas.openxmlformats.org/officeDocument/2006/relationships/slideLayout" Target="/ppt/slideLayouts/slideLayout2.xml" Id="R2730f1f500a84cb8" /><Relationship Type="http://schemas.openxmlformats.org/officeDocument/2006/relationships/slideLayout" Target="/ppt/slideLayouts/slideLayout3.xml" Id="R235df686a9ed42eb" /><Relationship Type="http://schemas.openxmlformats.org/officeDocument/2006/relationships/slideLayout" Target="/ppt/slideLayouts/slideLayout4.xml" Id="R3425e67f587d48ef" /><Relationship Type="http://schemas.openxmlformats.org/officeDocument/2006/relationships/slideLayout" Target="/ppt/slideLayouts/slideLayout5.xml" Id="Ra122d5383e2a4980" /><Relationship Type="http://schemas.openxmlformats.org/officeDocument/2006/relationships/slideLayout" Target="/ppt/slideLayouts/slideLayout6.xml" Id="R25061735d34d4f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da53510e9142c2"/>
    <p:sldLayoutId xmlns:r="http://schemas.openxmlformats.org/officeDocument/2006/relationships" id="2147483650" r:id="R2730f1f500a84cb8"/>
    <p:sldLayoutId xmlns:r="http://schemas.openxmlformats.org/officeDocument/2006/relationships" id="2147483651" r:id="R235df686a9ed42eb"/>
    <p:sldLayoutId xmlns:r="http://schemas.openxmlformats.org/officeDocument/2006/relationships" id="2147483652" r:id="R3425e67f587d48ef"/>
    <p:sldLayoutId xmlns:r="http://schemas.openxmlformats.org/officeDocument/2006/relationships" id="2147483653" r:id="Ra122d5383e2a4980"/>
    <p:sldLayoutId xmlns:r="http://schemas.openxmlformats.org/officeDocument/2006/relationships" id="2147483654" r:id="R25061735d34d4f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5e048f0a0c47f0" /><Relationship Type="http://schemas.openxmlformats.org/officeDocument/2006/relationships/image" Target="/ppt/media/image.png" Id="Rfc102c6c90f443a4" /><Relationship Type="http://schemas.openxmlformats.org/officeDocument/2006/relationships/notesSlide" Target="/ppt/notesSlides/notesSlide1.xml" Id="R0a3194ae980f45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7096801fbe448e" /><Relationship Type="http://schemas.openxmlformats.org/officeDocument/2006/relationships/notesSlide" Target="/ppt/notesSlides/notesSlide2.xml" Id="Rb30e1767e13946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0ba72c517e4535" /><Relationship Type="http://schemas.openxmlformats.org/officeDocument/2006/relationships/notesSlide" Target="/ppt/notesSlides/notesSlide3.xml" Id="R96b627ae708448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10619d62dc4048" /><Relationship Type="http://schemas.openxmlformats.org/officeDocument/2006/relationships/notesSlide" Target="/ppt/notesSlides/notesSlide4.xml" Id="R0f5b6ec1394547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9c0732e69c4f1a" /><Relationship Type="http://schemas.openxmlformats.org/officeDocument/2006/relationships/notesSlide" Target="/ppt/notesSlides/notesSlide5.xml" Id="R29e97e8cfa8246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7b7589da2f49a6" /><Relationship Type="http://schemas.openxmlformats.org/officeDocument/2006/relationships/notesSlide" Target="/ppt/notesSlides/notesSlide6.xml" Id="R700b25d2cec148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6eebe6531b45d0" /><Relationship Type="http://schemas.openxmlformats.org/officeDocument/2006/relationships/image" Target="/ppt/media/image.jpeg" Id="R8dfb66f403574a22" /><Relationship Type="http://schemas.openxmlformats.org/officeDocument/2006/relationships/notesSlide" Target="/ppt/notesSlides/notesSlide7.xml" Id="R8d610a7ad29d47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da041e4c0e42a5" /><Relationship Type="http://schemas.openxmlformats.org/officeDocument/2006/relationships/image" Target="/ppt/media/image2.jpeg" Id="Rd867fea79e2544da" /><Relationship Type="http://schemas.openxmlformats.org/officeDocument/2006/relationships/notesSlide" Target="/ppt/notesSlides/notesSlide8.xml" Id="R87d62de213f048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8304b5e3a44d8e" /><Relationship Type="http://schemas.openxmlformats.org/officeDocument/2006/relationships/image" Target="/ppt/media/image3.jpeg" Id="Raac6e2ddc7d54d5d" /><Relationship Type="http://schemas.openxmlformats.org/officeDocument/2006/relationships/image" Target="/ppt/media/image2.png" Id="R932ec7af56c94e8c" /><Relationship Type="http://schemas.openxmlformats.org/officeDocument/2006/relationships/notesSlide" Target="/ppt/notesSlides/notesSlide9.xml" Id="R4d48187e2dcf4f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101207b4554ea6" /><Relationship Type="http://schemas.openxmlformats.org/officeDocument/2006/relationships/notesSlide" Target="/ppt/notesSlides/notesSlide10.xml" Id="R233d71be1eef44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a6466b6bac4cfb" /><Relationship Type="http://schemas.openxmlformats.org/officeDocument/2006/relationships/notesSlide" Target="/ppt/notesSlides/notesSlide11.xml" Id="R762c54af4cbb4a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f66b0bbd534739" /><Relationship Type="http://schemas.openxmlformats.org/officeDocument/2006/relationships/notesSlide" Target="/ppt/notesSlides/notesSlide12.xml" Id="Rf2e482138b5e411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96ab8872bc4682" /><Relationship Type="http://schemas.openxmlformats.org/officeDocument/2006/relationships/notesSlide" Target="/ppt/notesSlides/notesSlide13.xml" Id="R1673e853986f4d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9B9CB-C7EC-4B85-B0DC-07C77A75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9810E-A05B-43F5-AFE8-5115A34FB2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02c6c90f443a4"/>
          <a:stretch xmlns:a="http://schemas.openxmlformats.org/drawingml/2006/main"/>
        </p:blipFill>
        <p:spPr>
          <a:xfrm xmlns:a="http://schemas.openxmlformats.org/drawingml/2006/main">
            <a:off x="6810375" y="952500"/>
            <a:ext cx="4857750" cy="4857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64969-0621-4E35-9D1C-0840C90B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Tynys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9DCA0-5F90-4A33-A898-A1D1FA61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57475"/>
            <a:ext cx="6191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Өкпе рентгенін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машиналық оқытумен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5B0F7-513C-41DA-B23C-02D7FB6F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TensorFlow / Keras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CNN және MobileNetV2</a:t>
            </a:r>
          </a:p>
        </p:txBody>
      </p:sp>
    </p:spTree>
    <p:extLst>
      <p:ext uri="{BB962C8B-B14F-4D97-AF65-F5344CB8AC3E}">
        <p14:creationId xmlns:p14="http://schemas.microsoft.com/office/powerpoint/2010/main" val="619667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F543F-9128-411A-BB25-1238B7C3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Мәселе және жоба мақсаты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78937-DA6D-4A90-9256-D497EEF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F9A27-7044-41D4-AE24-DBF2FD7D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Бастапқы сұрыптауға қолдау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7B61E-4BF7-495C-A58F-0CE0B9AB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1057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Мамандар жетіспейтін аймақтарда рентгенді</a:t>
            </a:r>
          </a:p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алғашқы бағалау қажеттілігі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39BA5-C543-4E6D-9335-0F5F57F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Мақсат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AEDF7-5E35-4AD7-96FC-F0C24112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33925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NORMAL / PNEUMONIA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 моделін сайтқа қосу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2CDEF-BBBC-4FF6-98BB-DB108DA0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08622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Көзделген пайда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182A4-93FA-409F-B5D0-C05846E0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3392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Суреттерді сұрыптау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Нәтижені түсінікті көрсету</a:t>
            </a:r>
          </a:p>
        </p:txBody>
      </p:sp>
    </p:spTree>
    <p:extLst>
      <p:ext uri="{BB962C8B-B14F-4D97-AF65-F5344CB8AC3E}">
        <p14:creationId xmlns:p14="http://schemas.microsoft.com/office/powerpoint/2010/main" val="304876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DAE24-4900-4BF8-B093-BC284738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Датасет және эксперименттің бөлінуі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4E8C3-C208-4B18-B54B-8A66D26A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9517F-C6F0-4DEB-98D2-749CD438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953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65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5856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4C4EA-E43C-4F13-9F71-72DEC502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86075"/>
            <a:ext cx="542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оқылған жарамды сурет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C47C-EC9C-446F-ABD6-02EB72F0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3832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5371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5F830-8E64-4F9C-9ED1-F3772A3C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33700"/>
            <a:ext cx="385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тазалаудан кейін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9F000-F70C-4FE6-A8D3-0150527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3801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12961-85A5-4BEC-B45D-EDD9E848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3266F-B431-4461-BCA9-452BA50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2432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827C8-C448-4BA1-87A9-C87BBEB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029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33209-80BB-4FA2-A3A0-827C42FE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243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AC610-4000-4BFB-ADDD-48E9D388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0292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17C4F-0FBD-46DC-A483-DF195FC8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453 development суретін test қиылысуына байланысты шығардық</a:t>
            </a:r>
          </a:p>
        </p:txBody>
      </p:sp>
    </p:spTree>
    <p:extLst>
      <p:ext uri="{BB962C8B-B14F-4D97-AF65-F5344CB8AC3E}">
        <p14:creationId xmlns:p14="http://schemas.microsoft.com/office/powerpoint/2010/main" val="2237996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872B9-6028-4EE6-8FD8-EEB1AC4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Модельден веб-сайтқа дейін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2D68C-A286-4281-94E3-C4A92784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B8B35-FDF6-4399-9ACC-BDAA6F68B054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667125"/>
                <a:gridCol w="4448175"/>
              </a:tblGrid>
              <a:tr h="6429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Бастапқы салмақ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Кездейсоқ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ImageNet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Үйрету тәсілі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CNN-ді басынан үйрету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Transfer Learning + fine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Шешім шегі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0,745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861AD-8BB6-4C28-BD5B-9BA75EFF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224 × 224 RGB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33468-7868-4132-8941-4A2F5713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5191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Colab-тағы өңдеу сайтта сақталған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5F87E-D07A-41C3-99CB-14ED6346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006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FastAPI + TensorFlow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B8877-3692-4752-94E8-2A1E56A5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14975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HTML / CSS / JavaScript интерфейсі</a:t>
            </a:r>
          </a:p>
        </p:txBody>
      </p:sp>
    </p:spTree>
    <p:extLst>
      <p:ext uri="{BB962C8B-B14F-4D97-AF65-F5344CB8AC3E}">
        <p14:creationId xmlns:p14="http://schemas.microsoft.com/office/powerpoint/2010/main" val="14644002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9D075-2B0B-4B88-A12A-19A432F8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Математикалық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00A86-411B-43CB-AE21-6FF21684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EA0F0-6952-4E35-9365-46407E0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z = wᵀhθ(x) +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F1134-5438-42A3-95C9-B558AEA1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 = 1 / (1 + exp(−z))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6E7BF-7826-47BF-A3C2-4B60ABB0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ℓ = −aᵧ[y ln p + (1−y) ln(1−p)]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317C0-CFFB-4FD7-B628-1366C60F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Шартты есеп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4C07D-432B-4599-BC24-5D9467CA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p_raw = 0,80, p_cal ≈ 0,804 ≥ 0,745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95961-A4F4-4B14-8A01-C4292A3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PNEUMONIA болжамы. y = 1, aᵧ = 1 болса, loss ≈ 0,2231</a:t>
            </a:r>
          </a:p>
        </p:txBody>
      </p:sp>
    </p:spTree>
    <p:extLst>
      <p:ext uri="{BB962C8B-B14F-4D97-AF65-F5344CB8AC3E}">
        <p14:creationId xmlns:p14="http://schemas.microsoft.com/office/powerpoint/2010/main" val="1055895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2A8D1-7844-4B49-B0D3-08B923C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Соңғы тест нәтижелері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09C6E-957B-4628-B363-14D43B84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C4D8C-20AA-4851-B234-6E704E6221EF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71,52%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70,81%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92,76%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35,93%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0,8031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0,8211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F1A87-F665-4C8B-BAC3-CCB6F153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5286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 = 4,83 × 10⁻²¹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D2AB2-03F6-457E-BED7-FB568059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McNemar: осы тестте айырма маңызды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A28C1-93A3-474D-AFCC-7B994113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162550"/>
            <a:ext cx="4572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15 FN / 52 FP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C3178-E0ED-4DE1-A7ED-D8984C9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8578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90% accuracy мақсатына жетпеді</a:t>
            </a:r>
          </a:p>
        </p:txBody>
      </p:sp>
    </p:spTree>
    <p:extLst>
      <p:ext uri="{BB962C8B-B14F-4D97-AF65-F5344CB8AC3E}">
        <p14:creationId xmlns:p14="http://schemas.microsoft.com/office/powerpoint/2010/main" val="8130029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38C2B-E224-4678-AE4A-10161C5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Бір сурет және үш болжам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E43D7-907F-486D-B6F6-4F4505D7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306E0-4F7F-4297-AAC0-AE015768BF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b66f403574a22"/>
          <a:stretch xmlns:a="http://schemas.openxmlformats.org/drawingml/2006/main"/>
        </p:blipFill>
        <p:spPr>
          <a:xfrm xmlns:a="http://schemas.openxmlformats.org/drawingml/2006/main">
            <a:off x="860203" y="1743075"/>
            <a:ext cx="6794944" cy="44577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783AF-4F81-48FF-BEC5-157E4809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JPG / PNG / DICOM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02B56-C101-48ED-924C-8DE73790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19375"/>
            <a:ext cx="3095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топта 10 суретке дейін</a:t>
            </a:r>
          </a:p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Әр файл ≤ 12 МБ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080B8-A4AE-407D-ABFF-6657DE70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14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Санат, балл және</a:t>
            </a:r>
          </a:p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шешім шегі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800CE-743C-4B24-BB58-8C54BC0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276850"/>
            <a:ext cx="309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Болжамдардың сәйкестігін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экранда көру</a:t>
            </a:r>
          </a:p>
        </p:txBody>
      </p:sp>
    </p:spTree>
    <p:extLst>
      <p:ext uri="{BB962C8B-B14F-4D97-AF65-F5344CB8AC3E}">
        <p14:creationId xmlns:p14="http://schemas.microsoft.com/office/powerpoint/2010/main" val="21448030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33CA6-F97E-4619-9E9C-425E6019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Grad-CAM: модель назарын көрсету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F3AD-8B4F-4A1C-9732-CF7DB8C0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07F53E-79C5-4102-B4DC-66C490B7D7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7fea79e2544da"/>
          <a:stretch xmlns:a="http://schemas.openxmlformats.org/drawingml/2006/main"/>
        </p:blipFill>
        <p:spPr>
          <a:xfrm xmlns:a="http://schemas.openxmlformats.org/drawingml/2006/main">
            <a:off x="780348" y="1695450"/>
            <a:ext cx="6954654" cy="45624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B5D2A-DF91-4497-81DC-612692BF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Модель назары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52083-772D-4712-B8C1-BBA51030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28975"/>
            <a:ext cx="3095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Түпнұсқа / жылу картасы</a:t>
            </a:r>
          </a:p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Белгіленген PNG жүктеу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8D5EA-5837-4523-9E41-B8EFF07D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95850"/>
            <a:ext cx="314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Карта ықпалды аймақтарды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жуық көрсетеді. Зақымның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нақты шекарасын бермейді.</a:t>
            </a:r>
          </a:p>
        </p:txBody>
      </p:sp>
    </p:spTree>
    <p:extLst>
      <p:ext uri="{BB962C8B-B14F-4D97-AF65-F5344CB8AC3E}">
        <p14:creationId xmlns:p14="http://schemas.microsoft.com/office/powerpoint/2010/main" val="67803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99F64-CC26-402C-81BD-4F732A51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Қорытынды есеп және талдау тарихы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845F2-9D71-42C9-9ADC-4E3950A8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E0E1C-71A9-4CEA-A0B9-BB62F60B36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6e2ddc7d54d5d"/>
          <a:stretch xmlns:a="http://schemas.openxmlformats.org/drawingml/2006/main"/>
        </p:blipFill>
        <p:spPr>
          <a:xfrm xmlns:a="http://schemas.openxmlformats.org/drawingml/2006/main">
            <a:off x="523875" y="1736494"/>
            <a:ext cx="6524625" cy="42803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5D655-F408-4091-B82E-0615489332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ec7af56c94e8c"/>
          <a:stretch xmlns:a="http://schemas.openxmlformats.org/drawingml/2006/main"/>
        </p:blipFill>
        <p:spPr>
          <a:xfrm xmlns:a="http://schemas.openxmlformats.org/drawingml/2006/main">
            <a:off x="7419975" y="1680490"/>
            <a:ext cx="2867025" cy="4049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A8D23-FC49-4980-AD98-4109201C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Соңғы 20 талдауға қайта оралу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5357C-F098-493E-AD14-1575D4E9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6162675"/>
            <a:ext cx="3267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PDF / мәтін есебі</a:t>
            </a:r>
          </a:p>
        </p:txBody>
      </p:sp>
    </p:spTree>
    <p:extLst>
      <p:ext uri="{BB962C8B-B14F-4D97-AF65-F5344CB8AC3E}">
        <p14:creationId xmlns:p14="http://schemas.microsoft.com/office/powerpoint/2010/main" val="998768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C3BAE-4F07-453C-9DC3-30B4918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функциялар және шектеулер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8EB6C-0C1F-43FC-B77D-01BC79C8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06768-3186-40F3-BD95-227F009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Орындалды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F01EE-554D-450A-B8CE-27277DB3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53340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DICOM, калибрлеу және OOD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CNN + MobileNetV2 + Ensemble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Үш белгіге жеке эксперимент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56 тест және CI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D3831-1780-4EE7-9548-E2BD4E73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90700"/>
            <a:ext cx="4810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Келесі кезең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A7402-DECA-4F7F-A51D-126FB5E6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24125"/>
            <a:ext cx="4762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Көбірек сыртқы дерек жинау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Әлсіз белгілерді тексеру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Клиникалық сыртқы тексеру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Серверге орналастыру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7C0C3-16A2-4893-AC02-725F7A7C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Оқу прототипі. Клиникалық қолдануға бөлек тексеру қажет.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F7376-4450-4EEA-B816-6DF7480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15050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 жауабы барлық ауруды жоққа шығармайды.</a:t>
            </a:r>
          </a:p>
        </p:txBody>
      </p:sp>
    </p:spTree>
    <p:extLst>
      <p:ext uri="{BB962C8B-B14F-4D97-AF65-F5344CB8AC3E}">
        <p14:creationId xmlns:p14="http://schemas.microsoft.com/office/powerpoint/2010/main" val="1517619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3A4C0-50AA-42F9-9BB3-2BE33953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Сыртқы валидация: OpenI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AAFE9-A50D-4DAD-BD80-6609E16D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020A7-6A64-48D2-A4DD-0AE0D0A6C2FD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21,50%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20,30%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100,00%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1,88%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0,3376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9C5F4-4F11-4C75-BB83-E31ED3E8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160 NORMAL / 40 PNEUMONIA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A1316-651F-4EE5-BB8E-44EC268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SHA-256 қиылысы: 0. Бір есептен бір сурет.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4F38A-8DE0-435D-9F58-B3AD68E1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00775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Топтау есеп ID-іне сүйенеді. Пациент ID толық расталмаған.</a:t>
            </a:r>
          </a:p>
        </p:txBody>
      </p:sp>
    </p:spTree>
    <p:extLst>
      <p:ext uri="{BB962C8B-B14F-4D97-AF65-F5344CB8AC3E}">
        <p14:creationId xmlns:p14="http://schemas.microsoft.com/office/powerpoint/2010/main" val="2288568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50165-DA83-472D-8898-368F046A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Калибрлеу және OOD іске қосылды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443B1-4DF8-4984-84B3-70E00F74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F6ED3-E708-47C7-90EC-4CFD25AF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p_cal = sigmoid(logit(p) / T)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EDF0-6623-491D-B109-9829CD32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Қосылған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A1F8B-435A-4E16-898B-7118127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81400"/>
            <a:ext cx="5381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T: 0,2–5,0, validation NLL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шек тек validation-да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Grad-CAM raw баллын тексереді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F63BF-6D96-4BAF-B7D1-920DDD87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28925"/>
            <a:ext cx="4810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Қазіргі күйі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F91B3-2F41-464E-9973-85F9512A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48101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 = 0,97996, шек 0,745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952 / 952 validation тексерілді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OOD шегі: 26,3409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62A07-EC40-43F1-87BF-7473D67B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Ensemble: CNN 0,10% + MobileNetV2 99,90%</a:t>
            </a:r>
          </a:p>
        </p:txBody>
      </p:sp>
    </p:spTree>
    <p:extLst>
      <p:ext uri="{BB962C8B-B14F-4D97-AF65-F5344CB8AC3E}">
        <p14:creationId xmlns:p14="http://schemas.microsoft.com/office/powerpoint/2010/main" val="279016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B4BF5-97E0-461D-8D60-B609BF4C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Үш белгіге арналған жеке эксперимент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01C8E-AE98-4487-AB90-B62CC220A4D9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1257300"/>
                <a:gridCol w="1571625"/>
                <a:gridCol w="1571625"/>
                <a:gridCol w="1905000"/>
                <a:gridCol w="2095500"/>
              </a:tblGrid>
              <a:tr h="56197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Белгі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Шек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AUC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pneumonia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0,5378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0,2308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30,00%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84,15%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atelectasis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0,17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0,6196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0,4828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96,55%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6,35%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cardiomegaly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0,5632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0,4894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79,31%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33,33%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56351-6E7A-4DB0-81A8-0675A09F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Train 434   Validation 91   Test 92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D5818-72FA-471D-B77D-73F66BDA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MobileNetV2, үш sigmoid басы, BCE</a:t>
            </a:r>
          </a:p>
          <a:p xmlns:a="http://schemas.openxmlformats.org/drawingml/2006/main">
            <a: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Report бойынша бөлу, SHA-256 дедупликациясы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A0D79-3738-4571-B47C-4C92C464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Шағын жиын, әлсіз MeSH белгілері. Сайтқа қосылған жоқ.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3A782-77DA-491D-A8E8-165AC2A4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801309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2026-10-15T12:24:16.1000000Z</dcterms:created>
  <dcterms:modified xsi:type="dcterms:W3CDTF">2026-10-15T12:24:16.1010000Z</dcterms:modified>
</coreProperties>
</file>