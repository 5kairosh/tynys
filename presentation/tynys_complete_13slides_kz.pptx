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c91428ff7c543d4" /><Relationship Type="http://schemas.openxmlformats.org/officeDocument/2006/relationships/extended-properties" Target="/docProps/app.xml" Id="Rdf54288390a842d2" /><Relationship Type="http://schemas.openxmlformats.org/officeDocument/2006/relationships/officeDocument" Target="/ppt/presentation.xml" Id="R985e926750fb40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a32883d28954938"/>
  </p:sldMasterIdLst>
  <p:notesMasterIdLst>
    <p:notesMasterId xmlns:r="http://schemas.openxmlformats.org/officeDocument/2006/relationships" r:id="R9678782a0d824455"/>
  </p:notesMasterIdLst>
  <p:sldIdLst>
    <p:sldId xmlns:r="http://schemas.openxmlformats.org/officeDocument/2006/relationships" id="256" r:id="R73dd33cc7ba94268"/>
    <p:sldId xmlns:r="http://schemas.openxmlformats.org/officeDocument/2006/relationships" id="257" r:id="R127fffb8fef74878"/>
    <p:sldId xmlns:r="http://schemas.openxmlformats.org/officeDocument/2006/relationships" id="258" r:id="R81c59207aa734ec0"/>
    <p:sldId xmlns:r="http://schemas.openxmlformats.org/officeDocument/2006/relationships" id="259" r:id="R791d7a4587ab4399"/>
    <p:sldId xmlns:r="http://schemas.openxmlformats.org/officeDocument/2006/relationships" id="260" r:id="R8aaf6434f0084d88"/>
    <p:sldId xmlns:r="http://schemas.openxmlformats.org/officeDocument/2006/relationships" id="261" r:id="Rfa1a1a9dd0dc4e70"/>
    <p:sldId xmlns:r="http://schemas.openxmlformats.org/officeDocument/2006/relationships" id="262" r:id="R6a49b7ddbdf44b57"/>
    <p:sldId xmlns:r="http://schemas.openxmlformats.org/officeDocument/2006/relationships" id="263" r:id="R8c8cd68600e443dc"/>
    <p:sldId xmlns:r="http://schemas.openxmlformats.org/officeDocument/2006/relationships" id="264" r:id="Rec1ebf50f8004387"/>
    <p:sldId xmlns:r="http://schemas.openxmlformats.org/officeDocument/2006/relationships" id="265" r:id="R422e10db75924753"/>
    <p:sldId xmlns:r="http://schemas.openxmlformats.org/officeDocument/2006/relationships" id="266" r:id="Raf02bda70cc546e3"/>
    <p:sldId xmlns:r="http://schemas.openxmlformats.org/officeDocument/2006/relationships" id="267" r:id="Re44b1cac980143c1"/>
    <p:sldId xmlns:r="http://schemas.openxmlformats.org/officeDocument/2006/relationships" id="268" r:id="R1345487b78f2453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029e156f6345e9" /><Relationship Type="http://schemas.openxmlformats.org/officeDocument/2006/relationships/slideMaster" Target="/ppt/slideMasters/slideMaster1.xml" Id="Rea32883d28954938" /><Relationship Type="http://schemas.openxmlformats.org/officeDocument/2006/relationships/notesMaster" Target="/ppt/notesMasters/notesMaster1.xml" Id="R9678782a0d824455" /><Relationship Type="http://schemas.openxmlformats.org/officeDocument/2006/relationships/presProps" Target="/ppt/presProps.xml" Id="Ra548e8978bed44c6" /><Relationship Type="http://schemas.openxmlformats.org/officeDocument/2006/relationships/tableStyles" Target="/ppt/tableStyles.xml" Id="R61feecbeb93040b0" /><Relationship Type="http://schemas.openxmlformats.org/officeDocument/2006/relationships/slide" Target="/ppt/slides/slide1.xml" Id="R73dd33cc7ba94268" /><Relationship Type="http://schemas.openxmlformats.org/officeDocument/2006/relationships/slide" Target="/ppt/slides/slide2.xml" Id="R127fffb8fef74878" /><Relationship Type="http://schemas.openxmlformats.org/officeDocument/2006/relationships/slide" Target="/ppt/slides/slide3.xml" Id="R81c59207aa734ec0" /><Relationship Type="http://schemas.openxmlformats.org/officeDocument/2006/relationships/slide" Target="/ppt/slides/slide4.xml" Id="R791d7a4587ab4399" /><Relationship Type="http://schemas.openxmlformats.org/officeDocument/2006/relationships/slide" Target="/ppt/slides/slide5.xml" Id="R8aaf6434f0084d88" /><Relationship Type="http://schemas.openxmlformats.org/officeDocument/2006/relationships/slide" Target="/ppt/slides/slide6.xml" Id="Rfa1a1a9dd0dc4e70" /><Relationship Type="http://schemas.openxmlformats.org/officeDocument/2006/relationships/slide" Target="/ppt/slides/slide7.xml" Id="R6a49b7ddbdf44b57" /><Relationship Type="http://schemas.openxmlformats.org/officeDocument/2006/relationships/slide" Target="/ppt/slides/slide8.xml" Id="R8c8cd68600e443dc" /><Relationship Type="http://schemas.openxmlformats.org/officeDocument/2006/relationships/slide" Target="/ppt/slides/slide9.xml" Id="Rec1ebf50f8004387" /><Relationship Type="http://schemas.openxmlformats.org/officeDocument/2006/relationships/slide" Target="/ppt/slides/slide10.xml" Id="R422e10db75924753" /><Relationship Type="http://schemas.openxmlformats.org/officeDocument/2006/relationships/slide" Target="/ppt/slides/slide11.xml" Id="Raf02bda70cc546e3" /><Relationship Type="http://schemas.openxmlformats.org/officeDocument/2006/relationships/slide" Target="/ppt/slides/slide12.xml" Id="Re44b1cac980143c1" /><Relationship Type="http://schemas.openxmlformats.org/officeDocument/2006/relationships/slide" Target="/ppt/slides/slide13.xml" Id="R1345487b78f2453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c85490caf849b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35bc6ac26884b61" /><Relationship Type="http://schemas.openxmlformats.org/officeDocument/2006/relationships/notesMaster" Target="/ppt/notesMasters/notesMaster1.xml" Id="R82f1a4ed1d8c48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81f49de38e4f85" /><Relationship Type="http://schemas.openxmlformats.org/officeDocument/2006/relationships/notesMaster" Target="/ppt/notesMasters/notesMaster1.xml" Id="R38c61cd728844e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9aa2c5ce347447d" /><Relationship Type="http://schemas.openxmlformats.org/officeDocument/2006/relationships/notesMaster" Target="/ppt/notesMasters/notesMaster1.xml" Id="R38528e4815a043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6605c90ddb455f" /><Relationship Type="http://schemas.openxmlformats.org/officeDocument/2006/relationships/notesMaster" Target="/ppt/notesMasters/notesMaster1.xml" Id="Rbb4ac80d65d74e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90145ee12942f4" /><Relationship Type="http://schemas.openxmlformats.org/officeDocument/2006/relationships/notesMaster" Target="/ppt/notesMasters/notesMaster1.xml" Id="Rf9348270738648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db404475254dca" /><Relationship Type="http://schemas.openxmlformats.org/officeDocument/2006/relationships/notesMaster" Target="/ppt/notesMasters/notesMaster1.xml" Id="Rf21ef6ae84414b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9494a5c9b594cf0" /><Relationship Type="http://schemas.openxmlformats.org/officeDocument/2006/relationships/notesMaster" Target="/ppt/notesMasters/notesMaster1.xml" Id="R262d862615d4445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162d72e1ff41b5" /><Relationship Type="http://schemas.openxmlformats.org/officeDocument/2006/relationships/notesMaster" Target="/ppt/notesMasters/notesMaster1.xml" Id="R4462f74a429149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90a2db2a1c49a3" /><Relationship Type="http://schemas.openxmlformats.org/officeDocument/2006/relationships/notesMaster" Target="/ppt/notesMasters/notesMaster1.xml" Id="Re73731116e2642a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15342bc8864df2" /><Relationship Type="http://schemas.openxmlformats.org/officeDocument/2006/relationships/notesMaster" Target="/ppt/notesMasters/notesMaster1.xml" Id="R0e02a8d714ff43a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234c92a1c8a40de" /><Relationship Type="http://schemas.openxmlformats.org/officeDocument/2006/relationships/notesMaster" Target="/ppt/notesMasters/notesMaster1.xml" Id="R405c163a609142c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2e9b85af634926" /><Relationship Type="http://schemas.openxmlformats.org/officeDocument/2006/relationships/notesMaster" Target="/ppt/notesMasters/notesMaster1.xml" Id="R02db6e4516fd449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bbb9c7a5cd7470a" /><Relationship Type="http://schemas.openxmlformats.org/officeDocument/2006/relationships/notesMaster" Target="/ppt/notesMasters/notesMaster1.xml" Id="Rdc617bafe68b48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Tynys өкпе рентгенін NORMAL және PNEUMONIA санаттарына жіктейді. CNN мен MobileNetV2-ні TensorFlow/Keras арқылы үйретіп, қазақша сайтқа қостым. Қазір validation калибрлеуі мен OOD ескертуі де іске қосылды.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Мәселе — рентгенді бастапқы сұрыптауға қолдау қажеттілігі. Мақсат — екі санатты классификация моделін ыңғайлы сайт арқылы қолдану. Клиникада маман уақытын қаншалықты үнемдейтінін өлшеген жоқпын.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5856 жарамды суретті тазалағаннан кейін train 3801, validation 952, test 618 сурет қалды. Көшірмелерді SHA-256 және файл атауынан алынған топтармен тексердім. Бұл топтар ресми пациент ID емес.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CNN белгілерді басынан үйренеді. MobileNetV2 ImageNet салмақтарына сүйенеді. Кіріс бұрынғыдай RGB, float32 және resize_with_pad 224×224. Жаңа validation шектері CNN үшін 0,475, MobileNetV2 үшін 0,745. Сыртқы нормализация қосылған жоқ.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Модель sigmoid арқылы raw балл шығарады. Оны sigmoid(logit(raw)/T) арқылы калибрлейміз. Шартты raw 0,80 болса, p_cal шамамен 0,804, ол 0,745 шегінен жоғары, сондықтан PNEUMONIA. Binary cross-entropy формуласы үйретудегі raw баллға қатысты.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Қазіргі калибрленген test: CNN accuracy 71,52%, MobileNetV2 89,16%. MobileNetV2 recall 96,12%, FN 15, FP 52. 90% мақсатына жетпеді. McNemar: CNN-only 19, MobileNetV2-only 128, p=4,83×10⁻²¹. Ensemble accuracy 89,16%, ROC-AUC 0,9583. Accuracy өскен жоқ.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Бір суретке CNN, MobileNetV2 және Ensemble санаты, баллы және өз шешім шегі көрсетіледі. Ensemble коэффициенттері тек validation NLL бойынша таңдалған: CNN шамамен 0,10%, MobileNetV2 99,90%. Сайт пен PDF осы конфигурацияны қолданады.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Grad-CAM таңдалған санатқа ықпал еткен аймақтарды жуық көрсетеді. Оның reconstructed_score мәні калибрленген емес, raw sigmoid-пен салыстырылады. Карта зақым шекарасы емес. OOD тек ескерту береді, болжамды блоктамайды.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PDF түпнұсқа, Grad-CAM, T, шешім шегі және салыстыруды көрсетеді. OOD ескертуі де кіреді. NORMAL мен PNEUMONIA беттерінің бір параққа сыйуын тексердім. Тарих тек бет жадында, жаңартқанда жойылады.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Ensemble, калибрлеу, OOD және DICOM дайын. 56 жергілікті тест өтті. Үш белгіге жеке эксперимент жүргізілді, сайтқа қосылмады. Docker build/run тексерілді: Server 29.8.1, image tynys, көлемі 3.28GB. 7860-та жергілікті сервер болғандықтан контейнерді 7861 портында сынадым. PNG және CR DICOM 200, CT DICOM және мәтінді JPG 400. PDF екі бет болып шықты. Ready, OOD, McNemar дайын, T=0,97995943. Traceback жоқ, контейнер тоқтатылып автоматты жойылды. Hugging Face Space-қа жариялау орындалған жоқ.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Дереккөз: training/docker_evidence/verification.json; live_result.json; container_logs.txt.</a:t>
            </a:r>
          </a:p>
          <a:p xmlns:a="http://schemas.openxmlformats.org/drawingml/2006/main">
            <a:r>
              <a:t>GitHub CI Ubuntu/Python 3.11 ортасында қашықта орындалып, 56 тест сәтті өтті.</a:t>
            </a:r>
          </a:p>
          <a:p xmlns:a="http://schemas.openxmlformats.org/drawingml/2006/main">
            <a:r>
              <a:t>Дереккөз: https://github.com/5kairosh/Tynys/actions/runs/38745485393; training/ci_evidence/pytest_success.txt.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OpenI-дің сол 200 суретін жаңа калибрленген балл және 0,745 шегімен қайта бағаладым. Accuracy 55,00%, recall 57,50%, AUC 0,5442. Таңдау мен шекті сыртқы белгілерге қарап өзгерткен жоқпын. Report UID — surrogate топ, нақты пациент ID толық расталмаған. Сыртқы CNN accuracy 21,50%, Ensemble 55,00%. Екі модельді біріктіру осы сыртқы жиындағы мәселені шешпеді.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952 validation файлының бәрі SHA-256 бойынша тексерілді. MobileNetV2 T=0,97996, CNN T=0,68203. OOD 1280 белгі мен covariance арқылы есептелді, 95-процентиль шегі 26,3409. Non-X-ray сапасы бөлек тексерілген жоқ. Бұл оқу прототипі, клиникалық қолдануға бөлек тексеру қажет.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site/model/model_config.json; test_metrics.csv; mcnemar.json; external_validation.json; training/calibration_report.json.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Бұл сайттан бөлек үш белгі бойынша оқу эксперименті. 617 бірегей сурет, train 434, validation 91, test 92. Бір report және бірдей SHA-256 суреттері бөліктер арасында қайталанбайды. ImageNet MobileNetV2, GAP және үш sigmoid басын BCE арқылы үйреттім. Алдымен head, кейін соңғы 30 қабат, BatchNormalization мұздатылған. Таңдалған кезең: fine. Әр белгі шегі validation F1 бойынша таңдалған. pneumonia: AUC 0,5378, F1 0,2308. atelectasis: AUC 0,6196, F1 0,4828. cardiomegaly: AUC 0,5632, F1 0,4894. MeSH report деңгейіндегі әлсіз белгі, нақты диагноз емес. 0 URL қолжетімсіз болғандықтан бөлуден бұрын шығарылды. 8 қате сурет жергілікті private бумасына сақталды. OpenI суреттері мен осы салмақтар таратылатын архивке кірмейді. Сайтта бұрынғы binary модельдер қалды.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Дереккөздер: training/outputs/multilabel/{data_report.json,experiment_report.json,per_label_metrics.csv}.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58acfa0d5c479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be6a766b0748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d366faa30a4a1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359222c2ed43d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a1b96b640942f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5937964b8b4d1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14AE31-8D9D-4F27-BEFA-363A9E30EB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01F4815-CFE7-4740-9385-F3E30AEFC14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B3971F7-2EFB-4569-B8B6-0912C31E1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C72CFC-2F04-4CAB-A460-2D8AF11DA8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FC08BEB-6330-43C6-ADC5-1560C9E235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195D2D4-F27C-4C13-8B39-5E578933DC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697EFA3-BF78-46CC-9479-9FBF3DA710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C501100-A07C-41AB-A795-DA01AABEF0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9F4718-B7CC-4ACB-AE77-369D5C3E92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CFAF339-8AA7-40E8-9823-436BBC4C922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cb98f026a14bcd" /><Relationship Type="http://schemas.openxmlformats.org/officeDocument/2006/relationships/slideLayout" Target="/ppt/slideLayouts/slideLayout1.xml" Id="R368d6b3bb2d04b3a" /><Relationship Type="http://schemas.openxmlformats.org/officeDocument/2006/relationships/slideLayout" Target="/ppt/slideLayouts/slideLayout2.xml" Id="R13a9b07434a04258" /><Relationship Type="http://schemas.openxmlformats.org/officeDocument/2006/relationships/slideLayout" Target="/ppt/slideLayouts/slideLayout3.xml" Id="Rbe23cd040ca34118" /><Relationship Type="http://schemas.openxmlformats.org/officeDocument/2006/relationships/slideLayout" Target="/ppt/slideLayouts/slideLayout4.xml" Id="R36ce6391d2c8479d" /><Relationship Type="http://schemas.openxmlformats.org/officeDocument/2006/relationships/slideLayout" Target="/ppt/slideLayouts/slideLayout5.xml" Id="R07bb2b1bb5694009" /><Relationship Type="http://schemas.openxmlformats.org/officeDocument/2006/relationships/slideLayout" Target="/ppt/slideLayouts/slideLayout6.xml" Id="R3c141295460546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8d6b3bb2d04b3a"/>
    <p:sldLayoutId xmlns:r="http://schemas.openxmlformats.org/officeDocument/2006/relationships" id="2147483650" r:id="R13a9b07434a04258"/>
    <p:sldLayoutId xmlns:r="http://schemas.openxmlformats.org/officeDocument/2006/relationships" id="2147483651" r:id="Rbe23cd040ca34118"/>
    <p:sldLayoutId xmlns:r="http://schemas.openxmlformats.org/officeDocument/2006/relationships" id="2147483652" r:id="R36ce6391d2c8479d"/>
    <p:sldLayoutId xmlns:r="http://schemas.openxmlformats.org/officeDocument/2006/relationships" id="2147483653" r:id="R07bb2b1bb5694009"/>
    <p:sldLayoutId xmlns:r="http://schemas.openxmlformats.org/officeDocument/2006/relationships" id="2147483654" r:id="R3c1412954605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37ed660cfc48dd" /><Relationship Type="http://schemas.openxmlformats.org/officeDocument/2006/relationships/image" Target="/ppt/media/image.png" Id="R6f072ae253c14795" /><Relationship Type="http://schemas.openxmlformats.org/officeDocument/2006/relationships/notesSlide" Target="/ppt/notesSlides/notesSlide1.xml" Id="Rd89519164bd74d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13fdd0b23b40c0" /><Relationship Type="http://schemas.openxmlformats.org/officeDocument/2006/relationships/notesSlide" Target="/ppt/notesSlides/notesSlide2.xml" Id="R19e64b5cf43d49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bd3876ead846bd" /><Relationship Type="http://schemas.openxmlformats.org/officeDocument/2006/relationships/notesSlide" Target="/ppt/notesSlides/notesSlide3.xml" Id="R8340e23b5e2841c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6de71e7c7f4a84" /><Relationship Type="http://schemas.openxmlformats.org/officeDocument/2006/relationships/notesSlide" Target="/ppt/notesSlides/notesSlide4.xml" Id="R9846cd26ddd94d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f5086dfe9845e7" /><Relationship Type="http://schemas.openxmlformats.org/officeDocument/2006/relationships/notesSlide" Target="/ppt/notesSlides/notesSlide5.xml" Id="Rd85e2ab11bd14b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da87bc40864206" /><Relationship Type="http://schemas.openxmlformats.org/officeDocument/2006/relationships/notesSlide" Target="/ppt/notesSlides/notesSlide6.xml" Id="R40be5d7bc0c946e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fb45faead94e95" /><Relationship Type="http://schemas.openxmlformats.org/officeDocument/2006/relationships/image" Target="/ppt/media/image.jpeg" Id="Rbd6fde4f2e71486b" /><Relationship Type="http://schemas.openxmlformats.org/officeDocument/2006/relationships/notesSlide" Target="/ppt/notesSlides/notesSlide7.xml" Id="Rc0edddfe4ede4d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870430772c4a41" /><Relationship Type="http://schemas.openxmlformats.org/officeDocument/2006/relationships/image" Target="/ppt/media/image2.jpeg" Id="R758e709892ab49a0" /><Relationship Type="http://schemas.openxmlformats.org/officeDocument/2006/relationships/notesSlide" Target="/ppt/notesSlides/notesSlide8.xml" Id="R13de04a9ca2344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4283fad3642b2" /><Relationship Type="http://schemas.openxmlformats.org/officeDocument/2006/relationships/image" Target="/ppt/media/image3.jpeg" Id="Rd4737f42fac74128" /><Relationship Type="http://schemas.openxmlformats.org/officeDocument/2006/relationships/image" Target="/ppt/media/image2.png" Id="Rf4c90fff373141c4" /><Relationship Type="http://schemas.openxmlformats.org/officeDocument/2006/relationships/notesSlide" Target="/ppt/notesSlides/notesSlide9.xml" Id="Rdad7ad6f65aa4d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14a57dbe9704365" /><Relationship Type="http://schemas.openxmlformats.org/officeDocument/2006/relationships/notesSlide" Target="/ppt/notesSlides/notesSlide10.xml" Id="Rfd08c67e2a4447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bf36ff2e1f41e7" /><Relationship Type="http://schemas.openxmlformats.org/officeDocument/2006/relationships/notesSlide" Target="/ppt/notesSlides/notesSlide11.xml" Id="R8f07e9203ad34f3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62176bacff4d34" /><Relationship Type="http://schemas.openxmlformats.org/officeDocument/2006/relationships/notesSlide" Target="/ppt/notesSlides/notesSlide12.xml" Id="R711477eb5156435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e217cb90b5404f" /><Relationship Type="http://schemas.openxmlformats.org/officeDocument/2006/relationships/notesSlide" Target="/ppt/notesSlides/notesSlide13.xml" Id="Rb26bcf2f353346a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9B9CB-C7EC-4B85-B0DC-07C77A75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0A2D47-5673-4E15-A7BA-C633E216B7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72ae253c14795"/>
          <a:stretch xmlns:a="http://schemas.openxmlformats.org/drawingml/2006/main"/>
        </p:blipFill>
        <p:spPr>
          <a:xfrm xmlns:a="http://schemas.openxmlformats.org/drawingml/2006/main">
            <a:off x="6810375" y="952500"/>
            <a:ext cx="4857750" cy="4857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464969-0621-4E35-9D1C-0840C90B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630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630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630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Tynys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9DCA0-5F90-4A33-A898-A1D1FA61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57475"/>
            <a:ext cx="61912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Өкпе рентгенін</a:t>
            </a:r>
          </a:p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машиналық оқытумен</a:t>
            </a:r>
          </a:p>
          <a:p xmlns:a="http://schemas.openxmlformats.org/drawingml/2006/main">
            <a:pPr>
              <a:buNone/>
              <a:defRPr sz="330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жіктеу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5B0F7-513C-41DA-B23C-02D7FB6F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571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TensorFlow / Keras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CNN және MobileNetV2</a:t>
            </a:r>
          </a:p>
        </p:txBody>
      </p:sp>
    </p:spTree>
    <p:extLst>
      <p:ext uri="{BB962C8B-B14F-4D97-AF65-F5344CB8AC3E}">
        <p14:creationId xmlns:p14="http://schemas.microsoft.com/office/powerpoint/2010/main" val="6196672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8F543F-9128-411A-BB25-1238B7C30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Мәселе және жоба мақсаты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978937-DA6D-4A90-9256-D497EEF12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CF9A27-7044-41D4-AE24-DBF2FD7D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53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0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Бастапқы сұрыптауға қолдау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7B61E-4BF7-495C-A58F-0CE0B9ABD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10572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Мамандар жетіспейтін аймақтарда рентгенді</a:t>
            </a:r>
          </a:p>
          <a:p xmlns:a="http://schemas.openxmlformats.org/drawingml/2006/main">
            <a:pPr>
              <a:buNone/>
              <a:defRPr sz="23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алғашқы бағалау қажеттілігі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39BA5-C543-4E6D-9335-0F5F57F0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Мақсат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1AEDF7-5E35-4AD7-96FC-F0C24112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33925"/>
            <a:ext cx="5429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NORMAL / PNEUMONIA</a:t>
            </a:r>
          </a:p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жіктеу моделін сайтқа қосу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2CDEF-BBBC-4FF6-98BB-DB108DA0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086225"/>
            <a:ext cx="466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Көзделген пайда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6182A4-93FA-409F-B5D0-C05846E0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33925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Суреттерді сұрыптау</a:t>
            </a:r>
          </a:p>
          <a:p xmlns:a="http://schemas.openxmlformats.org/drawingml/2006/main">
            <a:pPr>
              <a:buNone/>
              <a:defRPr sz="23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Нәтижені түсінікті көрсету</a:t>
            </a:r>
          </a:p>
        </p:txBody>
      </p:sp>
    </p:spTree>
    <p:extLst>
      <p:ext uri="{BB962C8B-B14F-4D97-AF65-F5344CB8AC3E}">
        <p14:creationId xmlns:p14="http://schemas.microsoft.com/office/powerpoint/2010/main" val="3048764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1DAE24-4900-4BF8-B093-BC284738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Датасет және эксперименттің бөлінуі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4E8C3-C208-4B18-B54B-8A66D26A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9517F-C6F0-4DEB-98D2-749CD438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49530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65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65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65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5856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4C4EA-E43C-4F13-9F71-72DEC502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86075"/>
            <a:ext cx="542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оқылған жарамды сурет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FC47C-EC9C-446F-ABD6-02EB72F06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38325"/>
            <a:ext cx="4000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5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5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5371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D5F830-8E64-4F9C-9ED1-F3772A3C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33700"/>
            <a:ext cx="3857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тазалаудан кейін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09F000-F70C-4FE6-A8D3-01505272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3801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12961-85A5-4BEC-B45D-EDD9E848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2920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63266F-B431-4461-BCA9-452BA50A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24325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952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D827C8-C448-4BA1-87A9-C87BBEBB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3475" y="50292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33209-80BB-4FA2-A3A0-827C42FE6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124325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4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7AC610-4000-4BFB-ADDD-48E9D388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029200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A17C4F-0FBD-46DC-A483-DF195FC86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453 development суретін test қиылысуына байланысты шығардық</a:t>
            </a:r>
          </a:p>
        </p:txBody>
      </p:sp>
    </p:spTree>
    <p:extLst>
      <p:ext uri="{BB962C8B-B14F-4D97-AF65-F5344CB8AC3E}">
        <p14:creationId xmlns:p14="http://schemas.microsoft.com/office/powerpoint/2010/main" val="22379967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3872B9-6028-4EE6-8FD8-EEB1AC4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Модельден веб-сайтқа дейін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2D68C-A286-4281-94E3-C4A92784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965083-1B57-44D9-ABCA-E00907CE4532}"/>
              </a:ext>
            </a:extLst>
          </p:cNvPr>
          <p:cNvGraphicFramePr/>
          <p:nvPr/>
        </p:nvGraphicFramePr>
        <p:xfrm>
          <a:off xmlns:a="http://schemas.openxmlformats.org/drawingml/2006/main" x="609600" y="17526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3667125"/>
                <a:gridCol w="4448175"/>
              </a:tblGrid>
              <a:tr h="64293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/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Бастапқы салмақ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Кездейсоқ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ImageNet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Үйрету тәсілі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CNN-ді басынан үйрету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Transfer Learning + fine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Шешім шегі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0,475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0,745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861AD-8BB6-4C28-BD5B-9BA75EFF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048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77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224 × 224 RGB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33468-7868-4132-8941-4A2F5713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51911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Colab-тағы өңдеу сайтта сақталған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5F87E-D07A-41C3-99CB-14ED6346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00600"/>
            <a:ext cx="485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FastAPI + TensorFlow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3B8877-3692-4752-94E8-2A1E56A5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14975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HTML / CSS / JavaScript интерфейсі</a:t>
            </a:r>
          </a:p>
        </p:txBody>
      </p:sp>
    </p:spTree>
    <p:extLst>
      <p:ext uri="{BB962C8B-B14F-4D97-AF65-F5344CB8AC3E}">
        <p14:creationId xmlns:p14="http://schemas.microsoft.com/office/powerpoint/2010/main" val="14644002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9D075-2B0B-4B88-A12A-19A432F8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Математикалық прототип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00A86-411B-43CB-AE21-6FF216846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5EA0F0-6952-4E35-9365-46407E02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z = wᵀhθ(x) + 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F1134-5438-42A3-95C9-B558AEA1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9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9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 = 1 / (1 + exp(−z))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C6E7BF-7826-47BF-A3C2-4B60ABB0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ℓ = −aᵧ[y ln p + (1−y) ln(1−p)]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0317C0-CFFB-4FD7-B628-1366C60F5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5715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Шартты есеп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4C07D-432B-4599-BC24-5D9467CA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p_raw = 0,80, p_cal ≈ 0,804 ≥ 0,745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B95961-A4F4-4B14-8A01-C4292A3C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86475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PNEUMONIA болжамы. y = 1, aᵧ = 1 болса, loss ≈ 0,2231</a:t>
            </a:r>
          </a:p>
        </p:txBody>
      </p:sp>
    </p:spTree>
    <p:extLst>
      <p:ext uri="{BB962C8B-B14F-4D97-AF65-F5344CB8AC3E}">
        <p14:creationId xmlns:p14="http://schemas.microsoft.com/office/powerpoint/2010/main" val="10558954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2A8D1-7844-4B49-B0D3-08B923C0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Соңғы тест нәтижелері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09C6E-957B-4628-B363-14D43B84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CB66F-B11A-40A6-BAF7-B79A648B447A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419350"/>
                <a:gridCol w="2419350"/>
                <a:gridCol w="2419350"/>
              </a:tblGrid>
              <a:tr h="44359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Көрсеткіш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Ensemble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71,52%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89,16%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89,16%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70,81%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87,74%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87,74%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Recall /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92,76%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96,12%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96,12%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35,93%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77,49%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77,49%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0,8031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0,9174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0,9174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0,8211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0,9581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0,9583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5F1A87-F665-4C8B-BAC3-CCB6F153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5286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p = 4,83 × 10⁻²¹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D2AB2-03F6-457E-BED7-FB568059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57875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McNemar: осы тестте айырма маңызды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A28C1-93A3-474D-AFCC-7B994113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162550"/>
            <a:ext cx="4572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7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7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15 FN / 52 FP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9C3178-E0ED-4DE1-A7ED-D8984C9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585787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90% accuracy мақсатына жетпеді</a:t>
            </a:r>
          </a:p>
        </p:txBody>
      </p:sp>
    </p:spTree>
    <p:extLst>
      <p:ext uri="{BB962C8B-B14F-4D97-AF65-F5344CB8AC3E}">
        <p14:creationId xmlns:p14="http://schemas.microsoft.com/office/powerpoint/2010/main" val="8130029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738C2B-E224-4678-AE4A-10161C52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Бір сурет және үш болжам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E43D7-907F-486D-B6F6-4F4505D7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03041F-B7F7-44A4-8B07-174F3217B4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6fde4f2e71486b"/>
          <a:stretch xmlns:a="http://schemas.openxmlformats.org/drawingml/2006/main"/>
        </p:blipFill>
        <p:spPr>
          <a:xfrm xmlns:a="http://schemas.openxmlformats.org/drawingml/2006/main">
            <a:off x="860203" y="1743075"/>
            <a:ext cx="6794944" cy="44577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C783AF-4F81-48FF-BEC5-157E4809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95475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JPG / PNG / DICOM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02B56-C101-48ED-924C-8DE73790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19375"/>
            <a:ext cx="3095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Бір топта 10 суретке дейін</a:t>
            </a:r>
          </a:p>
          <a:p xmlns:a="http://schemas.openxmlformats.org/drawingml/2006/main">
            <a:pPr>
              <a:buNone/>
              <a:defRPr sz="1950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Әр файл ≤ 12 МБ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5080B8-A4AE-407D-ABFF-6657DE70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11480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Санат, балл және</a:t>
            </a:r>
          </a:p>
          <a:p xmlns:a="http://schemas.openxmlformats.org/drawingml/2006/main">
            <a:pPr>
              <a:buNone/>
              <a:defRPr sz="23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шешім шегі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800CE-743C-4B24-BB58-8C54BC023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5276850"/>
            <a:ext cx="3095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Болжамдардың сәйкестігін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бір экранда көру</a:t>
            </a:r>
          </a:p>
        </p:txBody>
      </p:sp>
    </p:spTree>
    <p:extLst>
      <p:ext uri="{BB962C8B-B14F-4D97-AF65-F5344CB8AC3E}">
        <p14:creationId xmlns:p14="http://schemas.microsoft.com/office/powerpoint/2010/main" val="214480304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33CA6-F97E-4619-9E9C-425E6019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Grad-CAM: модель назарын көрсету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F3AD-8B4F-4A1C-9732-CF7DB8C07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4084FE-5600-4FCC-8BA5-4DE0621FE1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8e709892ab49a0"/>
          <a:stretch xmlns:a="http://schemas.openxmlformats.org/drawingml/2006/main"/>
        </p:blipFill>
        <p:spPr>
          <a:xfrm xmlns:a="http://schemas.openxmlformats.org/drawingml/2006/main">
            <a:off x="780348" y="1695450"/>
            <a:ext cx="6954654" cy="45624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EB5D2A-DF91-4497-81DC-612692BF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895475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Модель назары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B52083-772D-4712-B8C1-BBA51030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228975"/>
            <a:ext cx="3095625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Түпнұсқа / жылу картасы</a:t>
            </a:r>
          </a:p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Белгіленген PNG жүктеу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E8D5EA-5837-4523-9E41-B8EFF07D5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895850"/>
            <a:ext cx="31432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Карта ықпалды аймақтарды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жуық көрсетеді. Зақымның</a:t>
            </a:r>
          </a:p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нақты шекарасын бермейді.</a:t>
            </a:r>
          </a:p>
        </p:txBody>
      </p:sp>
    </p:spTree>
    <p:extLst>
      <p:ext uri="{BB962C8B-B14F-4D97-AF65-F5344CB8AC3E}">
        <p14:creationId xmlns:p14="http://schemas.microsoft.com/office/powerpoint/2010/main" val="678035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299F64-CC26-402C-81BD-4F732A51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Қорытынды есеп және талдау тарихы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845F2-9D71-42C9-9ADC-4E3950A8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29D24F-B4D6-4FF3-A14A-F6A49B86D1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737f42fac74128"/>
          <a:stretch xmlns:a="http://schemas.openxmlformats.org/drawingml/2006/main"/>
        </p:blipFill>
        <p:spPr>
          <a:xfrm xmlns:a="http://schemas.openxmlformats.org/drawingml/2006/main">
            <a:off x="523875" y="1736494"/>
            <a:ext cx="6524625" cy="4280362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054BD5-45E8-4CE0-9DE4-C6258C1487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90fff373141c4"/>
          <a:stretch xmlns:a="http://schemas.openxmlformats.org/drawingml/2006/main"/>
        </p:blipFill>
        <p:spPr>
          <a:xfrm xmlns:a="http://schemas.openxmlformats.org/drawingml/2006/main">
            <a:off x="7419975" y="1680490"/>
            <a:ext cx="2867025" cy="404947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A8D23-FC49-4980-AD98-4109201C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62675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Соңғы 20 талдауға қайта оралу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5357C-F098-493E-AD14-1575D4E9C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6162675"/>
            <a:ext cx="3267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PDF / мәтін есебі</a:t>
            </a:r>
          </a:p>
        </p:txBody>
      </p:sp>
    </p:spTree>
    <p:extLst>
      <p:ext uri="{BB962C8B-B14F-4D97-AF65-F5344CB8AC3E}">
        <p14:creationId xmlns:p14="http://schemas.microsoft.com/office/powerpoint/2010/main" val="998768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4C3BAE-4F07-453C-9DC3-30B491852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Жаңа функциялар және шектеулер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8EB6C-0C1F-43FC-B77D-01BC79C8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E06768-3186-40F3-BD95-227F0096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5143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Орындалды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AF01EE-554D-450A-B8CE-27277DB3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524125"/>
            <a:ext cx="533400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DICOM, калибрлеу және OOD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CNN + MobileNetV2 + Ensemble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Үш белгіге жеке эксперимент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56 тест және CI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Docker build/run тексерілді</a:t>
            </a:r>
          </a:p>
          <a:p xmlns:a="http://schemas.openxmlformats.org/drawingml/2006/main">
            <a:pPr>
              <a:buNone/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GitHub CI қашықта өтті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4D3831-1780-4EE7-9548-E2BD4E73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90700"/>
            <a:ext cx="4810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Келесі кезең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A7402-DECA-4F7F-A51D-126FB5E68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524125"/>
            <a:ext cx="4762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Көбірек сыртқы дерек жинау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Әлсіз белгілерді тексеру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Клиникалық сыртқы тексеру</a:t>
            </a:r>
          </a:p>
          <a:p xmlns:a="http://schemas.openxmlformats.org/drawingml/2006/main">
            <a:pPr>
              <a:buNone/>
              <a:defRPr sz="21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Серверге орналастыру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67C0C3-16A2-4893-AC02-725F7A7C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8585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Оқу прототипі. Клиникалық қолдануға бөлек тексеру қажет.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F7376-4450-4EEA-B816-6DF74804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15050"/>
            <a:ext cx="1028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 жауабы барлық ауруды жоққа шығармайды.</a:t>
            </a:r>
          </a:p>
        </p:txBody>
      </p:sp>
    </p:spTree>
    <p:extLst>
      <p:ext uri="{BB962C8B-B14F-4D97-AF65-F5344CB8AC3E}">
        <p14:creationId xmlns:p14="http://schemas.microsoft.com/office/powerpoint/2010/main" val="15176196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3A4C0-50AA-42F9-9BB3-2BE33953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Сыртқы валидация: OpenI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AAFE9-A50D-4DAD-BD80-6609E16D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0AC7D-6AB1-4447-86E8-1C95589BE7E2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14750"/>
                <a:gridCol w="2419350"/>
                <a:gridCol w="2419350"/>
                <a:gridCol w="2419350"/>
              </a:tblGrid>
              <a:tr h="44359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Көрсеткіш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MobileNetV2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Ensemble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T w="9525">
                      <a:solidFill>
                        <a:srgbClr val="CBDDD6"/>
                      </a:solidFill>
                      <a:prstDash val="solid"/>
                    </a:lnT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193E3A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21,50%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55,00%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55,00%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Precision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20,30%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23,96%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23,96%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Recall / sensitivity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100,00%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57,50%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57,50%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1,88%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54,37%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54,37%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0,3376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0,3382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0,3382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ROC-AUC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CBDDD6"/>
                      </a:solidFill>
                      <a:prstDash val="solid"/>
                    </a:lnL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0,4706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0,5442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0,5441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CBDDD6"/>
                      </a:solidFill>
                      <a:prstDash val="solid"/>
                    </a:lnR>
                    <a:lnB w="9525">
                      <a:solidFill>
                        <a:srgbClr val="CBDDD6"/>
                      </a:solidFill>
                      <a:prstDash val="solid"/>
                    </a:lnB>
                    <a:solidFill>
                      <a:srgbClr val="E9F3EE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9C5F4-4F11-4C75-BB83-E31ED3E8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085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160 NORMAL / 40 PNEUMONIA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A1316-651F-4EE5-BB8E-44EC2689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721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SHA-256 қиылысы: 0. Бір есептен бір сурет.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4F38A-8DE0-435D-9F58-B3AD68E1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200775"/>
            <a:ext cx="1028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Топтау есеп ID-іне сүйенеді. Пациент ID толық расталмаған.</a:t>
            </a:r>
          </a:p>
        </p:txBody>
      </p:sp>
    </p:spTree>
    <p:extLst>
      <p:ext uri="{BB962C8B-B14F-4D97-AF65-F5344CB8AC3E}">
        <p14:creationId xmlns:p14="http://schemas.microsoft.com/office/powerpoint/2010/main" val="2288568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93E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50165-DA83-472D-8898-368F046A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Калибрлеу және OOD іске қосылды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443B1-4DF8-4984-84B3-70E00F74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3150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8E5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F6ED3-E708-47C7-90EC-4CFD25AF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000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p_cal = sigmoid(logit(p) / T)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BEDF0-6623-491D-B109-9829CD32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Қосылған код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7A1F8B-435A-4E16-898B-7118127F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581400"/>
            <a:ext cx="5381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T: 0,2–5,0, validation NLL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Жаңа шек тек validation-да</a:t>
            </a:r>
          </a:p>
          <a:p xmlns:a="http://schemas.openxmlformats.org/drawingml/2006/main">
            <a:pPr>
              <a:buNone/>
              <a:defRPr sz="21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Grad-CAM raw баллын тексереді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F63BF-6D96-4BAF-B7D1-920DDD87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28925"/>
            <a:ext cx="4810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Қазіргі күйі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DF91B3-2F41-464E-9973-85F9512AA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581400"/>
            <a:ext cx="4810125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 = 0,97996, шек 0,745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952 / 952 validation тексерілді</a:t>
            </a:r>
          </a:p>
          <a:p xmlns:a="http://schemas.openxmlformats.org/drawingml/2006/main">
            <a:pPr>
              <a:buNone/>
              <a:defRPr sz="20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OOD шегі: 26,3409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162A07-EC40-43F1-87BF-7473D67B5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1085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B8E5D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8E5D8"/>
                </a:solidFill>
                <a:latin typeface="Arial"/>
                <a:ea typeface="Arial"/>
                <a:cs typeface="Arial"/>
              </a:rPr>
              <a:t>Ensemble: CNN 0,10% + MobileNetV2 99,90%</a:t>
            </a:r>
          </a:p>
        </p:txBody>
      </p:sp>
    </p:spTree>
    <p:extLst>
      <p:ext uri="{BB962C8B-B14F-4D97-AF65-F5344CB8AC3E}">
        <p14:creationId xmlns:p14="http://schemas.microsoft.com/office/powerpoint/2010/main" val="2790165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5B4BF5-97E0-461D-8D60-B609BF4C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075" b="1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193E3A"/>
                </a:solidFill>
                <a:latin typeface="Arial"/>
                <a:ea typeface="Arial"/>
                <a:cs typeface="Arial"/>
              </a:rPr>
              <a:t>Үш белгіге арналған жеке эксперимент</a:t>
            </a:r>
          </a:p>
        </p:txBody>
      </p:sp>
      <p:graphicFrame>
        <p:nvGraphicFrame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F16C0A-71E3-487F-BCC5-E3A9FB2CB9C9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247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1257300"/>
                <a:gridCol w="1571625"/>
                <a:gridCol w="1571625"/>
                <a:gridCol w="1905000"/>
                <a:gridCol w="2095500"/>
              </a:tblGrid>
              <a:tr h="561975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Белгі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Шек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AUC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Sensitivity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Specificity</a:t>
                      </a:r>
                    </a:p>
                  </a:txBody>
                  <a:tcPr marL="91440" marR="91440" marT="45720" marB="45720">
                    <a:solidFill>
                      <a:srgbClr val="193E3A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pneumonia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0,5378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0,2308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30,00%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84,15%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atelectasis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0,17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0,6196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0,4828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96,55%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6,35%</a:t>
                      </a:r>
                    </a:p>
                  </a:txBody>
                  <a:tcPr marL="91440" marR="91440" marT="45720" marB="45720">
                    <a:solidFill>
                      <a:srgbClr val="E9F3EE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cardiomegaly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0,18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0,5632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0,4894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79,31%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93E3A"/>
                          </a:solidFill>
                          <a:latin typeface="Arial"/>
                          <a:ea typeface="Arial"/>
                          <a:cs typeface="Arial"/>
                        </a:rPr>
                        <a:t>33,33%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56351-6E7A-4DB0-81A8-0675A09F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087F77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77"/>
                </a:solidFill>
                <a:latin typeface="Arial"/>
                <a:ea typeface="Arial"/>
                <a:cs typeface="Arial"/>
              </a:rPr>
              <a:t>Train 434   Validation 91   Test 92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D5818-72FA-471D-B77D-73F66BDA0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MobileNetV2, үш sigmoid басы, BCE</a:t>
            </a:r>
          </a:p>
          <a:p xmlns:a="http://schemas.openxmlformats.org/drawingml/2006/main">
            <a:pPr>
              <a:buNone/>
              <a:defRPr sz="2025" b="0">
                <a:solidFill>
                  <a:srgbClr val="193E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93E3A"/>
                </a:solidFill>
                <a:latin typeface="Arial"/>
                <a:ea typeface="Arial"/>
                <a:cs typeface="Arial"/>
              </a:rPr>
              <a:t>Report бойынша бөлу, SHA-256 дедупликациясы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2A0D79-3738-4571-B47C-4C92C464F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Шағын жиын, әлсіз MeSH белгілері. Сайтқа қосылған жоқ.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3A782-77DA-491D-A8E8-165AC2A4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64293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617C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17C77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801309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2026-10-15T13:49:42.0600000Z</dcterms:created>
  <dcterms:modified xsi:type="dcterms:W3CDTF">2026-10-15T13:49:42.0600000Z</dcterms:modified>
</coreProperties>
</file>