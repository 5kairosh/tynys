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294652604c46f7" /><Relationship Type="http://schemas.openxmlformats.org/officeDocument/2006/relationships/extended-properties" Target="/docProps/app.xml" Id="R06d41f3d70d348f2" /><Relationship Type="http://schemas.openxmlformats.org/officeDocument/2006/relationships/officeDocument" Target="/ppt/presentation.xml" Id="R0e83c22a12b143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b898f1b7e544db7"/>
  </p:sldMasterIdLst>
  <p:notesMasterIdLst>
    <p:notesMasterId xmlns:r="http://schemas.openxmlformats.org/officeDocument/2006/relationships" r:id="Rd69a1c60fb7449dc"/>
  </p:notesMasterIdLst>
  <p:sldIdLst>
    <p:sldId xmlns:r="http://schemas.openxmlformats.org/officeDocument/2006/relationships" id="256" r:id="R1b2e5fe732ac4778"/>
    <p:sldId xmlns:r="http://schemas.openxmlformats.org/officeDocument/2006/relationships" id="257" r:id="R65e303c2197d4c51"/>
    <p:sldId xmlns:r="http://schemas.openxmlformats.org/officeDocument/2006/relationships" id="258" r:id="Ra1b953a122bd4916"/>
    <p:sldId xmlns:r="http://schemas.openxmlformats.org/officeDocument/2006/relationships" id="259" r:id="R0405ac2a13b243ba"/>
    <p:sldId xmlns:r="http://schemas.openxmlformats.org/officeDocument/2006/relationships" id="260" r:id="R813e260fc2b94faf"/>
    <p:sldId xmlns:r="http://schemas.openxmlformats.org/officeDocument/2006/relationships" id="261" r:id="R0612909b74c149db"/>
    <p:sldId xmlns:r="http://schemas.openxmlformats.org/officeDocument/2006/relationships" id="262" r:id="R885820e2036849e3"/>
    <p:sldId xmlns:r="http://schemas.openxmlformats.org/officeDocument/2006/relationships" id="263" r:id="Re28ee74237f547a3"/>
    <p:sldId xmlns:r="http://schemas.openxmlformats.org/officeDocument/2006/relationships" id="264" r:id="R4c0763f9496b4369"/>
    <p:sldId xmlns:r="http://schemas.openxmlformats.org/officeDocument/2006/relationships" id="265" r:id="Re0371f9110534038"/>
    <p:sldId xmlns:r="http://schemas.openxmlformats.org/officeDocument/2006/relationships" id="266" r:id="R2ebe23c8396d4045"/>
    <p:sldId xmlns:r="http://schemas.openxmlformats.org/officeDocument/2006/relationships" id="267" r:id="Rcbe88b6a2b3746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9b8c8fbc0046a7" /><Relationship Type="http://schemas.openxmlformats.org/officeDocument/2006/relationships/slideMaster" Target="/ppt/slideMasters/slideMaster1.xml" Id="R9b898f1b7e544db7" /><Relationship Type="http://schemas.openxmlformats.org/officeDocument/2006/relationships/notesMaster" Target="/ppt/notesMasters/notesMaster1.xml" Id="Rd69a1c60fb7449dc" /><Relationship Type="http://schemas.openxmlformats.org/officeDocument/2006/relationships/presProps" Target="/ppt/presProps.xml" Id="R1fed9690377f464b" /><Relationship Type="http://schemas.openxmlformats.org/officeDocument/2006/relationships/tableStyles" Target="/ppt/tableStyles.xml" Id="R011c2a96ba1d47bd" /><Relationship Type="http://schemas.openxmlformats.org/officeDocument/2006/relationships/slide" Target="/ppt/slides/slide1.xml" Id="R1b2e5fe732ac4778" /><Relationship Type="http://schemas.openxmlformats.org/officeDocument/2006/relationships/slide" Target="/ppt/slides/slide2.xml" Id="R65e303c2197d4c51" /><Relationship Type="http://schemas.openxmlformats.org/officeDocument/2006/relationships/slide" Target="/ppt/slides/slide3.xml" Id="Ra1b953a122bd4916" /><Relationship Type="http://schemas.openxmlformats.org/officeDocument/2006/relationships/slide" Target="/ppt/slides/slide4.xml" Id="R0405ac2a13b243ba" /><Relationship Type="http://schemas.openxmlformats.org/officeDocument/2006/relationships/slide" Target="/ppt/slides/slide5.xml" Id="R813e260fc2b94faf" /><Relationship Type="http://schemas.openxmlformats.org/officeDocument/2006/relationships/slide" Target="/ppt/slides/slide6.xml" Id="R0612909b74c149db" /><Relationship Type="http://schemas.openxmlformats.org/officeDocument/2006/relationships/slide" Target="/ppt/slides/slide7.xml" Id="R885820e2036849e3" /><Relationship Type="http://schemas.openxmlformats.org/officeDocument/2006/relationships/slide" Target="/ppt/slides/slide8.xml" Id="Re28ee74237f547a3" /><Relationship Type="http://schemas.openxmlformats.org/officeDocument/2006/relationships/slide" Target="/ppt/slides/slide9.xml" Id="R4c0763f9496b4369" /><Relationship Type="http://schemas.openxmlformats.org/officeDocument/2006/relationships/slide" Target="/ppt/slides/slide10.xml" Id="Re0371f9110534038" /><Relationship Type="http://schemas.openxmlformats.org/officeDocument/2006/relationships/slide" Target="/ppt/slides/slide11.xml" Id="R2ebe23c8396d4045" /><Relationship Type="http://schemas.openxmlformats.org/officeDocument/2006/relationships/slide" Target="/ppt/slides/slide12.xml" Id="Rcbe88b6a2b3746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4d85a82cf74b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335e78d6644450" /><Relationship Type="http://schemas.openxmlformats.org/officeDocument/2006/relationships/notesMaster" Target="/ppt/notesMasters/notesMaster1.xml" Id="R29b514b19bf64d9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b488720d254002" /><Relationship Type="http://schemas.openxmlformats.org/officeDocument/2006/relationships/notesMaster" Target="/ppt/notesMasters/notesMaster1.xml" Id="Rea374f6c37b242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8305b7207884d45" /><Relationship Type="http://schemas.openxmlformats.org/officeDocument/2006/relationships/notesMaster" Target="/ppt/notesMasters/notesMaster1.xml" Id="Ra73de42b56884d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60200bdd13453b" /><Relationship Type="http://schemas.openxmlformats.org/officeDocument/2006/relationships/notesMaster" Target="/ppt/notesMasters/notesMaster1.xml" Id="Rc4a0b3f910874b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45f962e17a4f7b" /><Relationship Type="http://schemas.openxmlformats.org/officeDocument/2006/relationships/notesMaster" Target="/ppt/notesMasters/notesMaster1.xml" Id="R4d1e1dc7a15244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a3d151366c6404c" /><Relationship Type="http://schemas.openxmlformats.org/officeDocument/2006/relationships/notesMaster" Target="/ppt/notesMasters/notesMaster1.xml" Id="R9d9f1035b4254e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14ea56ac7e4be7" /><Relationship Type="http://schemas.openxmlformats.org/officeDocument/2006/relationships/notesMaster" Target="/ppt/notesMasters/notesMaster1.xml" Id="R01433703e3b948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6afce420a414491" /><Relationship Type="http://schemas.openxmlformats.org/officeDocument/2006/relationships/notesMaster" Target="/ppt/notesMasters/notesMaster1.xml" Id="R00c7b367655c4f7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9ec4df29b2415f" /><Relationship Type="http://schemas.openxmlformats.org/officeDocument/2006/relationships/notesMaster" Target="/ppt/notesMasters/notesMaster1.xml" Id="Rb4167286aef840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a6ca654ee8c440f" /><Relationship Type="http://schemas.openxmlformats.org/officeDocument/2006/relationships/notesMaster" Target="/ppt/notesMasters/notesMaster1.xml" Id="Rd3e806f093e8455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28623bd4124618" /><Relationship Type="http://schemas.openxmlformats.org/officeDocument/2006/relationships/notesMaster" Target="/ppt/notesMasters/notesMaster1.xml" Id="Rc6392eeb2541407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9de0373080469e" /><Relationship Type="http://schemas.openxmlformats.org/officeDocument/2006/relationships/notesMaster" Target="/ppt/notesMasters/notesMaster1.xml" Id="R6f909d5b6fe642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Tynys өкпе рентгенін NORMAL және PNEUMONIA санаттарына жіктейді. CNN мен MobileNetV2-ні TensorFlow/Keras арқылы үйретіп, қазақша сайтқа қостым. Қазір validation калибрлеуі мен OOD ескертуі де іске қосылды.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Мәселе — рентгенді бастапқы сұрыптауға қолдау қажеттілігі. Мақсат — екі санатты классификация моделін ыңғайлы сайт арқылы қолдану. Клиникада маман уақытын қаншалықты үнемдейтінін өлшеген жоқпын.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5856 жарамды суретті тазалағаннан кейін train 3801, validation 952, test 618 сурет қалды. Көшірмелерді SHA-256 және файл атауынан алынған топтармен тексердім. Бұл топтар ресми пациент ID емес.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CNN белгілерді басынан үйренеді. MobileNetV2 ImageNet салмақтарына сүйенеді. Кіріс бұрынғыдай RGB, float32 және resize_with_pad 224×224. Жаңа validation шектері CNN үшін 0,475, MobileNetV2 үшін 0,745. Сыртқы нормализация қосылған жоқ.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Модель sigmoid арқылы raw балл шығарады. Оны sigmoid(logit(raw)/T) арқылы калибрлейміз. Шартты raw 0,80 болса, p_cal шамамен 0,804, ол 0,745 шегінен жоғары, сондықтан PNEUMONIA. Binary cross-entropy формуласы үйретудегі raw баллға қатысты.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Қазіргі калибрленген test: CNN accuracy 71,52%, MobileNetV2 89,16%. MobileNetV2 recall 96,12%, FN 15, FP 52. 90% мақсатына жетпеді. McNemar: CNN-only 19, MobileNetV2-only 128, p=4,83×10⁻²¹. Ensemble accuracy 89,16%, ROC-AUC 0,9583. Accuracy өскен жоқ.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Бір суретке CNN, MobileNetV2 және Ensemble санаты, баллы және өз шешім шегі көрсетіледі. Ensemble коэффициенттері тек validation NLL бойынша таңдалған: CNN шамамен 0,10%, MobileNetV2 99,90%. Сайт пен PDF осы конфигурацияны қолданады.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Grad-CAM таңдалған санатқа ықпал еткен аймақтарды жуық көрсетеді. Оның reconstructed_score мәні калибрленген емес, raw sigmoid-пен салыстырылады. Карта зақым шекарасы емес. OOD тек ескерту береді, болжамды блоктамайды.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PDF түпнұсқа, Grad-CAM, T, шешім шегі және салыстыруды көрсетеді. OOD ескертуі де кіреді. NORMAL мен PNEUMONIA беттерінің бір параққа сыйуын тексердім. Тарих тек бет жадында, жаңартқанда жойылады.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Ensemble қосылды, 49 тест өтті. Калибрлеу мен OOD жұмыс істейді. Docker daemon өшірулі, контейнер тексерілмеді. Келесі кезең — сайттан бөлек multi-label эксперименті.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OpenI-дің сол 200 суретін жаңа калибрленген балл және 0,745 шегімен қайта бағаладым. Accuracy 55,00%, recall 57,50%, AUC 0,5442. Таңдау мен шекті сыртқы белгілерге қарап өзгерткен жоқпын. Report UID — surrogate топ, нақты пациент ID толық расталмаған. Сыртқы CNN accuracy 21,50%, Ensemble 55,00%. Екі модельді біріктіру осы сыртқы жиындағы мәселені шешпеді.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952 validation файлының бәрі SHA-256 бойынша тексерілді. MobileNetV2 T=0,97996, CNN T=0,68203. OOD 1280 белгі мен covariance арқылы есептелді, 95-процентиль шегі 26,3409. Non-X-ray сапасы бөлек тексерілген жоқ. Бұл оқу прототипі, клиникалық қолдануға бөлек тексеру қажет.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e3ff64b8a346f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29bb6099334be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e6236535944bc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990269cd8d497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2d86ab322c433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03f4b8afec4e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14AE31-8D9D-4F27-BEFA-363A9E30EB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01F4815-CFE7-4740-9385-F3E30AEFC14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B3971F7-2EFB-4569-B8B6-0912C31E1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C72CFC-2F04-4CAB-A460-2D8AF11DA8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FC08BEB-6330-43C6-ADC5-1560C9E235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195D2D4-F27C-4C13-8B39-5E578933DC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97EFA3-BF78-46CC-9479-9FBF3DA710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C501100-A07C-41AB-A795-DA01AABEF0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9F4718-B7CC-4ACB-AE77-369D5C3E92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FAF339-8AA7-40E8-9823-436BBC4C92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f02ed2deb6423c" /><Relationship Type="http://schemas.openxmlformats.org/officeDocument/2006/relationships/slideLayout" Target="/ppt/slideLayouts/slideLayout1.xml" Id="R94689dfb6a854703" /><Relationship Type="http://schemas.openxmlformats.org/officeDocument/2006/relationships/slideLayout" Target="/ppt/slideLayouts/slideLayout2.xml" Id="Rbcafe72e3a4347ef" /><Relationship Type="http://schemas.openxmlformats.org/officeDocument/2006/relationships/slideLayout" Target="/ppt/slideLayouts/slideLayout3.xml" Id="R0b07750e32f04d09" /><Relationship Type="http://schemas.openxmlformats.org/officeDocument/2006/relationships/slideLayout" Target="/ppt/slideLayouts/slideLayout4.xml" Id="Re6fa33d4f5134e69" /><Relationship Type="http://schemas.openxmlformats.org/officeDocument/2006/relationships/slideLayout" Target="/ppt/slideLayouts/slideLayout5.xml" Id="R896af372174d4139" /><Relationship Type="http://schemas.openxmlformats.org/officeDocument/2006/relationships/slideLayout" Target="/ppt/slideLayouts/slideLayout6.xml" Id="R980dc8e64c2441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689dfb6a854703"/>
    <p:sldLayoutId xmlns:r="http://schemas.openxmlformats.org/officeDocument/2006/relationships" id="2147483650" r:id="Rbcafe72e3a4347ef"/>
    <p:sldLayoutId xmlns:r="http://schemas.openxmlformats.org/officeDocument/2006/relationships" id="2147483651" r:id="R0b07750e32f04d09"/>
    <p:sldLayoutId xmlns:r="http://schemas.openxmlformats.org/officeDocument/2006/relationships" id="2147483652" r:id="Re6fa33d4f5134e69"/>
    <p:sldLayoutId xmlns:r="http://schemas.openxmlformats.org/officeDocument/2006/relationships" id="2147483653" r:id="R896af372174d4139"/>
    <p:sldLayoutId xmlns:r="http://schemas.openxmlformats.org/officeDocument/2006/relationships" id="2147483654" r:id="R980dc8e64c2441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1c3e72d9d0443d" /><Relationship Type="http://schemas.openxmlformats.org/officeDocument/2006/relationships/image" Target="/ppt/media/image.png" Id="Raa6e9852ec824968" /><Relationship Type="http://schemas.openxmlformats.org/officeDocument/2006/relationships/notesSlide" Target="/ppt/notesSlides/notesSlide1.xml" Id="R66b0ab6c42df42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b9530402424e86" /><Relationship Type="http://schemas.openxmlformats.org/officeDocument/2006/relationships/notesSlide" Target="/ppt/notesSlides/notesSlide2.xml" Id="R2bc9e36e09144e7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5832d2af3f4a78" /><Relationship Type="http://schemas.openxmlformats.org/officeDocument/2006/relationships/notesSlide" Target="/ppt/notesSlides/notesSlide3.xml" Id="Rd17d37c6dd0445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7fee5d3ae4466a" /><Relationship Type="http://schemas.openxmlformats.org/officeDocument/2006/relationships/notesSlide" Target="/ppt/notesSlides/notesSlide4.xml" Id="R1203037f2eec46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caeba3fb29453f" /><Relationship Type="http://schemas.openxmlformats.org/officeDocument/2006/relationships/notesSlide" Target="/ppt/notesSlides/notesSlide5.xml" Id="R78bb8258a74143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6f14f5afab41ca" /><Relationship Type="http://schemas.openxmlformats.org/officeDocument/2006/relationships/notesSlide" Target="/ppt/notesSlides/notesSlide6.xml" Id="Rdd6aff26f7c34c9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550040d70b4cd7" /><Relationship Type="http://schemas.openxmlformats.org/officeDocument/2006/relationships/image" Target="/ppt/media/image.jpeg" Id="Rcc5a2091772d4a0e" /><Relationship Type="http://schemas.openxmlformats.org/officeDocument/2006/relationships/notesSlide" Target="/ppt/notesSlides/notesSlide7.xml" Id="R27f0a17b98a44f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d7731033b44659" /><Relationship Type="http://schemas.openxmlformats.org/officeDocument/2006/relationships/image" Target="/ppt/media/image2.jpeg" Id="R5718f91a63374204" /><Relationship Type="http://schemas.openxmlformats.org/officeDocument/2006/relationships/notesSlide" Target="/ppt/notesSlides/notesSlide8.xml" Id="Reefa2801028d40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26ae76739c4210" /><Relationship Type="http://schemas.openxmlformats.org/officeDocument/2006/relationships/image" Target="/ppt/media/image3.jpeg" Id="R6e97e4b68b614603" /><Relationship Type="http://schemas.openxmlformats.org/officeDocument/2006/relationships/image" Target="/ppt/media/image2.png" Id="R15fc9e56a24c4c83" /><Relationship Type="http://schemas.openxmlformats.org/officeDocument/2006/relationships/notesSlide" Target="/ppt/notesSlides/notesSlide9.xml" Id="Re55ef41f292b41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a73cfd89f64388" /><Relationship Type="http://schemas.openxmlformats.org/officeDocument/2006/relationships/notesSlide" Target="/ppt/notesSlides/notesSlide10.xml" Id="Rf0d3b7edced64ca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9da2deeeaf4c47" /><Relationship Type="http://schemas.openxmlformats.org/officeDocument/2006/relationships/notesSlide" Target="/ppt/notesSlides/notesSlide11.xml" Id="R87950814e0e046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e6b9d825e84a4b" /><Relationship Type="http://schemas.openxmlformats.org/officeDocument/2006/relationships/notesSlide" Target="/ppt/notesSlides/notesSlide12.xml" Id="R8fca1f2e345942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9B9CB-C7EC-4B85-B0DC-07C77A75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35674D-31DC-4AEA-B2A4-58CE6C9B23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e9852ec824968"/>
          <a:stretch xmlns:a="http://schemas.openxmlformats.org/drawingml/2006/main"/>
        </p:blipFill>
        <p:spPr>
          <a:xfrm xmlns:a="http://schemas.openxmlformats.org/drawingml/2006/main">
            <a:off x="6810375" y="952500"/>
            <a:ext cx="4857750" cy="4857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64969-0621-4E35-9D1C-0840C90B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630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630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630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Tynys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9DCA0-5F90-4A33-A898-A1D1FA61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57475"/>
            <a:ext cx="61912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Өкпе рентгенін</a:t>
            </a:r>
          </a:p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машиналық оқытумен</a:t>
            </a:r>
          </a:p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жіктеу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5B0F7-513C-41DA-B23C-02D7FB6F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571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TensorFlow / Keras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CNN және MobileNetV2</a:t>
            </a:r>
          </a:p>
        </p:txBody>
      </p:sp>
    </p:spTree>
    <p:extLst>
      <p:ext uri="{BB962C8B-B14F-4D97-AF65-F5344CB8AC3E}">
        <p14:creationId xmlns:p14="http://schemas.microsoft.com/office/powerpoint/2010/main" val="6196672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F543F-9128-411A-BB25-1238B7C3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Мәселе және жоба мақсаты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78937-DA6D-4A90-9256-D497EEF1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CF9A27-7044-41D4-AE24-DBF2FD7D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0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Бастапқы сұрыптауға қолдау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7B61E-4BF7-495C-A58F-0CE0B9AB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1057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Мамандар жетіспейтін аймақтарда рентгенді</a:t>
            </a:r>
          </a:p>
          <a:p xmlns:a="http://schemas.openxmlformats.org/drawingml/2006/main">
            <a:pPr>
              <a:buNone/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алғашқы бағалау қажеттілігі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39BA5-C543-4E6D-9335-0F5F57F0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Мақсат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AEDF7-5E35-4AD7-96FC-F0C24112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33925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NORMAL / PNEUMONIA</a:t>
            </a:r>
          </a:p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жіктеу моделін сайтқа қосу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2CDEF-BBBC-4FF6-98BB-DB108DA0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086225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Көзделген пайда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6182A4-93FA-409F-B5D0-C05846E0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33925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Суреттерді сұрыптау</a:t>
            </a:r>
          </a:p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Нәтижені түсінікті көрсету</a:t>
            </a:r>
          </a:p>
        </p:txBody>
      </p:sp>
    </p:spTree>
    <p:extLst>
      <p:ext uri="{BB962C8B-B14F-4D97-AF65-F5344CB8AC3E}">
        <p14:creationId xmlns:p14="http://schemas.microsoft.com/office/powerpoint/2010/main" val="3048764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DAE24-4900-4BF8-B093-BC284738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Датасет және эксперименттің бөлінуі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4E8C3-C208-4B18-B54B-8A66D26A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9517F-C6F0-4DEB-98D2-749CD438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49530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65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65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65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5856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4C4EA-E43C-4F13-9F71-72DEC502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86075"/>
            <a:ext cx="542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оқылған жарамды сурет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C47C-EC9C-446F-ABD6-02EB72F0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38325"/>
            <a:ext cx="4000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5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5371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D5F830-8E64-4F9C-9ED1-F3772A3C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33700"/>
            <a:ext cx="3857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тазалаудан кейін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09F000-F70C-4FE6-A8D3-0150527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3801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12961-85A5-4BEC-B45D-EDD9E848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3266F-B431-4461-BCA9-452BA50A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24325"/>
            <a:ext cx="266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827C8-C448-4BA1-87A9-C87BBEBB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50292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533209-80BB-4FA2-A3A0-827C42FE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1243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AC610-4000-4BFB-ADDD-48E9D388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0292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A17C4F-0FBD-46DC-A483-DF195FC8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453 development суретін test қиылысуына байланысты шығардық</a:t>
            </a:r>
          </a:p>
        </p:txBody>
      </p:sp>
    </p:spTree>
    <p:extLst>
      <p:ext uri="{BB962C8B-B14F-4D97-AF65-F5344CB8AC3E}">
        <p14:creationId xmlns:p14="http://schemas.microsoft.com/office/powerpoint/2010/main" val="2237996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3872B9-6028-4EE6-8FD8-EEB1AC4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Модельден веб-сайтқа дейін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2D68C-A286-4281-94E3-C4A92784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E959E-5972-4F08-97B7-AA35FED2B336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667125"/>
                <a:gridCol w="4448175"/>
              </a:tblGrid>
              <a:tr h="6429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Бастапқы салмақ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Кездейсоқ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ImageNet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Үйрету тәсілі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CNN-ді басынан үйрету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Transfer Learning + fine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Шешім шегі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0,745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D861AD-8BB6-4C28-BD5B-9BA75EFF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7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224 × 224 RGB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33468-7868-4132-8941-4A2F5713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5191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Colab-тағы өңдеу сайтта сақталған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5F87E-D07A-41C3-99CB-14ED6346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0060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FastAPI + TensorFlow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B8877-3692-4752-94E8-2A1E56A5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14975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HTML / CSS / JavaScript интерфейсі</a:t>
            </a:r>
          </a:p>
        </p:txBody>
      </p:sp>
    </p:spTree>
    <p:extLst>
      <p:ext uri="{BB962C8B-B14F-4D97-AF65-F5344CB8AC3E}">
        <p14:creationId xmlns:p14="http://schemas.microsoft.com/office/powerpoint/2010/main" val="14644002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9D075-2B0B-4B88-A12A-19A432F8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Математикалық прототип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00A86-411B-43CB-AE21-6FF21684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EA0F0-6952-4E35-9365-46407E02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z = wᵀhθ(x) + 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F1134-5438-42A3-95C9-B558AEA1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9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 = 1 / (1 + exp(−z))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6E7BF-7826-47BF-A3C2-4B60ABB0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ℓ = −aᵧ[y ln p + (1−y) ln(1−p)]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0317C0-CFFB-4FD7-B628-1366C60F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Шартты есеп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4C07D-432B-4599-BC24-5D9467CA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p_raw = 0,80, p_cal ≈ 0,804 ≥ 0,745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B95961-A4F4-4B14-8A01-C4292A3C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PNEUMONIA болжамы. y = 1, aᵧ = 1 болса, loss ≈ 0,2231</a:t>
            </a:r>
          </a:p>
        </p:txBody>
      </p:sp>
    </p:spTree>
    <p:extLst>
      <p:ext uri="{BB962C8B-B14F-4D97-AF65-F5344CB8AC3E}">
        <p14:creationId xmlns:p14="http://schemas.microsoft.com/office/powerpoint/2010/main" val="10558954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2A8D1-7844-4B49-B0D3-08B923C0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Соңғы тест нәтижелері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09C6E-957B-4628-B363-14D43B84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BCF6B9-B082-4D99-B3F2-A8E255513F0C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2419350"/>
                <a:gridCol w="2419350"/>
                <a:gridCol w="2419350"/>
              </a:tblGrid>
              <a:tr h="44359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Көрсеткіш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Ensemble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71,52%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89,16%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89,16%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70,81%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87,74%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87,74%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Recall /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92,76%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96,12%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96,12%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35,93%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77,49%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77,49%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0,8031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0,9174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0,9174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0,8211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0,9581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0,9583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F1A87-F665-4C8B-BAC3-CCB6F153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5286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p = 4,83 × 10⁻²¹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D2AB2-03F6-457E-BED7-FB568059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57875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McNemar: осы тестте айырма маңызды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A28C1-93A3-474D-AFCC-7B994113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162550"/>
            <a:ext cx="4572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7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15 FN / 52 FP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C3178-E0ED-4DE1-A7ED-D8984C9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58578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90% accuracy мақсатына жетпеді</a:t>
            </a:r>
          </a:p>
        </p:txBody>
      </p:sp>
    </p:spTree>
    <p:extLst>
      <p:ext uri="{BB962C8B-B14F-4D97-AF65-F5344CB8AC3E}">
        <p14:creationId xmlns:p14="http://schemas.microsoft.com/office/powerpoint/2010/main" val="8130029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38C2B-E224-4678-AE4A-10161C52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Бір сурет және үш болжам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E43D7-907F-486D-B6F6-4F4505D7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C0078-F1F0-4CF1-8B19-81DBB315FD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a2091772d4a0e"/>
          <a:stretch xmlns:a="http://schemas.openxmlformats.org/drawingml/2006/main"/>
        </p:blipFill>
        <p:spPr>
          <a:xfrm xmlns:a="http://schemas.openxmlformats.org/drawingml/2006/main">
            <a:off x="860203" y="1743075"/>
            <a:ext cx="6794944" cy="44577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C783AF-4F81-48FF-BEC5-157E4809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9547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JPG / PNG / DICOM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02B56-C101-48ED-924C-8DE73790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19375"/>
            <a:ext cx="3095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Бір топта 10 суретке дейін</a:t>
            </a:r>
          </a:p>
          <a:p xmlns:a="http://schemas.openxmlformats.org/drawingml/2006/main">
            <a:pPr>
              <a:buNone/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Әр файл ≤ 12 МБ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080B8-A4AE-407D-ABFF-6657DE70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1148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Санат, балл және</a:t>
            </a:r>
          </a:p>
          <a:p xmlns:a="http://schemas.openxmlformats.org/drawingml/2006/main">
            <a:pPr>
              <a:buNone/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шешім шегі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800CE-743C-4B24-BB58-8C54BC02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276850"/>
            <a:ext cx="309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Болжамдардың сәйкестігін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бір экранда көру</a:t>
            </a:r>
          </a:p>
        </p:txBody>
      </p:sp>
    </p:spTree>
    <p:extLst>
      <p:ext uri="{BB962C8B-B14F-4D97-AF65-F5344CB8AC3E}">
        <p14:creationId xmlns:p14="http://schemas.microsoft.com/office/powerpoint/2010/main" val="21448030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33CA6-F97E-4619-9E9C-425E6019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Grad-CAM: модель назарын көрсету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F3AD-8B4F-4A1C-9732-CF7DB8C0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F02817-160A-44AC-B501-A3BDE9DFE7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18f91a63374204"/>
          <a:stretch xmlns:a="http://schemas.openxmlformats.org/drawingml/2006/main"/>
        </p:blipFill>
        <p:spPr>
          <a:xfrm xmlns:a="http://schemas.openxmlformats.org/drawingml/2006/main">
            <a:off x="780348" y="1695450"/>
            <a:ext cx="6954654" cy="45624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B5D2A-DF91-4497-81DC-612692BF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95475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Модель назары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52083-772D-4712-B8C1-BBA51030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228975"/>
            <a:ext cx="3095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Түпнұсқа / жылу картасы</a:t>
            </a:r>
          </a:p>
          <a:p xmlns:a="http://schemas.openxmlformats.org/drawingml/2006/main">
            <a:pPr>
              <a:buNone/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Белгіленген PNG жүктеу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8D5EA-5837-4523-9E41-B8EFF07D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95850"/>
            <a:ext cx="314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Карта ықпалды аймақтарды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жуық көрсетеді. Зақымның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нақты шекарасын бермейді.</a:t>
            </a:r>
          </a:p>
        </p:txBody>
      </p:sp>
    </p:spTree>
    <p:extLst>
      <p:ext uri="{BB962C8B-B14F-4D97-AF65-F5344CB8AC3E}">
        <p14:creationId xmlns:p14="http://schemas.microsoft.com/office/powerpoint/2010/main" val="678035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99F64-CC26-402C-81BD-4F732A51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Қорытынды есеп және талдау тарихы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845F2-9D71-42C9-9ADC-4E3950A8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1D2741-EF95-4683-8380-AA884B3916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97e4b68b614603"/>
          <a:stretch xmlns:a="http://schemas.openxmlformats.org/drawingml/2006/main"/>
        </p:blipFill>
        <p:spPr>
          <a:xfrm xmlns:a="http://schemas.openxmlformats.org/drawingml/2006/main">
            <a:off x="523875" y="1736494"/>
            <a:ext cx="6524625" cy="4280362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447657-A80A-4CA7-AB18-E2BEB98F31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c9e56a24c4c83"/>
          <a:stretch xmlns:a="http://schemas.openxmlformats.org/drawingml/2006/main"/>
        </p:blipFill>
        <p:spPr>
          <a:xfrm xmlns:a="http://schemas.openxmlformats.org/drawingml/2006/main">
            <a:off x="7419975" y="1680490"/>
            <a:ext cx="2867025" cy="404947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A8D23-FC49-4980-AD98-4109201C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626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Соңғы 20 талдауға қайта оралу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5357C-F098-493E-AD14-1575D4E9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6162675"/>
            <a:ext cx="3267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PDF / мәтін есебі</a:t>
            </a:r>
          </a:p>
        </p:txBody>
      </p:sp>
    </p:spTree>
    <p:extLst>
      <p:ext uri="{BB962C8B-B14F-4D97-AF65-F5344CB8AC3E}">
        <p14:creationId xmlns:p14="http://schemas.microsoft.com/office/powerpoint/2010/main" val="998768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4C3BAE-4F07-453C-9DC3-30B49185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Жаңа функциялар және шектеулер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8EB6C-0C1F-43FC-B77D-01BC79C8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06768-3186-40F3-BD95-227F0096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143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Орындалды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F01EE-554D-450A-B8CE-27277DB3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53340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DICOM, калибрлеу және OOD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CNN + MobileNetV2 + Ensemble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49 тест және CI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Ішкі және сыртқы бағалау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D3831-1780-4EE7-9548-E2BD4E73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90700"/>
            <a:ext cx="4810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Келесі кезең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A7402-DECA-4F7F-A51D-126FB5E6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24125"/>
            <a:ext cx="4762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Multi-label жеке тәжірибесі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Сыртқы деректе сапаны өсіру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Клиникалық сыртқы тексеру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Серверге орналастыру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67C0C3-16A2-4893-AC02-725F7A7C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Оқу прототипі. Клиникалық қолдануға бөлек тексеру қажет.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F7376-4450-4EEA-B816-6DF74804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15050"/>
            <a:ext cx="1028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 жауабы барлық ауруды жоққа шығармайды.</a:t>
            </a:r>
          </a:p>
        </p:txBody>
      </p:sp>
    </p:spTree>
    <p:extLst>
      <p:ext uri="{BB962C8B-B14F-4D97-AF65-F5344CB8AC3E}">
        <p14:creationId xmlns:p14="http://schemas.microsoft.com/office/powerpoint/2010/main" val="15176196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3A4C0-50AA-42F9-9BB3-2BE33953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Сыртқы валидация: OpenI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AAFE9-A50D-4DAD-BD80-6609E16D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0DE33D-D614-4669-910D-A142556D1B4B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2419350"/>
                <a:gridCol w="2419350"/>
                <a:gridCol w="2419350"/>
              </a:tblGrid>
              <a:tr h="44359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Көрсеткіш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Ensemble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21,50%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55,00%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55,00%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20,30%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23,96%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23,96%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Recall /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100,00%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57,50%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57,50%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1,88%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54,37%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54,37%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0,3376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0,3382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0,3382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0,4706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0,5442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0,5441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9C5F4-4F11-4C75-BB83-E31ED3E8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160 NORMAL / 40 PNEUMONIA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A1316-651F-4EE5-BB8E-44EC2689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SHA-256 қиылысы: 0. Бір есептен бір сурет.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4F38A-8DE0-435D-9F58-B3AD68E1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00775"/>
            <a:ext cx="1028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Топтау есеп ID-іне сүйенеді. Пациент ID толық расталмаған.</a:t>
            </a:r>
          </a:p>
        </p:txBody>
      </p:sp>
    </p:spTree>
    <p:extLst>
      <p:ext uri="{BB962C8B-B14F-4D97-AF65-F5344CB8AC3E}">
        <p14:creationId xmlns:p14="http://schemas.microsoft.com/office/powerpoint/2010/main" val="2288568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50165-DA83-472D-8898-368F046A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Калибрлеу және OOD іске қосылды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443B1-4DF8-4984-84B3-70E00F74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8F6ED3-E708-47C7-90EC-4CFD25AF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00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p_cal = sigmoid(logit(p) / T)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BEDF0-6623-491D-B109-9829CD32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Қосылған код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A1F8B-435A-4E16-898B-7118127F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81400"/>
            <a:ext cx="5381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T: 0,2–5,0, validation NLL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Жаңа шек тек validation-да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Grad-CAM raw баллын тексереді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F63BF-6D96-4BAF-B7D1-920DDD87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28925"/>
            <a:ext cx="4810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Қазіргі күйі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F91B3-2F41-464E-9973-85F9512A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48101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 = 0,97996, шек 0,745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952 / 952 validation тексерілді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OOD шегі: 26,3409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62A07-EC40-43F1-87BF-7473D67B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Ensemble: CNN 0,10% + MobileNetV2 99,90%</a:t>
            </a:r>
          </a:p>
        </p:txBody>
      </p:sp>
    </p:spTree>
    <p:extLst>
      <p:ext uri="{BB962C8B-B14F-4D97-AF65-F5344CB8AC3E}">
        <p14:creationId xmlns:p14="http://schemas.microsoft.com/office/powerpoint/2010/main" val="2790165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2026-10-15T12:12:15.7490000Z</dcterms:created>
  <dcterms:modified xsi:type="dcterms:W3CDTF">2026-10-15T12:12:15.7490000Z</dcterms:modified>
</coreProperties>
</file>