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0b2018cd2b494d" /><Relationship Type="http://schemas.openxmlformats.org/officeDocument/2006/relationships/extended-properties" Target="/docProps/app.xml" Id="Ra192bab0b176491a" /><Relationship Type="http://schemas.openxmlformats.org/officeDocument/2006/relationships/officeDocument" Target="/ppt/presentation.xml" Id="R3ae5937271ac4f91" /></Relationships>
</file>

<file path=ppt/presentation.xml><?xml version="1.0" encoding="utf-8"?>
<p:presentation xmlns:p="http://schemas.openxmlformats.org/presentationml/2006/main">
  <p:sldMasterIdLst>
    <p:sldMasterId xmlns:r="http://schemas.openxmlformats.org/officeDocument/2006/relationships" id="2147483648" r:id="R13dc72665ba74566"/>
  </p:sldMasterIdLst>
  <p:notesMasterIdLst>
    <p:notesMasterId xmlns:r="http://schemas.openxmlformats.org/officeDocument/2006/relationships" r:id="R41076a58386a466c"/>
  </p:notesMasterIdLst>
  <p:sldIdLst>
    <p:sldId xmlns:r="http://schemas.openxmlformats.org/officeDocument/2006/relationships" id="256" r:id="Rc154dcd604564fba"/>
    <p:sldId xmlns:r="http://schemas.openxmlformats.org/officeDocument/2006/relationships" id="257" r:id="R0ee6afed09c44174"/>
    <p:sldId xmlns:r="http://schemas.openxmlformats.org/officeDocument/2006/relationships" id="258" r:id="R64fa0d6cff1b4b39"/>
    <p:sldId xmlns:r="http://schemas.openxmlformats.org/officeDocument/2006/relationships" id="259" r:id="R91e38ee43bbc427a"/>
    <p:sldId xmlns:r="http://schemas.openxmlformats.org/officeDocument/2006/relationships" id="260" r:id="R96736aab3111416b"/>
    <p:sldId xmlns:r="http://schemas.openxmlformats.org/officeDocument/2006/relationships" id="261" r:id="R07468b5091734b3c"/>
    <p:sldId xmlns:r="http://schemas.openxmlformats.org/officeDocument/2006/relationships" id="262" r:id="R64ea846c9f6d4b4a"/>
    <p:sldId xmlns:r="http://schemas.openxmlformats.org/officeDocument/2006/relationships" id="263" r:id="Rd811c2ad81a54d49"/>
    <p:sldId xmlns:r="http://schemas.openxmlformats.org/officeDocument/2006/relationships" id="264" r:id="Rc8a9849c2571421c"/>
    <p:sldId xmlns:r="http://schemas.openxmlformats.org/officeDocument/2006/relationships" id="265" r:id="Rce8610cc145340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0aaaab68c347e1" /><Relationship Type="http://schemas.openxmlformats.org/officeDocument/2006/relationships/slideMaster" Target="/ppt/slideMasters/slideMaster1.xml" Id="R13dc72665ba74566" /><Relationship Type="http://schemas.openxmlformats.org/officeDocument/2006/relationships/notesMaster" Target="/ppt/notesMasters/notesMaster1.xml" Id="R41076a58386a466c" /><Relationship Type="http://schemas.openxmlformats.org/officeDocument/2006/relationships/presProps" Target="/ppt/presProps.xml" Id="R6bcdcc9f55084a27" /><Relationship Type="http://schemas.openxmlformats.org/officeDocument/2006/relationships/tableStyles" Target="/ppt/tableStyles.xml" Id="Rd56db0ecd8724f6d" /><Relationship Type="http://schemas.openxmlformats.org/officeDocument/2006/relationships/slide" Target="/ppt/slides/slide1.xml" Id="Rc154dcd604564fba" /><Relationship Type="http://schemas.openxmlformats.org/officeDocument/2006/relationships/slide" Target="/ppt/slides/slide2.xml" Id="R0ee6afed09c44174" /><Relationship Type="http://schemas.openxmlformats.org/officeDocument/2006/relationships/slide" Target="/ppt/slides/slide3.xml" Id="R64fa0d6cff1b4b39" /><Relationship Type="http://schemas.openxmlformats.org/officeDocument/2006/relationships/slide" Target="/ppt/slides/slide4.xml" Id="R91e38ee43bbc427a" /><Relationship Type="http://schemas.openxmlformats.org/officeDocument/2006/relationships/slide" Target="/ppt/slides/slide5.xml" Id="R96736aab3111416b" /><Relationship Type="http://schemas.openxmlformats.org/officeDocument/2006/relationships/slide" Target="/ppt/slides/slide6.xml" Id="R07468b5091734b3c" /><Relationship Type="http://schemas.openxmlformats.org/officeDocument/2006/relationships/slide" Target="/ppt/slides/slide7.xml" Id="R64ea846c9f6d4b4a" /><Relationship Type="http://schemas.openxmlformats.org/officeDocument/2006/relationships/slide" Target="/ppt/slides/slide8.xml" Id="Rd811c2ad81a54d49" /><Relationship Type="http://schemas.openxmlformats.org/officeDocument/2006/relationships/slide" Target="/ppt/slides/slide9.xml" Id="Rc8a9849c2571421c" /><Relationship Type="http://schemas.openxmlformats.org/officeDocument/2006/relationships/slide" Target="/ppt/slides/slide10.xml" Id="Rce8610cc145340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d847d918ce4e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630a8dea984d8d" /><Relationship Type="http://schemas.openxmlformats.org/officeDocument/2006/relationships/notesMaster" Target="/ppt/notesMasters/notesMaster1.xml" Id="R798e4d73abc148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669b86a9d8455b" /><Relationship Type="http://schemas.openxmlformats.org/officeDocument/2006/relationships/notesMaster" Target="/ppt/notesMasters/notesMaster1.xml" Id="R4827fbd3d5f64b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4836ab1df64b25" /><Relationship Type="http://schemas.openxmlformats.org/officeDocument/2006/relationships/notesMaster" Target="/ppt/notesMasters/notesMaster1.xml" Id="R17920158722742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50bb3e9f2a40de" /><Relationship Type="http://schemas.openxmlformats.org/officeDocument/2006/relationships/notesMaster" Target="/ppt/notesMasters/notesMaster1.xml" Id="Rb6b1a8176e0145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8c3ca8126c4531" /><Relationship Type="http://schemas.openxmlformats.org/officeDocument/2006/relationships/notesMaster" Target="/ppt/notesMasters/notesMaster1.xml" Id="R922965f1b26f48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89a1fc6c344551" /><Relationship Type="http://schemas.openxmlformats.org/officeDocument/2006/relationships/notesMaster" Target="/ppt/notesMasters/notesMaster1.xml" Id="Rea70abae4bd84a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8a9535afc44e60" /><Relationship Type="http://schemas.openxmlformats.org/officeDocument/2006/relationships/notesMaster" Target="/ppt/notesMasters/notesMaster1.xml" Id="R6eee2edae83f4b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bad6688d504776" /><Relationship Type="http://schemas.openxmlformats.org/officeDocument/2006/relationships/notesMaster" Target="/ppt/notesMasters/notesMaster1.xml" Id="R3787669b61054c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7bd70711fc443a" /><Relationship Type="http://schemas.openxmlformats.org/officeDocument/2006/relationships/notesMaster" Target="/ppt/notesMasters/notesMaster1.xml" Id="Rbae2cb53614846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318cb7044b49e7" /><Relationship Type="http://schemas.openxmlformats.org/officeDocument/2006/relationships/notesMaster" Target="/ppt/notesMasters/notesMaster1.xml" Id="R9c24c255e8e646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Менің жобамның атауы — Tynys. Ол кеуде рентгенін NORMAL және PNEUMONIA санаттарына жіктейтін машиналық оқыту моделін және қазақша веб-сайтты біріктіреді. TensorFlow және Keras арқылы CNN мен MobileNetV2 үйреттім. Colab-та сақталған модельдерді сайтқа қосып, нақты суретті тексеру, екі модельді салыстыру, Grad-CAM, есеп жүктеу және талдау тарихын жасадым. Бұл презентацияда жобаның мақсатын, орындалу жолын және соңғы нәтижесін көрсетемін. Мұқабадағы өкпе — жасалған иллюстрация.</a:t>
            </a:r>
          </a:p>
          <a:p xmlns:a="http://schemas.openxmlformats.org/drawingml/2006/main">
            <a:r>
              <a:t/>
            </a:r>
          </a:p>
          <a:p xmlns:a="http://schemas.openxmlformats.org/drawingml/2006/main">
            <a:r>
              <a:t>Дереккөздер:</a:t>
            </a:r>
          </a:p>
          <a:p xmlns:a="http://schemas.openxmlformats.org/drawingml/2006/main">
            <a:r>
              <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Бастапқы мәселе — аймақтарда рентгенді талдайтын мамандардың жетіспеушілігі және суреттерді жылдам бастапқы сұрыптау қажеттілігі. Жоба осы міндетке машиналық оқыту арқылы қолдау көрсету мүмкіндігін зерттейді. Нақты мақсатым — екі санатқа жіктейтін модель үйретіп, оны пайдалануға ыңғайлы сайтқа қосу. Пайдаланушы суретті жүктеп, санатты, баллды, шешім шегін және визуал түсіндірмені көреді. Екі модельді бірдей тестте салыстыру арқылы Transfer Learning тиімділігін тексердім. Мамандардың уақытын үнемдеу — көзделген пайда. Бұл әсерді нақты клиникада өлшеген жоқпын.</a:t>
            </a:r>
          </a:p>
          <a:p xmlns:a="http://schemas.openxmlformats.org/drawingml/2006/main">
            <a:r>
              <a:t/>
            </a:r>
          </a:p>
          <a:p xmlns:a="http://schemas.openxmlformats.org/drawingml/2006/main">
            <a:r>
              <a:t>Дереккөздер:</a:t>
            </a:r>
          </a:p>
          <a:p xmlns:a="http://schemas.openxmlformats.org/drawingml/2006/main">
            <a:r>
              <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Kaggle Chest X-Ray Images (Pneumonia) датасетін қолдандым. 5856 жарамды сурет оқылды. Көшірмелерді және тестпен топтық қиылысуларды тексергеннен кейін 5371 сурет қалды. Train 3801, validation 952, test 618 суреттен тұрады. Train модель салмақтарын үйретеді, validation модель кезеңі мен шешім шегін таңдайды, test дайын модельді бағалайды. Тестпен қиылысуына байланысты development жиынынан 453 сурет шығарылды. Файл атауынан алынған топтар ресми пациент ID емес. Бұл шектеуді нәтижені түсіндіргенде ескеру керек.</a:t>
            </a:r>
          </a:p>
          <a:p xmlns:a="http://schemas.openxmlformats.org/drawingml/2006/main">
            <a:r>
              <a:t/>
            </a:r>
          </a:p>
          <a:p xmlns:a="http://schemas.openxmlformats.org/drawingml/2006/main">
            <a:r>
              <a:t>Дереккөздер:</a:t>
            </a:r>
          </a:p>
          <a:p xmlns:a="http://schemas.openxmlformats.org/drawingml/2006/main">
            <a:r>
              <a:t>https://www.kaggle.com/datasets/paultimothymooney/chest-xray-pneumonia</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Екі модельге бірдей бөлінген деректер берілді. RGB суретті пропорциясын сақтап 224-ке 224 пиксельге келтіреміз. CNN барлық белгіні осы датасеттен үйренеді. MobileNetV2 ImageNet-та үйренген бастапқы салмақтарды пайдаланады. Алдымен жаңа классификаторды, кейін соңғы отыз қабаттың BatchNormalization емес қабаттарын кіші learning rate-пен баптадым. Validation loss бойынша fine кезеңін таңдадым. Сайттағы FastAPI сервері сақталған .keras модельдерін жүктейді. Суретті өңдеу мен шешім шегі Colab-тағы конфигурацияға сәйкес келеді. Python және TensorFlow серверде, HTML, CSS және JavaScript браузерде жұмыс істейді.</a:t>
            </a:r>
          </a:p>
          <a:p xmlns:a="http://schemas.openxmlformats.org/drawingml/2006/main">
            <a:r>
              <a:t/>
            </a:r>
          </a:p>
          <a:p xmlns:a="http://schemas.openxmlformats.org/drawingml/2006/main">
            <a:r>
              <a:t>Дереккөздер:</a:t>
            </a:r>
          </a:p>
          <a:p xmlns:a="http://schemas.openxmlformats.org/drawingml/2006/main">
            <a:r>
              <a:t>https://www.tensorflow.org/tutorials/images/transfer_learning</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Нейрондық желі x суретін h тета x белгілеріне айналдырады. Соңғы классификатор z тең w транспонирленген h тета x плюс b мәнін есептейді. Sigmoid оны нөл мен бір аралығындағы p баллына айналдырады. Үйрету барысында класс салмағын ескеретін binary cross-entropy азаяды. Шартты есепте z натурал логарифм төрт болса, p 0,8 болады. Ол MobileNetV2 үшін validation арқылы таңдалған 0,740 шегінен жоғары болғандықтан, болжам PNEUMONIA болады. Нақты класс бір, класс салмағы бір болғанда қате минус ln 0,8, шамамен 0,2231. Бұл сандар формуланы түсіндіретін шартты мысал. Модель баллы клиникалық диагноздың ықтималдығы ретінде калибрленбеген.</a:t>
            </a:r>
          </a:p>
          <a:p xmlns:a="http://schemas.openxmlformats.org/drawingml/2006/main">
            <a:r>
              <a:t/>
            </a:r>
          </a:p>
          <a:p xmlns:a="http://schemas.openxmlformats.org/drawingml/2006/main">
            <a:r>
              <a:t>Дереккөздер:</a:t>
            </a:r>
          </a:p>
          <a:p xmlns:a="http://schemas.openxmlformats.org/drawingml/2006/main">
            <a:r>
              <a:t>https://www.tensorflow.org/api_docs/python/tf/keras/losses/BinaryCrossentropy</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Соңғы сақталған архивтегі нәтижелерді көрсетіп отырмын. Бірдей 618 тест суретінде CNN accuracy 71,68%, MobileNetV2 accuracy 89,16% көрсетті. Айырма 17,48 пайыздық пункт. MobileNetV2 recall 96,12%, specificity 77,49%, F1 0,9174 және ROC-AUC 0,9581. Қалыпты 231 суреттің 179-ын дұрыс, 52-сін қате PNEUMONIA деп жіктеді. Пневмония санатындағы 387 суреттің 372-сін дұрыс, 15-ін қате NORMAL деп жіктеді. Барлығы 551 дұрыс және 67 қате. 90% accuracy мақсатына жеткен жоқпыз. Бұл көрсеткіштер тек осы эксперименттің тест жиынына қатысты.</a:t>
            </a:r>
          </a:p>
          <a:p xmlns:a="http://schemas.openxmlformats.org/drawingml/2006/main">
            <a:r>
              <a:t/>
            </a:r>
          </a:p>
          <a:p xmlns:a="http://schemas.openxmlformats.org/drawingml/2006/main">
            <a:r>
              <a:t>Дереккөздер:</a:t>
            </a:r>
          </a:p>
          <a:p xmlns:a="http://schemas.openxmlformats.org/drawingml/2006/main">
            <a:r>
              <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Сайтта JPG немесе PNG суретін жүктеп, талдау батырмасын басамыз. Бір сурет көлемі он екі мегабайтқа дейін, бір топта он суретке дейін жүктеуге болады. CNN және MobileNetV2 бір файлды өз өңдеу тәсілімен тексереді. Әрқайсының болжамын, пневмония санатының баллын және өз шешім шегін салыстырамыз. Скриншотта CNN баллы 0,473713, шегі 0,485 болғандықтан NORMAL. MobileNetV2 баллы 0,083812, шегі 0,740 болғандықтан ол да NORMAL. Екі болжам сәйкес келді. Баллдардың айырмасы қай модель нақты дұрыс екенін өздігінен дәлелдемейді. Бұл — сайттағы нақты орындалған мысал.</a:t>
            </a:r>
          </a:p>
          <a:p xmlns:a="http://schemas.openxmlformats.org/drawingml/2006/main">
            <a:r>
              <a:t/>
            </a:r>
          </a:p>
          <a:p xmlns:a="http://schemas.openxmlformats.org/drawingml/2006/main">
            <a:r>
              <a:t>Дереккөздер:</a:t>
            </a:r>
          </a:p>
          <a:p xmlns:a="http://schemas.openxmlformats.org/drawingml/2006/main">
            <a:r>
              <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Grad-CAM болжамға ықпал еткен аймақтарды жылу картасымен көрсетеді. Сарыдан қызылға қарай ықпал күшейеді. Карта таңдалған санат үшін MobileNetV2-нің соңғы кеңістіктік белгілері мен градиенттерінен есептеледі. Сайтта түпнұсқа мен белгіленген суретті ауыстыруға және картаны PNG ретінде жүктеуге болады. Скриншоттағы мысалда модель PNEUMONIA санатына 0,993 балл берген. Grad-CAM клиникалық зақымның нақты шекарасын көрсетпейді. Ол модельдің шешімін зерттеуге көмектесетін жуық визуал түсіндірме. Сондықтан картаға қарап жаңа медициналық қорытынды қоспаймыз.</a:t>
            </a:r>
          </a:p>
          <a:p xmlns:a="http://schemas.openxmlformats.org/drawingml/2006/main">
            <a:r>
              <a:t/>
            </a:r>
          </a:p>
          <a:p xmlns:a="http://schemas.openxmlformats.org/drawingml/2006/main">
            <a:r>
              <a:t>Дереккөздер:</a:t>
            </a:r>
          </a:p>
          <a:p xmlns:a="http://schemas.openxmlformats.org/drawingml/2006/main">
            <a:r>
              <a:t>https://keras.io/examples/vision/grad_cam/</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Талдау нәтижесін мәтін немесе PDF ретінде жүктеуге болады. Есепте сурет, болжам, балл, шешім шегі және екі модельдің салыстыруы бар. PDF түпнұсқа мен Grad-CAM картасын қатар көрсетеді. Түсіндірме баллдың шекпен салыстырылуын жазады. PNEUMONIA болса балл шектен жоғары немесе тең, NORMAL болса төмен. Бұл ереже медициналық себепті толық түсіндірмейді. Осы бет ашық тұрған кезде соңғы жиырма талдау тарихта сақталады. Қайта ашу бұрынғы нәтиже мен суретті көрсетеді. Тарихты тазалау жазбалар мен ағымдағы нәтижені жояды. Бетті жаңартқанда тарих жоғалады.</a:t>
            </a:r>
          </a:p>
          <a:p xmlns:a="http://schemas.openxmlformats.org/drawingml/2006/main">
            <a:r>
              <a:t/>
            </a:r>
          </a:p>
          <a:p xmlns:a="http://schemas.openxmlformats.org/drawingml/2006/main">
            <a:r>
              <a:t>Дереккөздер:</a:t>
            </a:r>
          </a:p>
          <a:p xmlns:a="http://schemas.openxmlformats.org/drawingml/2006/main">
            <a:r>
              <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Жобада деректерді тазалап, CNN және MobileNetV2 модельдерін үйреттім. Соңғы тестте MobileNetV2 accuracy 89,16% және recall 96,12% көрсетті. Модельдерді қазақша сайтқа қосып, сурет тексеру, салыстыру, Grad-CAM, есеп жүктеу және сессия тарихын іске асырдым. Қазіргі сайт жергілікті компьютерде жұмыс істейді. Келесі кезең — модельді сыртқы деректе тексеру және тиісті белгілері бар жаңа датасетпен бірнеше ауруға кеңейту. Бір суретте бірнеше белгі болуы мүмкін, сондықтан multi-label classification қажет. Бұл мүмкіндік әзірге жоспар. Қазіргі модель екі класқа арналған. NORMAL жауабы барлық ауруды жоққа шығармайды. Клиникалық қолдану үшін мамандармен бөлек тексеру қажет.</a:t>
            </a:r>
          </a:p>
          <a:p xmlns:a="http://schemas.openxmlformats.org/drawingml/2006/main">
            <a:r>
              <a:t/>
            </a:r>
          </a:p>
          <a:p xmlns:a="http://schemas.openxmlformats.org/drawingml/2006/main">
            <a:r>
              <a:t>Дереккөздер:</a:t>
            </a:r>
          </a:p>
          <a:p xmlns:a="http://schemas.openxmlformats.org/drawingml/2006/main">
            <a:r>
              <a:t/>
            </a:r>
          </a:p>
          <a:p xmlns:a="http://schemas.openxmlformats.org/drawingml/2006/main">
            <a:r>
              <a:t>Жоба: outputs/tynys-site. Нақты метрикалар: model/test_metrics.csv, 20261013_110349_325207.zip архиві.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4666884f6d4a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b662651f854a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da15ddae2246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6cd489085141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4409f59c949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52711ea7df46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14AE31-8D9D-4F27-BEFA-363A9E30EB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1F4815-CFE7-4740-9385-F3E30AEFC1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3971F7-2EFB-4569-B8B6-0912C31E1F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C72CFC-2F04-4CAB-A460-2D8AF11DA8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C08BEB-6330-43C6-ADC5-1560C9E235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95D2D4-F27C-4C13-8B39-5E578933DC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97EFA3-BF78-46CC-9479-9FBF3DA710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501100-A07C-41AB-A795-DA01AABEF0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9F4718-B7CC-4ACB-AE77-369D5C3E92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FAF339-8AA7-40E8-9823-436BBC4C9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baf7f1e57e4b59" /><Relationship Type="http://schemas.openxmlformats.org/officeDocument/2006/relationships/slideLayout" Target="/ppt/slideLayouts/slideLayout1.xml" Id="Rf5348b70221147f9" /><Relationship Type="http://schemas.openxmlformats.org/officeDocument/2006/relationships/slideLayout" Target="/ppt/slideLayouts/slideLayout2.xml" Id="R90a968326576417d" /><Relationship Type="http://schemas.openxmlformats.org/officeDocument/2006/relationships/slideLayout" Target="/ppt/slideLayouts/slideLayout3.xml" Id="Ref89c220f2a1424e" /><Relationship Type="http://schemas.openxmlformats.org/officeDocument/2006/relationships/slideLayout" Target="/ppt/slideLayouts/slideLayout4.xml" Id="R2cd199e441ec45f1" /><Relationship Type="http://schemas.openxmlformats.org/officeDocument/2006/relationships/slideLayout" Target="/ppt/slideLayouts/slideLayout5.xml" Id="Ra3166ce571ea4b37" /><Relationship Type="http://schemas.openxmlformats.org/officeDocument/2006/relationships/slideLayout" Target="/ppt/slideLayouts/slideLayout6.xml" Id="R580922184ef040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348b70221147f9"/>
    <p:sldLayoutId xmlns:r="http://schemas.openxmlformats.org/officeDocument/2006/relationships" id="2147483650" r:id="R90a968326576417d"/>
    <p:sldLayoutId xmlns:r="http://schemas.openxmlformats.org/officeDocument/2006/relationships" id="2147483651" r:id="Ref89c220f2a1424e"/>
    <p:sldLayoutId xmlns:r="http://schemas.openxmlformats.org/officeDocument/2006/relationships" id="2147483652" r:id="R2cd199e441ec45f1"/>
    <p:sldLayoutId xmlns:r="http://schemas.openxmlformats.org/officeDocument/2006/relationships" id="2147483653" r:id="Ra3166ce571ea4b37"/>
    <p:sldLayoutId xmlns:r="http://schemas.openxmlformats.org/officeDocument/2006/relationships" id="2147483654" r:id="R580922184ef040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9639613daa4bb2" /><Relationship Type="http://schemas.openxmlformats.org/officeDocument/2006/relationships/image" Target="/ppt/media/image.png" Id="Re642b384c0d24686" /><Relationship Type="http://schemas.openxmlformats.org/officeDocument/2006/relationships/notesSlide" Target="/ppt/notesSlides/notesSlide1.xml" Id="R40dc95a64c1f45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2e6532578794ff2" /><Relationship Type="http://schemas.openxmlformats.org/officeDocument/2006/relationships/notesSlide" Target="/ppt/notesSlides/notesSlide2.xml" Id="Rfc2d5173278747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c9cc466f294abc" /><Relationship Type="http://schemas.openxmlformats.org/officeDocument/2006/relationships/notesSlide" Target="/ppt/notesSlides/notesSlide3.xml" Id="R3e0701ac65404f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a6097e1e0d420a" /><Relationship Type="http://schemas.openxmlformats.org/officeDocument/2006/relationships/notesSlide" Target="/ppt/notesSlides/notesSlide4.xml" Id="R6f9a1a7029b348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4990058aab469c" /><Relationship Type="http://schemas.openxmlformats.org/officeDocument/2006/relationships/notesSlide" Target="/ppt/notesSlides/notesSlide5.xml" Id="R412934bfd0d141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3b0f8318b884ee5" /><Relationship Type="http://schemas.openxmlformats.org/officeDocument/2006/relationships/notesSlide" Target="/ppt/notesSlides/notesSlide6.xml" Id="Rf61aebc22cc341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bb8d17fb3a4dd7" /><Relationship Type="http://schemas.openxmlformats.org/officeDocument/2006/relationships/image" Target="/ppt/media/image.jpeg" Id="Rb264804023b54073" /><Relationship Type="http://schemas.openxmlformats.org/officeDocument/2006/relationships/notesSlide" Target="/ppt/notesSlides/notesSlide7.xml" Id="R996ca729655846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4772656df84756" /><Relationship Type="http://schemas.openxmlformats.org/officeDocument/2006/relationships/image" Target="/ppt/media/image2.jpeg" Id="Ra4b335d3672040e8" /><Relationship Type="http://schemas.openxmlformats.org/officeDocument/2006/relationships/notesSlide" Target="/ppt/notesSlides/notesSlide8.xml" Id="R1da811e4d6a4405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db98d4990ca4656" /><Relationship Type="http://schemas.openxmlformats.org/officeDocument/2006/relationships/image" Target="/ppt/media/image3.jpeg" Id="R53c038bdb16e4ad0" /><Relationship Type="http://schemas.openxmlformats.org/officeDocument/2006/relationships/image" Target="/ppt/media/image2.png" Id="R1df61b873fcf4630" /><Relationship Type="http://schemas.openxmlformats.org/officeDocument/2006/relationships/notesSlide" Target="/ppt/notesSlides/notesSlide9.xml" Id="Rc903deadb98d4c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a050ec083f849d2" /><Relationship Type="http://schemas.openxmlformats.org/officeDocument/2006/relationships/notesSlide" Target="/ppt/notesSlides/notesSlide10.xml" Id="Rabc5e43d22dd441a" /></Relationships>
</file>

<file path=ppt/slides/slide1.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69B9CB-C7EC-4B85-B0DC-07C77A75FFB6}"/>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B27319BE-A025-4560-BA67-3CF130D33444}"/>
              </a:ext>
            </a:extLst>
          </p:cNvPr>
          <p:cNvPicPr>
            <a:picLocks xmlns:a="http://schemas.openxmlformats.org/drawingml/2006/main" noChangeAspect="1"/>
          </p:cNvPicPr>
          <p:nvPr/>
        </p:nvPicPr>
        <p:blipFill>
          <a:blip xmlns:r="http://schemas.openxmlformats.org/officeDocument/2006/relationships" xmlns:a="http://schemas.openxmlformats.org/drawingml/2006/main" r:embed="Re642b384c0d24686"/>
          <a:stretch xmlns:a="http://schemas.openxmlformats.org/drawingml/2006/main"/>
        </p:blipFill>
        <p:spPr>
          <a:xfrm xmlns:a="http://schemas.openxmlformats.org/drawingml/2006/main">
            <a:off x="6810375" y="952500"/>
            <a:ext cx="4857750" cy="4857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464969-0621-4E35-9D1C-0840C90BBDEC}"/>
              </a:ext>
            </a:extLst>
          </p:cNvPr>
          <p:cNvSpPr>
            <a:spLocks xmlns:a="http://schemas.openxmlformats.org/drawingml/2006/main" noGrp="1"/>
          </p:cNvSpPr>
          <p:nvPr/>
        </p:nvSpPr>
        <p:spPr>
          <a:xfrm xmlns:a="http://schemas.openxmlformats.org/drawingml/2006/main">
            <a:off x="609600" y="138112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300" b="1">
                <a:solidFill>
                  <a:srgbClr val="087F77"/>
                </a:solidFill>
                <a:latin typeface="Arial"/>
                <a:ea typeface="Arial"/>
                <a:cs typeface="Arial"/>
              </a:defRPr>
            </a:defPPr>
          </a:lstStyle>
          <a:p xmlns:a="http://schemas.openxmlformats.org/drawingml/2006/main">
            <a:pPr>
              <a:defRPr sz="6300" b="1">
                <a:solidFill>
                  <a:srgbClr val="087F77"/>
                </a:solidFill>
                <a:latin typeface="Arial"/>
                <a:ea typeface="Arial"/>
                <a:cs typeface="Arial"/>
              </a:defRPr>
            </a:pPr>
            <a:r>
              <a:rPr sz="6300" b="1">
                <a:solidFill>
                  <a:srgbClr val="087F77"/>
                </a:solidFill>
                <a:latin typeface="Arial"/>
                <a:ea typeface="Arial"/>
                <a:cs typeface="Arial"/>
              </a:rPr>
              <a:t>Tynys</a:t>
            </a:r>
          </a:p>
        </p:txBody>
      </p:sp>
      <p:sp>
        <p:nvSpPr>
          <p:cNvPr id="4" name="">
            <a:extLst xmlns:a="http://schemas.openxmlformats.org/drawingml/2006/main">
              <a:ext uri="{FF2B5EF4-FFF2-40B4-BE49-F238E27FC236}">
                <a16:creationId xmlns:a16="http://schemas.microsoft.com/office/drawing/2014/main" id="{52A9DCA0-5F90-4A33-A898-A1D1FA61DEF9}"/>
              </a:ext>
            </a:extLst>
          </p:cNvPr>
          <p:cNvSpPr>
            <a:spLocks xmlns:a="http://schemas.openxmlformats.org/drawingml/2006/main" noGrp="1"/>
          </p:cNvSpPr>
          <p:nvPr/>
        </p:nvSpPr>
        <p:spPr>
          <a:xfrm xmlns:a="http://schemas.openxmlformats.org/drawingml/2006/main">
            <a:off x="647700" y="2657475"/>
            <a:ext cx="61912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93E3A"/>
                </a:solidFill>
                <a:latin typeface="Arial"/>
                <a:ea typeface="Arial"/>
                <a:cs typeface="Arial"/>
              </a:defRPr>
            </a:defPPr>
          </a:lstStyle>
          <a:p xmlns:a="http://schemas.openxmlformats.org/drawingml/2006/main">
            <a:pPr>
              <a:defRPr sz="3300" b="1">
                <a:solidFill>
                  <a:srgbClr val="193E3A"/>
                </a:solidFill>
                <a:latin typeface="Arial"/>
                <a:ea typeface="Arial"/>
                <a:cs typeface="Arial"/>
              </a:defRPr>
            </a:pPr>
            <a:r>
              <a:rPr sz="3300" b="1">
                <a:solidFill>
                  <a:srgbClr val="193E3A"/>
                </a:solidFill>
                <a:latin typeface="Arial"/>
                <a:ea typeface="Arial"/>
                <a:cs typeface="Arial"/>
              </a:rPr>
              <a:t>Өкпе рентгенін</a:t>
            </a:r>
          </a:p>
          <a:p xmlns:a="http://schemas.openxmlformats.org/drawingml/2006/main">
            <a:pPr>
              <a:defRPr sz="3300" b="1">
                <a:solidFill>
                  <a:srgbClr val="193E3A"/>
                </a:solidFill>
                <a:latin typeface="Arial"/>
                <a:ea typeface="Arial"/>
                <a:cs typeface="Arial"/>
              </a:defRPr>
            </a:pPr>
            <a:r>
              <a:rPr sz="3300" b="1">
                <a:solidFill>
                  <a:srgbClr val="193E3A"/>
                </a:solidFill>
                <a:latin typeface="Arial"/>
                <a:ea typeface="Arial"/>
                <a:cs typeface="Arial"/>
              </a:rPr>
              <a:t>машиналық оқытумен</a:t>
            </a:r>
          </a:p>
          <a:p xmlns:a="http://schemas.openxmlformats.org/drawingml/2006/main">
            <a:pPr>
              <a:defRPr sz="3300" b="1">
                <a:solidFill>
                  <a:srgbClr val="193E3A"/>
                </a:solidFill>
                <a:latin typeface="Arial"/>
                <a:ea typeface="Arial"/>
                <a:cs typeface="Arial"/>
              </a:defRPr>
            </a:pPr>
            <a:r>
              <a:rPr sz="3300" b="1">
                <a:solidFill>
                  <a:srgbClr val="193E3A"/>
                </a:solidFill>
                <a:latin typeface="Arial"/>
                <a:ea typeface="Arial"/>
                <a:cs typeface="Arial"/>
              </a:rPr>
              <a:t>жіктеу</a:t>
            </a:r>
          </a:p>
        </p:txBody>
      </p:sp>
      <p:sp>
        <p:nvSpPr>
          <p:cNvPr id="5" name="">
            <a:extLst xmlns:a="http://schemas.openxmlformats.org/drawingml/2006/main">
              <a:ext uri="{FF2B5EF4-FFF2-40B4-BE49-F238E27FC236}">
                <a16:creationId xmlns:a16="http://schemas.microsoft.com/office/drawing/2014/main" id="{0FF5B0F7-513C-41DA-B23C-02D7FB6F9E70}"/>
              </a:ext>
            </a:extLst>
          </p:cNvPr>
          <p:cNvSpPr>
            <a:spLocks xmlns:a="http://schemas.openxmlformats.org/drawingml/2006/main" noGrp="1"/>
          </p:cNvSpPr>
          <p:nvPr/>
        </p:nvSpPr>
        <p:spPr>
          <a:xfrm xmlns:a="http://schemas.openxmlformats.org/drawingml/2006/main">
            <a:off x="666750" y="5286375"/>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17C77"/>
                </a:solidFill>
                <a:latin typeface="Arial"/>
                <a:ea typeface="Arial"/>
                <a:cs typeface="Arial"/>
              </a:defRPr>
            </a:defPPr>
          </a:lstStyle>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TensorFlow / Keras</a:t>
            </a:r>
          </a:p>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CNN және MobileNetV2</a:t>
            </a:r>
          </a:p>
        </p:txBody>
      </p:sp>
    </p:spTree>
    <p:extLst>
      <p:ext uri="{BB962C8B-B14F-4D97-AF65-F5344CB8AC3E}">
        <p14:creationId xmlns:p14="http://schemas.microsoft.com/office/powerpoint/2010/main" val="619667245"/>
      </p:ext>
    </p:extLst>
  </p:cSld>
</p:sld>
</file>

<file path=ppt/slides/slide2.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8F543F-9128-411A-BB25-1238B7C307D4}"/>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93E3A"/>
                </a:solidFill>
                <a:latin typeface="Arial"/>
                <a:ea typeface="Arial"/>
                <a:cs typeface="Arial"/>
              </a:defRPr>
            </a:defPPr>
          </a:lstStyle>
          <a:p xmlns:a="http://schemas.openxmlformats.org/drawingml/2006/main">
            <a:pPr>
              <a:defRPr sz="3225" b="1">
                <a:solidFill>
                  <a:srgbClr val="193E3A"/>
                </a:solidFill>
                <a:latin typeface="Arial"/>
                <a:ea typeface="Arial"/>
                <a:cs typeface="Arial"/>
              </a:defRPr>
            </a:pPr>
            <a:r>
              <a:rPr sz="3225" b="1">
                <a:solidFill>
                  <a:srgbClr val="193E3A"/>
                </a:solidFill>
                <a:latin typeface="Arial"/>
                <a:ea typeface="Arial"/>
                <a:cs typeface="Arial"/>
              </a:rPr>
              <a:t>Мәселе және жоба мақсаты</a:t>
            </a:r>
          </a:p>
        </p:txBody>
      </p:sp>
      <p:sp>
        <p:nvSpPr>
          <p:cNvPr id="2" name="">
            <a:extLst xmlns:a="http://schemas.openxmlformats.org/drawingml/2006/main">
              <a:ext uri="{FF2B5EF4-FFF2-40B4-BE49-F238E27FC236}">
                <a16:creationId xmlns:a16="http://schemas.microsoft.com/office/drawing/2014/main" id="{4B978937-DA6D-4A90-9256-D497EEF12401}"/>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ACF9A27-7044-41D4-AE24-DBF2FD7DF113}"/>
              </a:ext>
            </a:extLst>
          </p:cNvPr>
          <p:cNvSpPr>
            <a:spLocks xmlns:a="http://schemas.openxmlformats.org/drawingml/2006/main" noGrp="1"/>
          </p:cNvSpPr>
          <p:nvPr/>
        </p:nvSpPr>
        <p:spPr>
          <a:xfrm xmlns:a="http://schemas.openxmlformats.org/drawingml/2006/main">
            <a:off x="609600" y="17907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75" b="1">
                <a:solidFill>
                  <a:srgbClr val="087F77"/>
                </a:solidFill>
                <a:latin typeface="Arial"/>
                <a:ea typeface="Arial"/>
                <a:cs typeface="Arial"/>
              </a:defRPr>
            </a:defPPr>
          </a:lstStyle>
          <a:p xmlns:a="http://schemas.openxmlformats.org/drawingml/2006/main">
            <a:pPr>
              <a:defRPr sz="3075" b="1">
                <a:solidFill>
                  <a:srgbClr val="087F77"/>
                </a:solidFill>
                <a:latin typeface="Arial"/>
                <a:ea typeface="Arial"/>
                <a:cs typeface="Arial"/>
              </a:defRPr>
            </a:pPr>
            <a:r>
              <a:rPr sz="3075" b="1">
                <a:solidFill>
                  <a:srgbClr val="087F77"/>
                </a:solidFill>
                <a:latin typeface="Arial"/>
                <a:ea typeface="Arial"/>
                <a:cs typeface="Arial"/>
              </a:rPr>
              <a:t>Бастапқы сұрыптауға қолдау</a:t>
            </a:r>
          </a:p>
        </p:txBody>
      </p:sp>
      <p:sp>
        <p:nvSpPr>
          <p:cNvPr id="4" name="">
            <a:extLst xmlns:a="http://schemas.openxmlformats.org/drawingml/2006/main">
              <a:ext uri="{FF2B5EF4-FFF2-40B4-BE49-F238E27FC236}">
                <a16:creationId xmlns:a16="http://schemas.microsoft.com/office/drawing/2014/main" id="{3877B61E-4BF7-495C-A58F-0CE0B9ABD26F}"/>
              </a:ext>
            </a:extLst>
          </p:cNvPr>
          <p:cNvSpPr>
            <a:spLocks xmlns:a="http://schemas.openxmlformats.org/drawingml/2006/main" noGrp="1"/>
          </p:cNvSpPr>
          <p:nvPr/>
        </p:nvSpPr>
        <p:spPr>
          <a:xfrm xmlns:a="http://schemas.openxmlformats.org/drawingml/2006/main">
            <a:off x="628650" y="262890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617C77"/>
                </a:solidFill>
                <a:latin typeface="Arial"/>
                <a:ea typeface="Arial"/>
                <a:cs typeface="Arial"/>
              </a:defRPr>
            </a:defPPr>
          </a:lstStyle>
          <a:p xmlns:a="http://schemas.openxmlformats.org/drawingml/2006/main">
            <a:pPr>
              <a:defRPr sz="2325" b="0">
                <a:solidFill>
                  <a:srgbClr val="617C77"/>
                </a:solidFill>
                <a:latin typeface="Arial"/>
                <a:ea typeface="Arial"/>
                <a:cs typeface="Arial"/>
              </a:defRPr>
            </a:pPr>
            <a:r>
              <a:rPr sz="2325" b="0">
                <a:solidFill>
                  <a:srgbClr val="617C77"/>
                </a:solidFill>
                <a:latin typeface="Arial"/>
                <a:ea typeface="Arial"/>
                <a:cs typeface="Arial"/>
              </a:rPr>
              <a:t>Мамандар жетіспейтін аймақтарда рентгенді</a:t>
            </a:r>
          </a:p>
          <a:p xmlns:a="http://schemas.openxmlformats.org/drawingml/2006/main">
            <a:pPr>
              <a:defRPr sz="2325" b="0">
                <a:solidFill>
                  <a:srgbClr val="617C77"/>
                </a:solidFill>
                <a:latin typeface="Arial"/>
                <a:ea typeface="Arial"/>
                <a:cs typeface="Arial"/>
              </a:defRPr>
            </a:pPr>
            <a:r>
              <a:rPr sz="2325" b="0">
                <a:solidFill>
                  <a:srgbClr val="617C77"/>
                </a:solidFill>
                <a:latin typeface="Arial"/>
                <a:ea typeface="Arial"/>
                <a:cs typeface="Arial"/>
              </a:rPr>
              <a:t>алғашқы бағалау қажеттілігі</a:t>
            </a:r>
          </a:p>
        </p:txBody>
      </p:sp>
      <p:sp>
        <p:nvSpPr>
          <p:cNvPr id="5" name="">
            <a:extLst xmlns:a="http://schemas.openxmlformats.org/drawingml/2006/main">
              <a:ext uri="{FF2B5EF4-FFF2-40B4-BE49-F238E27FC236}">
                <a16:creationId xmlns:a16="http://schemas.microsoft.com/office/drawing/2014/main" id="{B1339BA5-C543-4E6D-9335-0F5F57F0980C}"/>
              </a:ext>
            </a:extLst>
          </p:cNvPr>
          <p:cNvSpPr>
            <a:spLocks xmlns:a="http://schemas.openxmlformats.org/drawingml/2006/main" noGrp="1"/>
          </p:cNvSpPr>
          <p:nvPr/>
        </p:nvSpPr>
        <p:spPr>
          <a:xfrm xmlns:a="http://schemas.openxmlformats.org/drawingml/2006/main">
            <a:off x="609600" y="40862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93E3A"/>
                </a:solidFill>
                <a:latin typeface="Arial"/>
                <a:ea typeface="Arial"/>
                <a:cs typeface="Arial"/>
              </a:defRPr>
            </a:defPPr>
          </a:lstStyle>
          <a:p xmlns:a="http://schemas.openxmlformats.org/drawingml/2006/main">
            <a:pPr>
              <a:defRPr sz="2250" b="1">
                <a:solidFill>
                  <a:srgbClr val="193E3A"/>
                </a:solidFill>
                <a:latin typeface="Arial"/>
                <a:ea typeface="Arial"/>
                <a:cs typeface="Arial"/>
              </a:defRPr>
            </a:pPr>
            <a:r>
              <a:rPr sz="2250" b="1">
                <a:solidFill>
                  <a:srgbClr val="193E3A"/>
                </a:solidFill>
                <a:latin typeface="Arial"/>
                <a:ea typeface="Arial"/>
                <a:cs typeface="Arial"/>
              </a:rPr>
              <a:t>Мақсат</a:t>
            </a:r>
          </a:p>
        </p:txBody>
      </p:sp>
      <p:sp>
        <p:nvSpPr>
          <p:cNvPr id="6" name="">
            <a:extLst xmlns:a="http://schemas.openxmlformats.org/drawingml/2006/main">
              <a:ext uri="{FF2B5EF4-FFF2-40B4-BE49-F238E27FC236}">
                <a16:creationId xmlns:a16="http://schemas.microsoft.com/office/drawing/2014/main" id="{FF1AEDF7-5E35-4AD7-96FC-F0C24112D0D3}"/>
              </a:ext>
            </a:extLst>
          </p:cNvPr>
          <p:cNvSpPr>
            <a:spLocks xmlns:a="http://schemas.openxmlformats.org/drawingml/2006/main" noGrp="1"/>
          </p:cNvSpPr>
          <p:nvPr/>
        </p:nvSpPr>
        <p:spPr>
          <a:xfrm xmlns:a="http://schemas.openxmlformats.org/drawingml/2006/main">
            <a:off x="619125" y="4733925"/>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93E3A"/>
                </a:solidFill>
                <a:latin typeface="Arial"/>
                <a:ea typeface="Arial"/>
                <a:cs typeface="Arial"/>
              </a:defRPr>
            </a:defPPr>
          </a:lstStyle>
          <a:p xmlns:a="http://schemas.openxmlformats.org/drawingml/2006/main">
            <a:pPr>
              <a:defRPr sz="2325" b="0">
                <a:solidFill>
                  <a:srgbClr val="193E3A"/>
                </a:solidFill>
                <a:latin typeface="Arial"/>
                <a:ea typeface="Arial"/>
                <a:cs typeface="Arial"/>
              </a:defRPr>
            </a:pPr>
            <a:r>
              <a:rPr sz="2325" b="0">
                <a:solidFill>
                  <a:srgbClr val="193E3A"/>
                </a:solidFill>
                <a:latin typeface="Arial"/>
                <a:ea typeface="Arial"/>
                <a:cs typeface="Arial"/>
              </a:rPr>
              <a:t>NORMAL / PNEUMONIA</a:t>
            </a:r>
          </a:p>
          <a:p xmlns:a="http://schemas.openxmlformats.org/drawingml/2006/main">
            <a:pPr>
              <a:defRPr sz="2325" b="0">
                <a:solidFill>
                  <a:srgbClr val="193E3A"/>
                </a:solidFill>
                <a:latin typeface="Arial"/>
                <a:ea typeface="Arial"/>
                <a:cs typeface="Arial"/>
              </a:defRPr>
            </a:pPr>
            <a:r>
              <a:rPr sz="2325" b="0">
                <a:solidFill>
                  <a:srgbClr val="193E3A"/>
                </a:solidFill>
                <a:latin typeface="Arial"/>
                <a:ea typeface="Arial"/>
                <a:cs typeface="Arial"/>
              </a:rPr>
              <a:t>жіктеу моделін сайтқа қосу</a:t>
            </a:r>
          </a:p>
        </p:txBody>
      </p:sp>
      <p:sp>
        <p:nvSpPr>
          <p:cNvPr id="7" name="">
            <a:extLst xmlns:a="http://schemas.openxmlformats.org/drawingml/2006/main">
              <a:ext uri="{FF2B5EF4-FFF2-40B4-BE49-F238E27FC236}">
                <a16:creationId xmlns:a16="http://schemas.microsoft.com/office/drawing/2014/main" id="{14B2CDEF-BBBC-4FF6-98BB-DB108DA07C02}"/>
              </a:ext>
            </a:extLst>
          </p:cNvPr>
          <p:cNvSpPr>
            <a:spLocks xmlns:a="http://schemas.openxmlformats.org/drawingml/2006/main" noGrp="1"/>
          </p:cNvSpPr>
          <p:nvPr/>
        </p:nvSpPr>
        <p:spPr>
          <a:xfrm xmlns:a="http://schemas.openxmlformats.org/drawingml/2006/main">
            <a:off x="6772275" y="40862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87F77"/>
                </a:solidFill>
                <a:latin typeface="Arial"/>
                <a:ea typeface="Arial"/>
                <a:cs typeface="Arial"/>
              </a:defRPr>
            </a:defPPr>
          </a:lstStyle>
          <a:p xmlns:a="http://schemas.openxmlformats.org/drawingml/2006/main">
            <a:pPr>
              <a:defRPr sz="2250" b="1">
                <a:solidFill>
                  <a:srgbClr val="087F77"/>
                </a:solidFill>
                <a:latin typeface="Arial"/>
                <a:ea typeface="Arial"/>
                <a:cs typeface="Arial"/>
              </a:defRPr>
            </a:pPr>
            <a:r>
              <a:rPr sz="2250" b="1">
                <a:solidFill>
                  <a:srgbClr val="087F77"/>
                </a:solidFill>
                <a:latin typeface="Arial"/>
                <a:ea typeface="Arial"/>
                <a:cs typeface="Arial"/>
              </a:rPr>
              <a:t>Көзделген пайда</a:t>
            </a:r>
          </a:p>
        </p:txBody>
      </p:sp>
      <p:sp>
        <p:nvSpPr>
          <p:cNvPr id="8" name="">
            <a:extLst xmlns:a="http://schemas.openxmlformats.org/drawingml/2006/main">
              <a:ext uri="{FF2B5EF4-FFF2-40B4-BE49-F238E27FC236}">
                <a16:creationId xmlns:a16="http://schemas.microsoft.com/office/drawing/2014/main" id="{1C6182A4-93FA-409F-B5D0-C05846E0D53C}"/>
              </a:ext>
            </a:extLst>
          </p:cNvPr>
          <p:cNvSpPr>
            <a:spLocks xmlns:a="http://schemas.openxmlformats.org/drawingml/2006/main" noGrp="1"/>
          </p:cNvSpPr>
          <p:nvPr/>
        </p:nvSpPr>
        <p:spPr>
          <a:xfrm xmlns:a="http://schemas.openxmlformats.org/drawingml/2006/main">
            <a:off x="6781800" y="473392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93E3A"/>
                </a:solidFill>
                <a:latin typeface="Arial"/>
                <a:ea typeface="Arial"/>
                <a:cs typeface="Arial"/>
              </a:defRPr>
            </a:defPPr>
          </a:lstStyle>
          <a:p xmlns:a="http://schemas.openxmlformats.org/drawingml/2006/main">
            <a:pPr>
              <a:defRPr sz="2325" b="0">
                <a:solidFill>
                  <a:srgbClr val="193E3A"/>
                </a:solidFill>
                <a:latin typeface="Arial"/>
                <a:ea typeface="Arial"/>
                <a:cs typeface="Arial"/>
              </a:defRPr>
            </a:pPr>
            <a:r>
              <a:rPr sz="2325" b="0">
                <a:solidFill>
                  <a:srgbClr val="193E3A"/>
                </a:solidFill>
                <a:latin typeface="Arial"/>
                <a:ea typeface="Arial"/>
                <a:cs typeface="Arial"/>
              </a:rPr>
              <a:t>Суреттерді сұрыптау</a:t>
            </a:r>
          </a:p>
          <a:p xmlns:a="http://schemas.openxmlformats.org/drawingml/2006/main">
            <a:pPr>
              <a:defRPr sz="2325" b="0">
                <a:solidFill>
                  <a:srgbClr val="193E3A"/>
                </a:solidFill>
                <a:latin typeface="Arial"/>
                <a:ea typeface="Arial"/>
                <a:cs typeface="Arial"/>
              </a:defRPr>
            </a:pPr>
            <a:r>
              <a:rPr sz="2325" b="0">
                <a:solidFill>
                  <a:srgbClr val="193E3A"/>
                </a:solidFill>
                <a:latin typeface="Arial"/>
                <a:ea typeface="Arial"/>
                <a:cs typeface="Arial"/>
              </a:rPr>
              <a:t>Нәтижені түсінікті көрсету</a:t>
            </a:r>
          </a:p>
        </p:txBody>
      </p:sp>
    </p:spTree>
    <p:extLst>
      <p:ext uri="{BB962C8B-B14F-4D97-AF65-F5344CB8AC3E}">
        <p14:creationId xmlns:p14="http://schemas.microsoft.com/office/powerpoint/2010/main" val="304876481"/>
      </p:ext>
    </p:extLst>
  </p:cSld>
</p:sld>
</file>

<file path=ppt/slides/slide3.xml><?xml version="1.0" encoding="utf-8"?>
<p:sld xmlns:p="http://schemas.openxmlformats.org/presentationml/2006/main">
  <p:cSld>
    <p:bg>
      <p:bgPr>
        <a:solidFill xmlns:a="http://schemas.openxmlformats.org/drawingml/2006/main">
          <a:srgbClr val="193E3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1DAE24-4900-4BF8-B093-BC28473887CC}"/>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Датасет және эксперименттің бөлінуі</a:t>
            </a:r>
          </a:p>
        </p:txBody>
      </p:sp>
      <p:sp>
        <p:nvSpPr>
          <p:cNvPr id="2" name="">
            <a:extLst xmlns:a="http://schemas.openxmlformats.org/drawingml/2006/main">
              <a:ext uri="{FF2B5EF4-FFF2-40B4-BE49-F238E27FC236}">
                <a16:creationId xmlns:a16="http://schemas.microsoft.com/office/drawing/2014/main" id="{CD64E8C3-C208-4B18-B54B-8A66D26ABA2C}"/>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B8E5D8"/>
                </a:solidFill>
                <a:latin typeface="Arial"/>
                <a:ea typeface="Arial"/>
                <a:cs typeface="Arial"/>
              </a:defRPr>
            </a:defPPr>
          </a:lstStyle>
          <a:p xmlns:a="http://schemas.openxmlformats.org/drawingml/2006/main">
            <a:pPr>
              <a:defRPr sz="1275" b="0">
                <a:solidFill>
                  <a:srgbClr val="B8E5D8"/>
                </a:solidFill>
                <a:latin typeface="Arial"/>
                <a:ea typeface="Arial"/>
                <a:cs typeface="Arial"/>
              </a:defRPr>
            </a:pPr>
            <a:r>
              <a:rPr sz="1275" b="0">
                <a:solidFill>
                  <a:srgbClr val="B8E5D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E29517F-C6F0-4DEB-98D2-749CD43887BF}"/>
              </a:ext>
            </a:extLst>
          </p:cNvPr>
          <p:cNvSpPr>
            <a:spLocks xmlns:a="http://schemas.openxmlformats.org/drawingml/2006/main" noGrp="1"/>
          </p:cNvSpPr>
          <p:nvPr/>
        </p:nvSpPr>
        <p:spPr>
          <a:xfrm xmlns:a="http://schemas.openxmlformats.org/drawingml/2006/main">
            <a:off x="609600" y="1771650"/>
            <a:ext cx="4953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525" b="1">
                <a:solidFill>
                  <a:srgbClr val="B8E5D8"/>
                </a:solidFill>
                <a:latin typeface="Arial"/>
                <a:ea typeface="Arial"/>
                <a:cs typeface="Arial"/>
              </a:defRPr>
            </a:defPPr>
          </a:lstStyle>
          <a:p xmlns:a="http://schemas.openxmlformats.org/drawingml/2006/main">
            <a:pPr>
              <a:defRPr sz="6525" b="1">
                <a:solidFill>
                  <a:srgbClr val="B8E5D8"/>
                </a:solidFill>
                <a:latin typeface="Arial"/>
                <a:ea typeface="Arial"/>
                <a:cs typeface="Arial"/>
              </a:defRPr>
            </a:pPr>
            <a:r>
              <a:rPr sz="6525" b="1">
                <a:solidFill>
                  <a:srgbClr val="B8E5D8"/>
                </a:solidFill>
                <a:latin typeface="Arial"/>
                <a:ea typeface="Arial"/>
                <a:cs typeface="Arial"/>
              </a:rPr>
              <a:t>5856</a:t>
            </a:r>
          </a:p>
        </p:txBody>
      </p:sp>
      <p:sp>
        <p:nvSpPr>
          <p:cNvPr id="4" name="">
            <a:extLst xmlns:a="http://schemas.openxmlformats.org/drawingml/2006/main">
              <a:ext uri="{FF2B5EF4-FFF2-40B4-BE49-F238E27FC236}">
                <a16:creationId xmlns:a16="http://schemas.microsoft.com/office/drawing/2014/main" id="{C364C4EA-E43C-4F13-9F71-72DEC5021036}"/>
              </a:ext>
            </a:extLst>
          </p:cNvPr>
          <p:cNvSpPr>
            <a:spLocks xmlns:a="http://schemas.openxmlformats.org/drawingml/2006/main" noGrp="1"/>
          </p:cNvSpPr>
          <p:nvPr/>
        </p:nvSpPr>
        <p:spPr>
          <a:xfrm xmlns:a="http://schemas.openxmlformats.org/drawingml/2006/main">
            <a:off x="647700" y="2886075"/>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Arial"/>
                <a:ea typeface="Arial"/>
                <a:cs typeface="Arial"/>
              </a:defRPr>
            </a:def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оқылған жарамды сурет</a:t>
            </a:r>
          </a:p>
        </p:txBody>
      </p:sp>
      <p:sp>
        <p:nvSpPr>
          <p:cNvPr id="5" name="">
            <a:extLst xmlns:a="http://schemas.openxmlformats.org/drawingml/2006/main">
              <a:ext uri="{FF2B5EF4-FFF2-40B4-BE49-F238E27FC236}">
                <a16:creationId xmlns:a16="http://schemas.microsoft.com/office/drawing/2014/main" id="{60CFC47C-EC9C-446F-ABD6-02EB72F06E00}"/>
              </a:ext>
            </a:extLst>
          </p:cNvPr>
          <p:cNvSpPr>
            <a:spLocks xmlns:a="http://schemas.openxmlformats.org/drawingml/2006/main" noGrp="1"/>
          </p:cNvSpPr>
          <p:nvPr/>
        </p:nvSpPr>
        <p:spPr>
          <a:xfrm xmlns:a="http://schemas.openxmlformats.org/drawingml/2006/main">
            <a:off x="7429500" y="1838325"/>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FFFFFF"/>
                </a:solidFill>
                <a:latin typeface="Arial"/>
                <a:ea typeface="Arial"/>
                <a:cs typeface="Arial"/>
              </a:defRPr>
            </a:def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5371</a:t>
            </a:r>
          </a:p>
        </p:txBody>
      </p:sp>
      <p:sp>
        <p:nvSpPr>
          <p:cNvPr id="6" name="">
            <a:extLst xmlns:a="http://schemas.openxmlformats.org/drawingml/2006/main">
              <a:ext uri="{FF2B5EF4-FFF2-40B4-BE49-F238E27FC236}">
                <a16:creationId xmlns:a16="http://schemas.microsoft.com/office/drawing/2014/main" id="{F7D5F830-8E64-4F9C-9ED1-F3772A3C54C8}"/>
              </a:ext>
            </a:extLst>
          </p:cNvPr>
          <p:cNvSpPr>
            <a:spLocks xmlns:a="http://schemas.openxmlformats.org/drawingml/2006/main" noGrp="1"/>
          </p:cNvSpPr>
          <p:nvPr/>
        </p:nvSpPr>
        <p:spPr>
          <a:xfrm xmlns:a="http://schemas.openxmlformats.org/drawingml/2006/main">
            <a:off x="7486650" y="2933700"/>
            <a:ext cx="3857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8E5D8"/>
                </a:solidFill>
                <a:latin typeface="Arial"/>
                <a:ea typeface="Arial"/>
                <a:cs typeface="Arial"/>
              </a:defRPr>
            </a:defPPr>
          </a:lstStyle>
          <a:p xmlns:a="http://schemas.openxmlformats.org/drawingml/2006/main">
            <a:pPr>
              <a:defRPr sz="2100" b="0">
                <a:solidFill>
                  <a:srgbClr val="B8E5D8"/>
                </a:solidFill>
                <a:latin typeface="Arial"/>
                <a:ea typeface="Arial"/>
                <a:cs typeface="Arial"/>
              </a:defRPr>
            </a:pPr>
            <a:r>
              <a:rPr sz="2100" b="0">
                <a:solidFill>
                  <a:srgbClr val="B8E5D8"/>
                </a:solidFill>
                <a:latin typeface="Arial"/>
                <a:ea typeface="Arial"/>
                <a:cs typeface="Arial"/>
              </a:rPr>
              <a:t>тазалаудан кейін</a:t>
            </a:r>
          </a:p>
        </p:txBody>
      </p:sp>
      <p:sp>
        <p:nvSpPr>
          <p:cNvPr id="7" name="">
            <a:extLst xmlns:a="http://schemas.openxmlformats.org/drawingml/2006/main">
              <a:ext uri="{FF2B5EF4-FFF2-40B4-BE49-F238E27FC236}">
                <a16:creationId xmlns:a16="http://schemas.microsoft.com/office/drawing/2014/main" id="{7909F000-F70C-4FE6-A8D3-01505272328D}"/>
              </a:ext>
            </a:extLst>
          </p:cNvPr>
          <p:cNvSpPr>
            <a:spLocks xmlns:a="http://schemas.openxmlformats.org/drawingml/2006/main" noGrp="1"/>
          </p:cNvSpPr>
          <p:nvPr/>
        </p:nvSpPr>
        <p:spPr>
          <a:xfrm xmlns:a="http://schemas.openxmlformats.org/drawingml/2006/main">
            <a:off x="609600" y="41243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425" b="1">
                <a:solidFill>
                  <a:srgbClr val="FFFFFF"/>
                </a:solidFill>
                <a:latin typeface="Arial"/>
                <a:ea typeface="Arial"/>
                <a:cs typeface="Arial"/>
              </a:defRPr>
            </a:defPPr>
          </a:lstStyle>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3801</a:t>
            </a:r>
          </a:p>
        </p:txBody>
      </p:sp>
      <p:sp>
        <p:nvSpPr>
          <p:cNvPr id="8" name="">
            <a:extLst xmlns:a="http://schemas.openxmlformats.org/drawingml/2006/main">
              <a:ext uri="{FF2B5EF4-FFF2-40B4-BE49-F238E27FC236}">
                <a16:creationId xmlns:a16="http://schemas.microsoft.com/office/drawing/2014/main" id="{AB212961-85A5-4BEC-B45D-EDD9E84879E7}"/>
              </a:ext>
            </a:extLst>
          </p:cNvPr>
          <p:cNvSpPr>
            <a:spLocks xmlns:a="http://schemas.openxmlformats.org/drawingml/2006/main" noGrp="1"/>
          </p:cNvSpPr>
          <p:nvPr/>
        </p:nvSpPr>
        <p:spPr>
          <a:xfrm xmlns:a="http://schemas.openxmlformats.org/drawingml/2006/main">
            <a:off x="647700" y="50292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B8E5D8"/>
                </a:solidFill>
                <a:latin typeface="Arial"/>
                <a:ea typeface="Arial"/>
                <a:cs typeface="Arial"/>
              </a:defRPr>
            </a:defPPr>
          </a:lstStyle>
          <a:p xmlns:a="http://schemas.openxmlformats.org/drawingml/2006/main">
            <a:pPr>
              <a:defRPr sz="2175" b="0">
                <a:solidFill>
                  <a:srgbClr val="B8E5D8"/>
                </a:solidFill>
                <a:latin typeface="Arial"/>
                <a:ea typeface="Arial"/>
                <a:cs typeface="Arial"/>
              </a:defRPr>
            </a:pPr>
            <a:r>
              <a:rPr sz="2175" b="0">
                <a:solidFill>
                  <a:srgbClr val="B8E5D8"/>
                </a:solidFill>
                <a:latin typeface="Arial"/>
                <a:ea typeface="Arial"/>
                <a:cs typeface="Arial"/>
              </a:rPr>
              <a:t>Train</a:t>
            </a:r>
          </a:p>
        </p:txBody>
      </p:sp>
      <p:sp>
        <p:nvSpPr>
          <p:cNvPr id="9" name="">
            <a:extLst xmlns:a="http://schemas.openxmlformats.org/drawingml/2006/main">
              <a:ext uri="{FF2B5EF4-FFF2-40B4-BE49-F238E27FC236}">
                <a16:creationId xmlns:a16="http://schemas.microsoft.com/office/drawing/2014/main" id="{7163266F-B431-4461-BCA9-452BA50A2FDE}"/>
              </a:ext>
            </a:extLst>
          </p:cNvPr>
          <p:cNvSpPr>
            <a:spLocks xmlns:a="http://schemas.openxmlformats.org/drawingml/2006/main" noGrp="1"/>
          </p:cNvSpPr>
          <p:nvPr/>
        </p:nvSpPr>
        <p:spPr>
          <a:xfrm xmlns:a="http://schemas.openxmlformats.org/drawingml/2006/main">
            <a:off x="4914900" y="4124325"/>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425" b="1">
                <a:solidFill>
                  <a:srgbClr val="FFFFFF"/>
                </a:solidFill>
                <a:latin typeface="Arial"/>
                <a:ea typeface="Arial"/>
                <a:cs typeface="Arial"/>
              </a:defRPr>
            </a:defPPr>
          </a:lstStyle>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952</a:t>
            </a:r>
          </a:p>
        </p:txBody>
      </p:sp>
      <p:sp>
        <p:nvSpPr>
          <p:cNvPr id="10" name="">
            <a:extLst xmlns:a="http://schemas.openxmlformats.org/drawingml/2006/main">
              <a:ext uri="{FF2B5EF4-FFF2-40B4-BE49-F238E27FC236}">
                <a16:creationId xmlns:a16="http://schemas.microsoft.com/office/drawing/2014/main" id="{2CD827C8-C448-4BA1-87A9-C87BBEBB6F79}"/>
              </a:ext>
            </a:extLst>
          </p:cNvPr>
          <p:cNvSpPr>
            <a:spLocks xmlns:a="http://schemas.openxmlformats.org/drawingml/2006/main" noGrp="1"/>
          </p:cNvSpPr>
          <p:nvPr/>
        </p:nvSpPr>
        <p:spPr>
          <a:xfrm xmlns:a="http://schemas.openxmlformats.org/drawingml/2006/main">
            <a:off x="4943475" y="50292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B8E5D8"/>
                </a:solidFill>
                <a:latin typeface="Arial"/>
                <a:ea typeface="Arial"/>
                <a:cs typeface="Arial"/>
              </a:defRPr>
            </a:defPPr>
          </a:lstStyle>
          <a:p xmlns:a="http://schemas.openxmlformats.org/drawingml/2006/main">
            <a:pPr>
              <a:defRPr sz="2175" b="0">
                <a:solidFill>
                  <a:srgbClr val="B8E5D8"/>
                </a:solidFill>
                <a:latin typeface="Arial"/>
                <a:ea typeface="Arial"/>
                <a:cs typeface="Arial"/>
              </a:defRPr>
            </a:pPr>
            <a:r>
              <a:rPr sz="2175" b="0">
                <a:solidFill>
                  <a:srgbClr val="B8E5D8"/>
                </a:solidFill>
                <a:latin typeface="Arial"/>
                <a:ea typeface="Arial"/>
                <a:cs typeface="Arial"/>
              </a:rPr>
              <a:t>Validation</a:t>
            </a:r>
          </a:p>
        </p:txBody>
      </p:sp>
      <p:sp>
        <p:nvSpPr>
          <p:cNvPr id="11" name="">
            <a:extLst xmlns:a="http://schemas.openxmlformats.org/drawingml/2006/main">
              <a:ext uri="{FF2B5EF4-FFF2-40B4-BE49-F238E27FC236}">
                <a16:creationId xmlns:a16="http://schemas.microsoft.com/office/drawing/2014/main" id="{7B533209-80BB-4FA2-A3A0-827C42FE60AC}"/>
              </a:ext>
            </a:extLst>
          </p:cNvPr>
          <p:cNvSpPr>
            <a:spLocks xmlns:a="http://schemas.openxmlformats.org/drawingml/2006/main" noGrp="1"/>
          </p:cNvSpPr>
          <p:nvPr/>
        </p:nvSpPr>
        <p:spPr>
          <a:xfrm xmlns:a="http://schemas.openxmlformats.org/drawingml/2006/main">
            <a:off x="8905875" y="412432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425" b="1">
                <a:solidFill>
                  <a:srgbClr val="FFFFFF"/>
                </a:solidFill>
                <a:latin typeface="Arial"/>
                <a:ea typeface="Arial"/>
                <a:cs typeface="Arial"/>
              </a:defRPr>
            </a:defPPr>
          </a:lstStyle>
          <a:p xmlns:a="http://schemas.openxmlformats.org/drawingml/2006/main">
            <a:pPr>
              <a:defRPr sz="4425" b="1">
                <a:solidFill>
                  <a:srgbClr val="FFFFFF"/>
                </a:solidFill>
                <a:latin typeface="Arial"/>
                <a:ea typeface="Arial"/>
                <a:cs typeface="Arial"/>
              </a:defRPr>
            </a:pPr>
            <a:r>
              <a:rPr sz="4425" b="1">
                <a:solidFill>
                  <a:srgbClr val="FFFFFF"/>
                </a:solidFill>
                <a:latin typeface="Arial"/>
                <a:ea typeface="Arial"/>
                <a:cs typeface="Arial"/>
              </a:rPr>
              <a:t>618</a:t>
            </a:r>
          </a:p>
        </p:txBody>
      </p:sp>
      <p:sp>
        <p:nvSpPr>
          <p:cNvPr id="12" name="">
            <a:extLst xmlns:a="http://schemas.openxmlformats.org/drawingml/2006/main">
              <a:ext uri="{FF2B5EF4-FFF2-40B4-BE49-F238E27FC236}">
                <a16:creationId xmlns:a16="http://schemas.microsoft.com/office/drawing/2014/main" id="{017AC610-4000-4BFB-ADDD-48E9D388AF3C}"/>
              </a:ext>
            </a:extLst>
          </p:cNvPr>
          <p:cNvSpPr>
            <a:spLocks xmlns:a="http://schemas.openxmlformats.org/drawingml/2006/main" noGrp="1"/>
          </p:cNvSpPr>
          <p:nvPr/>
        </p:nvSpPr>
        <p:spPr>
          <a:xfrm xmlns:a="http://schemas.openxmlformats.org/drawingml/2006/main">
            <a:off x="8943975" y="50292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B8E5D8"/>
                </a:solidFill>
                <a:latin typeface="Arial"/>
                <a:ea typeface="Arial"/>
                <a:cs typeface="Arial"/>
              </a:defRPr>
            </a:defPPr>
          </a:lstStyle>
          <a:p xmlns:a="http://schemas.openxmlformats.org/drawingml/2006/main">
            <a:pPr>
              <a:defRPr sz="2175" b="0">
                <a:solidFill>
                  <a:srgbClr val="B8E5D8"/>
                </a:solidFill>
                <a:latin typeface="Arial"/>
                <a:ea typeface="Arial"/>
                <a:cs typeface="Arial"/>
              </a:defRPr>
            </a:pPr>
            <a:r>
              <a:rPr sz="2175" b="0">
                <a:solidFill>
                  <a:srgbClr val="B8E5D8"/>
                </a:solidFill>
                <a:latin typeface="Arial"/>
                <a:ea typeface="Arial"/>
                <a:cs typeface="Arial"/>
              </a:rPr>
              <a:t>Test</a:t>
            </a:r>
          </a:p>
        </p:txBody>
      </p:sp>
      <p:sp>
        <p:nvSpPr>
          <p:cNvPr id="13" name="">
            <a:extLst xmlns:a="http://schemas.openxmlformats.org/drawingml/2006/main">
              <a:ext uri="{FF2B5EF4-FFF2-40B4-BE49-F238E27FC236}">
                <a16:creationId xmlns:a16="http://schemas.microsoft.com/office/drawing/2014/main" id="{D1A17C4F-0FBD-46DC-A483-DF195FC86489}"/>
              </a:ext>
            </a:extLst>
          </p:cNvPr>
          <p:cNvSpPr>
            <a:spLocks xmlns:a="http://schemas.openxmlformats.org/drawingml/2006/main" noGrp="1"/>
          </p:cNvSpPr>
          <p:nvPr/>
        </p:nvSpPr>
        <p:spPr>
          <a:xfrm xmlns:a="http://schemas.openxmlformats.org/drawingml/2006/main">
            <a:off x="609600" y="5905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8E5D8"/>
                </a:solidFill>
                <a:latin typeface="Arial"/>
                <a:ea typeface="Arial"/>
                <a:cs typeface="Arial"/>
              </a:defRPr>
            </a:defPPr>
          </a:lstStyle>
          <a:p xmlns:a="http://schemas.openxmlformats.org/drawingml/2006/main">
            <a:pPr>
              <a:defRPr sz="1650" b="0">
                <a:solidFill>
                  <a:srgbClr val="B8E5D8"/>
                </a:solidFill>
                <a:latin typeface="Arial"/>
                <a:ea typeface="Arial"/>
                <a:cs typeface="Arial"/>
              </a:defRPr>
            </a:pPr>
            <a:r>
              <a:rPr sz="1650" b="0">
                <a:solidFill>
                  <a:srgbClr val="B8E5D8"/>
                </a:solidFill>
                <a:latin typeface="Arial"/>
                <a:ea typeface="Arial"/>
                <a:cs typeface="Arial"/>
              </a:rPr>
              <a:t>453 development суретін test қиылысуына байланысты шығардық</a:t>
            </a:r>
          </a:p>
        </p:txBody>
      </p:sp>
    </p:spTree>
    <p:extLst>
      <p:ext uri="{BB962C8B-B14F-4D97-AF65-F5344CB8AC3E}">
        <p14:creationId xmlns:p14="http://schemas.microsoft.com/office/powerpoint/2010/main" val="223799671"/>
      </p:ext>
    </p:extLst>
  </p:cSld>
</p:sld>
</file>

<file path=ppt/slides/slide4.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3872B9-6028-4EE6-8FD8-EEB1AC444329}"/>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93E3A"/>
                </a:solidFill>
                <a:latin typeface="Arial"/>
                <a:ea typeface="Arial"/>
                <a:cs typeface="Arial"/>
              </a:defRPr>
            </a:defPPr>
          </a:lstStyle>
          <a:p xmlns:a="http://schemas.openxmlformats.org/drawingml/2006/main">
            <a:pPr>
              <a:defRPr sz="3225" b="1">
                <a:solidFill>
                  <a:srgbClr val="193E3A"/>
                </a:solidFill>
                <a:latin typeface="Arial"/>
                <a:ea typeface="Arial"/>
                <a:cs typeface="Arial"/>
              </a:defRPr>
            </a:pPr>
            <a:r>
              <a:rPr sz="3225" b="1">
                <a:solidFill>
                  <a:srgbClr val="193E3A"/>
                </a:solidFill>
                <a:latin typeface="Arial"/>
                <a:ea typeface="Arial"/>
                <a:cs typeface="Arial"/>
              </a:rPr>
              <a:t>Модельден веб-сайтқа дейін</a:t>
            </a:r>
          </a:p>
        </p:txBody>
      </p:sp>
      <p:sp>
        <p:nvSpPr>
          <p:cNvPr id="2" name="">
            <a:extLst xmlns:a="http://schemas.openxmlformats.org/drawingml/2006/main">
              <a:ext uri="{FF2B5EF4-FFF2-40B4-BE49-F238E27FC236}">
                <a16:creationId xmlns:a16="http://schemas.microsoft.com/office/drawing/2014/main" id="{5EA2D68C-A286-4281-94E3-C4A92784B0EA}"/>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5F78CA89-9B2E-4C7C-BDDD-A019AAE69FD8}"/>
              </a:ext>
            </a:extLst>
          </p:cNvPr>
          <p:cNvGraphicFramePr/>
          <p:nvPr/>
        </p:nvGraphicFramePr>
        <p:xfrm>
          <a:off xmlns:a="http://schemas.openxmlformats.org/drawingml/2006/main" x="609600" y="1752600"/>
          <a:ext xmlns:a="http://schemas.openxmlformats.org/drawingml/2006/main" cx="10972800" cy="2571750"/>
        </p:xfrm>
        <a:graphic xmlns:a="http://schemas.openxmlformats.org/drawingml/2006/main">
          <a:graphicData uri="http://schemas.openxmlformats.org/drawingml/2006/table">
            <a:tbl>
              <a:tblPr/>
              <a:tblGrid>
                <a:gridCol w="2857500"/>
                <a:gridCol w="3667125"/>
                <a:gridCol w="4448175"/>
              </a:tblGrid>
              <a:tr h="642938">
                <a:tc>
                  <a:txBody>
                    <a:bodyPr/>
                    <a:lstStyle/>
                    <a:p>
                      <a:r>
                        <a:rPr sz="1875" b="1">
                          <a:solidFill>
                            <a:srgbClr val="FFFFFF"/>
                          </a:solidFill>
                          <a:latin typeface="Arial"/>
                          <a:ea typeface="Arial"/>
                          <a:cs typeface="Arial"/>
                        </a:rPr>
                        <a:t/>
                      </a:r>
                    </a:p>
                  </a:txBody>
                  <a:tcPr marL="91440" marR="91440" marT="45720" marB="45720">
                    <a:lnL w="9525">
                      <a:solidFill>
                        <a:srgbClr val="CBDDD6"/>
                      </a:solidFill>
                      <a:prstDash val="solid"/>
                    </a:lnL>
                    <a:lnR w="9525">
                      <a:solidFill>
                        <a:srgbClr val="CBDDD6"/>
                      </a:solidFill>
                      <a:prstDash val="solid"/>
                    </a:lnR>
                    <a:lnT w="9525">
                      <a:solidFill>
                        <a:srgbClr val="CBDDD6"/>
                      </a:solidFill>
                      <a:prstDash val="solid"/>
                    </a:lnT>
                    <a:lnB w="9525">
                      <a:solidFill>
                        <a:srgbClr val="CBDDD6"/>
                      </a:solidFill>
                      <a:prstDash val="solid"/>
                    </a:lnB>
                    <a:solidFill>
                      <a:srgbClr val="193E3A"/>
                    </a:solidFill>
                  </a:tcPr>
                </a:tc>
                <a:tc>
                  <a:txBody>
                    <a:bodyPr/>
                    <a:lstStyle/>
                    <a:p>
                      <a:r>
                        <a:rPr sz="1875" b="1">
                          <a:solidFill>
                            <a:srgbClr val="FFFFFF"/>
                          </a:solidFill>
                          <a:latin typeface="Arial"/>
                          <a:ea typeface="Arial"/>
                          <a:cs typeface="Arial"/>
                        </a:rPr>
                        <a:t>CNN</a:t>
                      </a:r>
                    </a:p>
                  </a:txBody>
                  <a:tcPr marL="91440" marR="91440" marT="45720" marB="45720">
                    <a:lnR w="9525">
                      <a:solidFill>
                        <a:srgbClr val="CBDDD6"/>
                      </a:solidFill>
                      <a:prstDash val="solid"/>
                    </a:lnR>
                    <a:lnT w="9525">
                      <a:solidFill>
                        <a:srgbClr val="CBDDD6"/>
                      </a:solidFill>
                      <a:prstDash val="solid"/>
                    </a:lnT>
                    <a:lnB w="9525">
                      <a:solidFill>
                        <a:srgbClr val="CBDDD6"/>
                      </a:solidFill>
                      <a:prstDash val="solid"/>
                    </a:lnB>
                    <a:solidFill>
                      <a:srgbClr val="193E3A"/>
                    </a:solidFill>
                  </a:tcPr>
                </a:tc>
                <a:tc>
                  <a:txBody>
                    <a:bodyPr/>
                    <a:lstStyle/>
                    <a:p>
                      <a:r>
                        <a:rPr sz="1875" b="1">
                          <a:solidFill>
                            <a:srgbClr val="FFFFFF"/>
                          </a:solidFill>
                          <a:latin typeface="Arial"/>
                          <a:ea typeface="Arial"/>
                          <a:cs typeface="Arial"/>
                        </a:rPr>
                        <a:t>MobileNetV2</a:t>
                      </a:r>
                    </a:p>
                  </a:txBody>
                  <a:tcPr marL="91440" marR="91440" marT="45720" marB="45720">
                    <a:lnR w="9525">
                      <a:solidFill>
                        <a:srgbClr val="CBDDD6"/>
                      </a:solidFill>
                      <a:prstDash val="solid"/>
                    </a:lnR>
                    <a:lnT w="9525">
                      <a:solidFill>
                        <a:srgbClr val="CBDDD6"/>
                      </a:solidFill>
                      <a:prstDash val="solid"/>
                    </a:lnT>
                    <a:lnB w="9525">
                      <a:solidFill>
                        <a:srgbClr val="CBDDD6"/>
                      </a:solidFill>
                      <a:prstDash val="solid"/>
                    </a:lnB>
                    <a:solidFill>
                      <a:srgbClr val="193E3A"/>
                    </a:solidFill>
                  </a:tcPr>
                </a:tc>
              </a:tr>
              <a:tr h="642938">
                <a:tc>
                  <a:txBody>
                    <a:bodyPr/>
                    <a:lstStyle/>
                    <a:p>
                      <a:r>
                        <a:rPr sz="1875" b="0">
                          <a:solidFill>
                            <a:srgbClr val="193E3A"/>
                          </a:solidFill>
                          <a:latin typeface="Arial"/>
                          <a:ea typeface="Arial"/>
                          <a:cs typeface="Arial"/>
                        </a:rPr>
                        <a:t>Бастапқы салмақ</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FFFFFF"/>
                    </a:solidFill>
                  </a:tcPr>
                </a:tc>
                <a:tc>
                  <a:txBody>
                    <a:bodyPr/>
                    <a:lstStyle/>
                    <a:p>
                      <a:r>
                        <a:rPr sz="1875" b="0">
                          <a:solidFill>
                            <a:srgbClr val="193E3A"/>
                          </a:solidFill>
                          <a:latin typeface="Arial"/>
                          <a:ea typeface="Arial"/>
                          <a:cs typeface="Arial"/>
                        </a:rPr>
                        <a:t>Кездейсоқ</a:t>
                      </a:r>
                    </a:p>
                  </a:txBody>
                  <a:tcPr marL="91440" marR="91440" marT="45720" marB="45720">
                    <a:lnR w="9525">
                      <a:solidFill>
                        <a:srgbClr val="CBDDD6"/>
                      </a:solidFill>
                      <a:prstDash val="solid"/>
                    </a:lnR>
                    <a:lnB w="9525">
                      <a:solidFill>
                        <a:srgbClr val="CBDDD6"/>
                      </a:solidFill>
                      <a:prstDash val="solid"/>
                    </a:lnB>
                    <a:solidFill>
                      <a:srgbClr val="FFFFFF"/>
                    </a:solidFill>
                  </a:tcPr>
                </a:tc>
                <a:tc>
                  <a:txBody>
                    <a:bodyPr/>
                    <a:lstStyle/>
                    <a:p>
                      <a:r>
                        <a:rPr sz="1875" b="0">
                          <a:solidFill>
                            <a:srgbClr val="193E3A"/>
                          </a:solidFill>
                          <a:latin typeface="Arial"/>
                          <a:ea typeface="Arial"/>
                          <a:cs typeface="Arial"/>
                        </a:rPr>
                        <a:t>ImageNet</a:t>
                      </a:r>
                    </a:p>
                  </a:txBody>
                  <a:tcPr marL="91440" marR="91440" marT="45720" marB="45720">
                    <a:lnR w="9525">
                      <a:solidFill>
                        <a:srgbClr val="CBDDD6"/>
                      </a:solidFill>
                      <a:prstDash val="solid"/>
                    </a:lnR>
                    <a:lnB w="9525">
                      <a:solidFill>
                        <a:srgbClr val="CBDDD6"/>
                      </a:solidFill>
                      <a:prstDash val="solid"/>
                    </a:lnB>
                    <a:solidFill>
                      <a:srgbClr val="FFFFFF"/>
                    </a:solidFill>
                  </a:tcPr>
                </a:tc>
              </a:tr>
              <a:tr h="642938">
                <a:tc>
                  <a:txBody>
                    <a:bodyPr/>
                    <a:lstStyle/>
                    <a:p>
                      <a:r>
                        <a:rPr sz="1875" b="0">
                          <a:solidFill>
                            <a:srgbClr val="193E3A"/>
                          </a:solidFill>
                          <a:latin typeface="Arial"/>
                          <a:ea typeface="Arial"/>
                          <a:cs typeface="Arial"/>
                        </a:rPr>
                        <a:t>Үйрету тәсілі</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E9F3EE"/>
                    </a:solidFill>
                  </a:tcPr>
                </a:tc>
                <a:tc>
                  <a:txBody>
                    <a:bodyPr/>
                    <a:lstStyle/>
                    <a:p>
                      <a:r>
                        <a:rPr sz="1875" b="0">
                          <a:solidFill>
                            <a:srgbClr val="193E3A"/>
                          </a:solidFill>
                          <a:latin typeface="Arial"/>
                          <a:ea typeface="Arial"/>
                          <a:cs typeface="Arial"/>
                        </a:rPr>
                        <a:t>CNN-ді басынан үйрету</a:t>
                      </a:r>
                    </a:p>
                  </a:txBody>
                  <a:tcPr marL="91440" marR="91440" marT="45720" marB="45720">
                    <a:lnR w="9525">
                      <a:solidFill>
                        <a:srgbClr val="CBDDD6"/>
                      </a:solidFill>
                      <a:prstDash val="solid"/>
                    </a:lnR>
                    <a:lnB w="9525">
                      <a:solidFill>
                        <a:srgbClr val="CBDDD6"/>
                      </a:solidFill>
                      <a:prstDash val="solid"/>
                    </a:lnB>
                    <a:solidFill>
                      <a:srgbClr val="E9F3EE"/>
                    </a:solidFill>
                  </a:tcPr>
                </a:tc>
                <a:tc>
                  <a:txBody>
                    <a:bodyPr/>
                    <a:lstStyle/>
                    <a:p>
                      <a:r>
                        <a:rPr sz="1875" b="0">
                          <a:solidFill>
                            <a:srgbClr val="193E3A"/>
                          </a:solidFill>
                          <a:latin typeface="Arial"/>
                          <a:ea typeface="Arial"/>
                          <a:cs typeface="Arial"/>
                        </a:rPr>
                        <a:t>Transfer Learning + fine</a:t>
                      </a:r>
                    </a:p>
                  </a:txBody>
                  <a:tcPr marL="91440" marR="91440" marT="45720" marB="45720">
                    <a:lnR w="9525">
                      <a:solidFill>
                        <a:srgbClr val="CBDDD6"/>
                      </a:solidFill>
                      <a:prstDash val="solid"/>
                    </a:lnR>
                    <a:lnB w="9525">
                      <a:solidFill>
                        <a:srgbClr val="CBDDD6"/>
                      </a:solidFill>
                      <a:prstDash val="solid"/>
                    </a:lnB>
                    <a:solidFill>
                      <a:srgbClr val="E9F3EE"/>
                    </a:solidFill>
                  </a:tcPr>
                </a:tc>
              </a:tr>
              <a:tr h="642938">
                <a:tc>
                  <a:txBody>
                    <a:bodyPr/>
                    <a:lstStyle/>
                    <a:p>
                      <a:r>
                        <a:rPr sz="1875" b="0">
                          <a:solidFill>
                            <a:srgbClr val="193E3A"/>
                          </a:solidFill>
                          <a:latin typeface="Arial"/>
                          <a:ea typeface="Arial"/>
                          <a:cs typeface="Arial"/>
                        </a:rPr>
                        <a:t>Шешім шегі</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FFFFFF"/>
                    </a:solidFill>
                  </a:tcPr>
                </a:tc>
                <a:tc>
                  <a:txBody>
                    <a:bodyPr/>
                    <a:lstStyle/>
                    <a:p>
                      <a:r>
                        <a:rPr sz="1875" b="0">
                          <a:solidFill>
                            <a:srgbClr val="193E3A"/>
                          </a:solidFill>
                          <a:latin typeface="Arial"/>
                          <a:ea typeface="Arial"/>
                          <a:cs typeface="Arial"/>
                        </a:rPr>
                        <a:t>0,485</a:t>
                      </a:r>
                    </a:p>
                  </a:txBody>
                  <a:tcPr marL="91440" marR="91440" marT="45720" marB="45720">
                    <a:lnR w="9525">
                      <a:solidFill>
                        <a:srgbClr val="CBDDD6"/>
                      </a:solidFill>
                      <a:prstDash val="solid"/>
                    </a:lnR>
                    <a:lnB w="9525">
                      <a:solidFill>
                        <a:srgbClr val="CBDDD6"/>
                      </a:solidFill>
                      <a:prstDash val="solid"/>
                    </a:lnB>
                    <a:solidFill>
                      <a:srgbClr val="FFFFFF"/>
                    </a:solidFill>
                  </a:tcPr>
                </a:tc>
                <a:tc>
                  <a:txBody>
                    <a:bodyPr/>
                    <a:lstStyle/>
                    <a:p>
                      <a:r>
                        <a:rPr sz="1875" b="0">
                          <a:solidFill>
                            <a:srgbClr val="193E3A"/>
                          </a:solidFill>
                          <a:latin typeface="Arial"/>
                          <a:ea typeface="Arial"/>
                          <a:cs typeface="Arial"/>
                        </a:rPr>
                        <a:t>0,740</a:t>
                      </a:r>
                    </a:p>
                  </a:txBody>
                  <a:tcPr marL="91440" marR="91440" marT="45720" marB="45720">
                    <a:lnR w="9525">
                      <a:solidFill>
                        <a:srgbClr val="CBDDD6"/>
                      </a:solidFill>
                      <a:prstDash val="solid"/>
                    </a:lnR>
                    <a:lnB w="9525">
                      <a:solidFill>
                        <a:srgbClr val="CBDDD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3D861AD-8BB6-4C28-BD5B-9BA75EFFCCC2}"/>
              </a:ext>
            </a:extLst>
          </p:cNvPr>
          <p:cNvSpPr>
            <a:spLocks xmlns:a="http://schemas.openxmlformats.org/drawingml/2006/main" noGrp="1"/>
          </p:cNvSpPr>
          <p:nvPr/>
        </p:nvSpPr>
        <p:spPr>
          <a:xfrm xmlns:a="http://schemas.openxmlformats.org/drawingml/2006/main">
            <a:off x="609600" y="48006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87F77"/>
                </a:solidFill>
                <a:latin typeface="Arial"/>
                <a:ea typeface="Arial"/>
                <a:cs typeface="Arial"/>
              </a:defRPr>
            </a:defPPr>
          </a:lstStyle>
          <a:p xmlns:a="http://schemas.openxmlformats.org/drawingml/2006/main">
            <a:pPr>
              <a:defRPr sz="2775" b="1">
                <a:solidFill>
                  <a:srgbClr val="087F77"/>
                </a:solidFill>
                <a:latin typeface="Arial"/>
                <a:ea typeface="Arial"/>
                <a:cs typeface="Arial"/>
              </a:defRPr>
            </a:pPr>
            <a:r>
              <a:rPr sz="2775" b="1">
                <a:solidFill>
                  <a:srgbClr val="087F77"/>
                </a:solidFill>
                <a:latin typeface="Arial"/>
                <a:ea typeface="Arial"/>
                <a:cs typeface="Arial"/>
              </a:rPr>
              <a:t>224 × 224 RGB</a:t>
            </a:r>
          </a:p>
        </p:txBody>
      </p:sp>
      <p:sp>
        <p:nvSpPr>
          <p:cNvPr id="5" name="">
            <a:extLst xmlns:a="http://schemas.openxmlformats.org/drawingml/2006/main">
              <a:ext uri="{FF2B5EF4-FFF2-40B4-BE49-F238E27FC236}">
                <a16:creationId xmlns:a16="http://schemas.microsoft.com/office/drawing/2014/main" id="{2AD33468-7868-4132-8941-4A2F5713D0E2}"/>
              </a:ext>
            </a:extLst>
          </p:cNvPr>
          <p:cNvSpPr>
            <a:spLocks xmlns:a="http://schemas.openxmlformats.org/drawingml/2006/main" noGrp="1"/>
          </p:cNvSpPr>
          <p:nvPr/>
        </p:nvSpPr>
        <p:spPr>
          <a:xfrm xmlns:a="http://schemas.openxmlformats.org/drawingml/2006/main">
            <a:off x="628650" y="5514975"/>
            <a:ext cx="5191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17C77"/>
                </a:solidFill>
                <a:latin typeface="Arial"/>
                <a:ea typeface="Arial"/>
                <a:cs typeface="Arial"/>
              </a:defRPr>
            </a:defPPr>
          </a:lstStyle>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Colab-тағы өңдеу сайтта сақталған</a:t>
            </a:r>
          </a:p>
        </p:txBody>
      </p:sp>
      <p:sp>
        <p:nvSpPr>
          <p:cNvPr id="6" name="">
            <a:extLst xmlns:a="http://schemas.openxmlformats.org/drawingml/2006/main">
              <a:ext uri="{FF2B5EF4-FFF2-40B4-BE49-F238E27FC236}">
                <a16:creationId xmlns:a16="http://schemas.microsoft.com/office/drawing/2014/main" id="{96B5F87E-D07A-41C3-99CB-14ED63462ABB}"/>
              </a:ext>
            </a:extLst>
          </p:cNvPr>
          <p:cNvSpPr>
            <a:spLocks xmlns:a="http://schemas.openxmlformats.org/drawingml/2006/main" noGrp="1"/>
          </p:cNvSpPr>
          <p:nvPr/>
        </p:nvSpPr>
        <p:spPr>
          <a:xfrm xmlns:a="http://schemas.openxmlformats.org/drawingml/2006/main">
            <a:off x="6648450" y="480060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93E3A"/>
                </a:solidFill>
                <a:latin typeface="Arial"/>
                <a:ea typeface="Arial"/>
                <a:cs typeface="Arial"/>
              </a:defRPr>
            </a:defPPr>
          </a:lstStyle>
          <a:p xmlns:a="http://schemas.openxmlformats.org/drawingml/2006/main">
            <a:pPr>
              <a:defRPr sz="2550" b="1">
                <a:solidFill>
                  <a:srgbClr val="193E3A"/>
                </a:solidFill>
                <a:latin typeface="Arial"/>
                <a:ea typeface="Arial"/>
                <a:cs typeface="Arial"/>
              </a:defRPr>
            </a:pPr>
            <a:r>
              <a:rPr sz="2550" b="1">
                <a:solidFill>
                  <a:srgbClr val="193E3A"/>
                </a:solidFill>
                <a:latin typeface="Arial"/>
                <a:ea typeface="Arial"/>
                <a:cs typeface="Arial"/>
              </a:rPr>
              <a:t>FastAPI + TensorFlow</a:t>
            </a:r>
          </a:p>
        </p:txBody>
      </p:sp>
      <p:sp>
        <p:nvSpPr>
          <p:cNvPr id="7" name="">
            <a:extLst xmlns:a="http://schemas.openxmlformats.org/drawingml/2006/main">
              <a:ext uri="{FF2B5EF4-FFF2-40B4-BE49-F238E27FC236}">
                <a16:creationId xmlns:a16="http://schemas.microsoft.com/office/drawing/2014/main" id="{9B3B8877-3692-4752-94E8-2A1E56A593E7}"/>
              </a:ext>
            </a:extLst>
          </p:cNvPr>
          <p:cNvSpPr>
            <a:spLocks xmlns:a="http://schemas.openxmlformats.org/drawingml/2006/main" noGrp="1"/>
          </p:cNvSpPr>
          <p:nvPr/>
        </p:nvSpPr>
        <p:spPr>
          <a:xfrm xmlns:a="http://schemas.openxmlformats.org/drawingml/2006/main">
            <a:off x="6667500" y="55149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17C77"/>
                </a:solidFill>
                <a:latin typeface="Arial"/>
                <a:ea typeface="Arial"/>
                <a:cs typeface="Arial"/>
              </a:defRPr>
            </a:defPPr>
          </a:lstStyle>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HTML / CSS / JavaScript интерфейсі</a:t>
            </a:r>
          </a:p>
        </p:txBody>
      </p:sp>
    </p:spTree>
    <p:extLst>
      <p:ext uri="{BB962C8B-B14F-4D97-AF65-F5344CB8AC3E}">
        <p14:creationId xmlns:p14="http://schemas.microsoft.com/office/powerpoint/2010/main" val="1464400271"/>
      </p:ext>
    </p:extLst>
  </p:cSld>
</p:sld>
</file>

<file path=ppt/slides/slide5.xml><?xml version="1.0" encoding="utf-8"?>
<p:sld xmlns:p="http://schemas.openxmlformats.org/presentationml/2006/main">
  <p:cSld>
    <p:bg>
      <p:bgPr>
        <a:solidFill xmlns:a="http://schemas.openxmlformats.org/drawingml/2006/main">
          <a:srgbClr val="193E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E9D075-2B0B-4B88-A12A-19A432F8F421}"/>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Математикалық прототип</a:t>
            </a:r>
          </a:p>
        </p:txBody>
      </p:sp>
      <p:sp>
        <p:nvSpPr>
          <p:cNvPr id="2" name="">
            <a:extLst xmlns:a="http://schemas.openxmlformats.org/drawingml/2006/main">
              <a:ext uri="{FF2B5EF4-FFF2-40B4-BE49-F238E27FC236}">
                <a16:creationId xmlns:a16="http://schemas.microsoft.com/office/drawing/2014/main" id="{36400A86-411B-43CB-AE21-6FF216846015}"/>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B8E5D8"/>
                </a:solidFill>
                <a:latin typeface="Arial"/>
                <a:ea typeface="Arial"/>
                <a:cs typeface="Arial"/>
              </a:defRPr>
            </a:defPPr>
          </a:lstStyle>
          <a:p xmlns:a="http://schemas.openxmlformats.org/drawingml/2006/main">
            <a:pPr>
              <a:defRPr sz="1275" b="0">
                <a:solidFill>
                  <a:srgbClr val="B8E5D8"/>
                </a:solidFill>
                <a:latin typeface="Arial"/>
                <a:ea typeface="Arial"/>
                <a:cs typeface="Arial"/>
              </a:defRPr>
            </a:pPr>
            <a:r>
              <a:rPr sz="1275" b="0">
                <a:solidFill>
                  <a:srgbClr val="B8E5D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95EA0F0-6952-4E35-9365-46407E02BC54}"/>
              </a:ext>
            </a:extLst>
          </p:cNvPr>
          <p:cNvSpPr>
            <a:spLocks xmlns:a="http://schemas.openxmlformats.org/drawingml/2006/main" noGrp="1"/>
          </p:cNvSpPr>
          <p:nvPr/>
        </p:nvSpPr>
        <p:spPr>
          <a:xfrm xmlns:a="http://schemas.openxmlformats.org/drawingml/2006/main">
            <a:off x="609600" y="1762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B8E5D8"/>
                </a:solidFill>
                <a:latin typeface="Arial"/>
                <a:ea typeface="Arial"/>
                <a:cs typeface="Arial"/>
              </a:defRPr>
            </a:defPPr>
          </a:lstStyle>
          <a:p xmlns:a="http://schemas.openxmlformats.org/drawingml/2006/main">
            <a:pPr>
              <a:defRPr sz="3150" b="1">
                <a:solidFill>
                  <a:srgbClr val="B8E5D8"/>
                </a:solidFill>
                <a:latin typeface="Arial"/>
                <a:ea typeface="Arial"/>
                <a:cs typeface="Arial"/>
              </a:defRPr>
            </a:pPr>
            <a:r>
              <a:rPr sz="3150" b="1">
                <a:solidFill>
                  <a:srgbClr val="B8E5D8"/>
                </a:solidFill>
                <a:latin typeface="Arial"/>
                <a:ea typeface="Arial"/>
                <a:cs typeface="Arial"/>
              </a:rPr>
              <a:t>z = wᵀhθ(x) + b</a:t>
            </a:r>
          </a:p>
        </p:txBody>
      </p:sp>
      <p:sp>
        <p:nvSpPr>
          <p:cNvPr id="4" name="">
            <a:extLst xmlns:a="http://schemas.openxmlformats.org/drawingml/2006/main">
              <a:ext uri="{FF2B5EF4-FFF2-40B4-BE49-F238E27FC236}">
                <a16:creationId xmlns:a16="http://schemas.microsoft.com/office/drawing/2014/main" id="{F83F1134-5438-42A3-95C9-B558AEA14AC7}"/>
              </a:ext>
            </a:extLst>
          </p:cNvPr>
          <p:cNvSpPr>
            <a:spLocks xmlns:a="http://schemas.openxmlformats.org/drawingml/2006/main" noGrp="1"/>
          </p:cNvSpPr>
          <p:nvPr/>
        </p:nvSpPr>
        <p:spPr>
          <a:xfrm xmlns:a="http://schemas.openxmlformats.org/drawingml/2006/main">
            <a:off x="609600" y="2714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0">
                <a:solidFill>
                  <a:srgbClr val="FFFFFF"/>
                </a:solidFill>
                <a:latin typeface="Arial"/>
                <a:ea typeface="Arial"/>
                <a:cs typeface="Arial"/>
              </a:defRPr>
            </a:defPPr>
          </a:lstStyle>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p = 1 / (1 + exp(−z))</a:t>
            </a:r>
          </a:p>
        </p:txBody>
      </p:sp>
      <p:sp>
        <p:nvSpPr>
          <p:cNvPr id="5" name="">
            <a:extLst xmlns:a="http://schemas.openxmlformats.org/drawingml/2006/main">
              <a:ext uri="{FF2B5EF4-FFF2-40B4-BE49-F238E27FC236}">
                <a16:creationId xmlns:a16="http://schemas.microsoft.com/office/drawing/2014/main" id="{60C6E7BF-7826-47BF-A3C2-4B60ABB01F34}"/>
              </a:ext>
            </a:extLst>
          </p:cNvPr>
          <p:cNvSpPr>
            <a:spLocks xmlns:a="http://schemas.openxmlformats.org/drawingml/2006/main" noGrp="1"/>
          </p:cNvSpPr>
          <p:nvPr/>
        </p:nvSpPr>
        <p:spPr>
          <a:xfrm xmlns:a="http://schemas.openxmlformats.org/drawingml/2006/main">
            <a:off x="609600" y="3714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ℓ = −aᵧ[y ln p + (1−y) ln(1−p)]</a:t>
            </a:r>
          </a:p>
        </p:txBody>
      </p:sp>
      <p:sp>
        <p:nvSpPr>
          <p:cNvPr id="6" name="">
            <a:extLst xmlns:a="http://schemas.openxmlformats.org/drawingml/2006/main">
              <a:ext uri="{FF2B5EF4-FFF2-40B4-BE49-F238E27FC236}">
                <a16:creationId xmlns:a16="http://schemas.microsoft.com/office/drawing/2014/main" id="{6A0317C0-CFFB-4FD7-B628-1366C60F50D3}"/>
              </a:ext>
            </a:extLst>
          </p:cNvPr>
          <p:cNvSpPr>
            <a:spLocks xmlns:a="http://schemas.openxmlformats.org/drawingml/2006/main" noGrp="1"/>
          </p:cNvSpPr>
          <p:nvPr/>
        </p:nvSpPr>
        <p:spPr>
          <a:xfrm xmlns:a="http://schemas.openxmlformats.org/drawingml/2006/main">
            <a:off x="609600" y="4810125"/>
            <a:ext cx="571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1">
                <a:solidFill>
                  <a:srgbClr val="B8E5D8"/>
                </a:solidFill>
                <a:latin typeface="Arial"/>
                <a:ea typeface="Arial"/>
                <a:cs typeface="Arial"/>
              </a:defRPr>
            </a:defPPr>
          </a:lstStyle>
          <a:p xmlns:a="http://schemas.openxmlformats.org/drawingml/2006/main">
            <a:pPr>
              <a:defRPr sz="1950" b="1">
                <a:solidFill>
                  <a:srgbClr val="B8E5D8"/>
                </a:solidFill>
                <a:latin typeface="Arial"/>
                <a:ea typeface="Arial"/>
                <a:cs typeface="Arial"/>
              </a:defRPr>
            </a:pPr>
            <a:r>
              <a:rPr sz="1950" b="1">
                <a:solidFill>
                  <a:srgbClr val="B8E5D8"/>
                </a:solidFill>
                <a:latin typeface="Arial"/>
                <a:ea typeface="Arial"/>
                <a:cs typeface="Arial"/>
              </a:rPr>
              <a:t>Шартты есеп</a:t>
            </a:r>
          </a:p>
        </p:txBody>
      </p:sp>
      <p:sp>
        <p:nvSpPr>
          <p:cNvPr id="7" name="">
            <a:extLst xmlns:a="http://schemas.openxmlformats.org/drawingml/2006/main">
              <a:ext uri="{FF2B5EF4-FFF2-40B4-BE49-F238E27FC236}">
                <a16:creationId xmlns:a16="http://schemas.microsoft.com/office/drawing/2014/main" id="{0E04C07D-432B-4599-BC24-5D9467CAB730}"/>
              </a:ext>
            </a:extLst>
          </p:cNvPr>
          <p:cNvSpPr>
            <a:spLocks xmlns:a="http://schemas.openxmlformats.org/drawingml/2006/main" noGrp="1"/>
          </p:cNvSpPr>
          <p:nvPr/>
        </p:nvSpPr>
        <p:spPr>
          <a:xfrm xmlns:a="http://schemas.openxmlformats.org/drawingml/2006/main">
            <a:off x="609600" y="53816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z = ln 4,  p = 0,80 ≥ 0,740</a:t>
            </a:r>
          </a:p>
        </p:txBody>
      </p:sp>
      <p:sp>
        <p:nvSpPr>
          <p:cNvPr id="8" name="">
            <a:extLst xmlns:a="http://schemas.openxmlformats.org/drawingml/2006/main">
              <a:ext uri="{FF2B5EF4-FFF2-40B4-BE49-F238E27FC236}">
                <a16:creationId xmlns:a16="http://schemas.microsoft.com/office/drawing/2014/main" id="{17B95961-A4F4-4B14-8A01-C4292A3CD9F5}"/>
              </a:ext>
            </a:extLst>
          </p:cNvPr>
          <p:cNvSpPr>
            <a:spLocks xmlns:a="http://schemas.openxmlformats.org/drawingml/2006/main" noGrp="1"/>
          </p:cNvSpPr>
          <p:nvPr/>
        </p:nvSpPr>
        <p:spPr>
          <a:xfrm xmlns:a="http://schemas.openxmlformats.org/drawingml/2006/main">
            <a:off x="609600" y="608647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B8E5D8"/>
                </a:solidFill>
                <a:latin typeface="Arial"/>
                <a:ea typeface="Arial"/>
                <a:cs typeface="Arial"/>
              </a:defRPr>
            </a:defPPr>
          </a:lstStyle>
          <a:p xmlns:a="http://schemas.openxmlformats.org/drawingml/2006/main">
            <a:pPr>
              <a:defRPr sz="1650" b="0">
                <a:solidFill>
                  <a:srgbClr val="B8E5D8"/>
                </a:solidFill>
                <a:latin typeface="Arial"/>
                <a:ea typeface="Arial"/>
                <a:cs typeface="Arial"/>
              </a:defRPr>
            </a:pPr>
            <a:r>
              <a:rPr sz="1650" b="0">
                <a:solidFill>
                  <a:srgbClr val="B8E5D8"/>
                </a:solidFill>
                <a:latin typeface="Arial"/>
                <a:ea typeface="Arial"/>
                <a:cs typeface="Arial"/>
              </a:rPr>
              <a:t>PNEUMONIA болжамы. y = 1, aᵧ = 1 болса, loss ≈ 0,2231</a:t>
            </a:r>
          </a:p>
        </p:txBody>
      </p:sp>
    </p:spTree>
    <p:extLst>
      <p:ext uri="{BB962C8B-B14F-4D97-AF65-F5344CB8AC3E}">
        <p14:creationId xmlns:p14="http://schemas.microsoft.com/office/powerpoint/2010/main" val="1055895497"/>
      </p:ext>
    </p:extLst>
  </p:cSld>
</p:sld>
</file>

<file path=ppt/slides/slide6.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A2A8D1-7844-4B49-B0D3-08B923C08780}"/>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93E3A"/>
                </a:solidFill>
                <a:latin typeface="Arial"/>
                <a:ea typeface="Arial"/>
                <a:cs typeface="Arial"/>
              </a:defRPr>
            </a:defPPr>
          </a:lstStyle>
          <a:p xmlns:a="http://schemas.openxmlformats.org/drawingml/2006/main">
            <a:pPr>
              <a:defRPr sz="3225" b="1">
                <a:solidFill>
                  <a:srgbClr val="193E3A"/>
                </a:solidFill>
                <a:latin typeface="Arial"/>
                <a:ea typeface="Arial"/>
                <a:cs typeface="Arial"/>
              </a:defRPr>
            </a:pPr>
            <a:r>
              <a:rPr sz="3225" b="1">
                <a:solidFill>
                  <a:srgbClr val="193E3A"/>
                </a:solidFill>
                <a:latin typeface="Arial"/>
                <a:ea typeface="Arial"/>
                <a:cs typeface="Arial"/>
              </a:rPr>
              <a:t>Соңғы тест нәтижелері</a:t>
            </a:r>
          </a:p>
        </p:txBody>
      </p:sp>
      <p:sp>
        <p:nvSpPr>
          <p:cNvPr id="2" name="">
            <a:extLst xmlns:a="http://schemas.openxmlformats.org/drawingml/2006/main">
              <a:ext uri="{FF2B5EF4-FFF2-40B4-BE49-F238E27FC236}">
                <a16:creationId xmlns:a16="http://schemas.microsoft.com/office/drawing/2014/main" id="{F1609C6E-957B-4628-B363-14D43B84E0D0}"/>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75E439C4-E3EF-4AC2-9805-0D869765F69F}"/>
              </a:ext>
            </a:extLst>
          </p:cNvPr>
          <p:cNvGraphicFramePr/>
          <p:nvPr/>
        </p:nvGraphicFramePr>
        <p:xfrm>
          <a:off xmlns:a="http://schemas.openxmlformats.org/drawingml/2006/main" x="609600" y="1714500"/>
          <a:ext xmlns:a="http://schemas.openxmlformats.org/drawingml/2006/main" cx="10972800" cy="3105150"/>
        </p:xfrm>
        <a:graphic xmlns:a="http://schemas.openxmlformats.org/drawingml/2006/main">
          <a:graphicData uri="http://schemas.openxmlformats.org/drawingml/2006/table">
            <a:tbl>
              <a:tblPr/>
              <a:tblGrid>
                <a:gridCol w="4305300"/>
                <a:gridCol w="3333750"/>
                <a:gridCol w="3333750"/>
              </a:tblGrid>
              <a:tr h="517525">
                <a:tc>
                  <a:txBody>
                    <a:bodyPr/>
                    <a:lstStyle/>
                    <a:p>
                      <a:r>
                        <a:rPr sz="1800" b="1">
                          <a:solidFill>
                            <a:srgbClr val="FFFFFF"/>
                          </a:solidFill>
                          <a:latin typeface="Arial"/>
                          <a:ea typeface="Arial"/>
                          <a:cs typeface="Arial"/>
                        </a:rPr>
                        <a:t>Көрсеткіш</a:t>
                      </a:r>
                    </a:p>
                  </a:txBody>
                  <a:tcPr marL="91440" marR="91440" marT="45720" marB="45720">
                    <a:lnL w="9525">
                      <a:solidFill>
                        <a:srgbClr val="CBDDD6"/>
                      </a:solidFill>
                      <a:prstDash val="solid"/>
                    </a:lnL>
                    <a:lnR w="9525">
                      <a:solidFill>
                        <a:srgbClr val="CBDDD6"/>
                      </a:solidFill>
                      <a:prstDash val="solid"/>
                    </a:lnR>
                    <a:lnT w="9525">
                      <a:solidFill>
                        <a:srgbClr val="CBDDD6"/>
                      </a:solidFill>
                      <a:prstDash val="solid"/>
                    </a:lnT>
                    <a:lnB w="9525">
                      <a:solidFill>
                        <a:srgbClr val="CBDDD6"/>
                      </a:solidFill>
                      <a:prstDash val="solid"/>
                    </a:lnB>
                    <a:solidFill>
                      <a:srgbClr val="193E3A"/>
                    </a:solidFill>
                  </a:tcPr>
                </a:tc>
                <a:tc>
                  <a:txBody>
                    <a:bodyPr/>
                    <a:lstStyle/>
                    <a:p>
                      <a:r>
                        <a:rPr sz="1800" b="1">
                          <a:solidFill>
                            <a:srgbClr val="FFFFFF"/>
                          </a:solidFill>
                          <a:latin typeface="Arial"/>
                          <a:ea typeface="Arial"/>
                          <a:cs typeface="Arial"/>
                        </a:rPr>
                        <a:t>CNN</a:t>
                      </a:r>
                    </a:p>
                  </a:txBody>
                  <a:tcPr marL="91440" marR="91440" marT="45720" marB="45720">
                    <a:lnR w="9525">
                      <a:solidFill>
                        <a:srgbClr val="CBDDD6"/>
                      </a:solidFill>
                      <a:prstDash val="solid"/>
                    </a:lnR>
                    <a:lnT w="9525">
                      <a:solidFill>
                        <a:srgbClr val="CBDDD6"/>
                      </a:solidFill>
                      <a:prstDash val="solid"/>
                    </a:lnT>
                    <a:lnB w="9525">
                      <a:solidFill>
                        <a:srgbClr val="CBDDD6"/>
                      </a:solidFill>
                      <a:prstDash val="solid"/>
                    </a:lnB>
                    <a:solidFill>
                      <a:srgbClr val="193E3A"/>
                    </a:solidFill>
                  </a:tcPr>
                </a:tc>
                <a:tc>
                  <a:txBody>
                    <a:bodyPr/>
                    <a:lstStyle/>
                    <a:p>
                      <a:r>
                        <a:rPr sz="1800" b="1">
                          <a:solidFill>
                            <a:srgbClr val="FFFFFF"/>
                          </a:solidFill>
                          <a:latin typeface="Arial"/>
                          <a:ea typeface="Arial"/>
                          <a:cs typeface="Arial"/>
                        </a:rPr>
                        <a:t>MobileNetV2</a:t>
                      </a:r>
                    </a:p>
                  </a:txBody>
                  <a:tcPr marL="91440" marR="91440" marT="45720" marB="45720">
                    <a:lnR w="9525">
                      <a:solidFill>
                        <a:srgbClr val="CBDDD6"/>
                      </a:solidFill>
                      <a:prstDash val="solid"/>
                    </a:lnR>
                    <a:lnT w="9525">
                      <a:solidFill>
                        <a:srgbClr val="CBDDD6"/>
                      </a:solidFill>
                      <a:prstDash val="solid"/>
                    </a:lnT>
                    <a:lnB w="9525">
                      <a:solidFill>
                        <a:srgbClr val="CBDDD6"/>
                      </a:solidFill>
                      <a:prstDash val="solid"/>
                    </a:lnB>
                    <a:solidFill>
                      <a:srgbClr val="193E3A"/>
                    </a:solidFill>
                  </a:tcPr>
                </a:tc>
              </a:tr>
              <a:tr h="517525">
                <a:tc>
                  <a:txBody>
                    <a:bodyPr/>
                    <a:lstStyle/>
                    <a:p>
                      <a:r>
                        <a:rPr sz="1800" b="0">
                          <a:solidFill>
                            <a:srgbClr val="193E3A"/>
                          </a:solidFill>
                          <a:latin typeface="Arial"/>
                          <a:ea typeface="Arial"/>
                          <a:cs typeface="Arial"/>
                        </a:rPr>
                        <a:t>Accuracy</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FFFFFF"/>
                    </a:solidFill>
                  </a:tcPr>
                </a:tc>
                <a:tc>
                  <a:txBody>
                    <a:bodyPr/>
                    <a:lstStyle/>
                    <a:p>
                      <a:r>
                        <a:rPr sz="1800" b="0">
                          <a:solidFill>
                            <a:srgbClr val="193E3A"/>
                          </a:solidFill>
                          <a:latin typeface="Arial"/>
                          <a:ea typeface="Arial"/>
                          <a:cs typeface="Arial"/>
                        </a:rPr>
                        <a:t>71,68%</a:t>
                      </a:r>
                    </a:p>
                  </a:txBody>
                  <a:tcPr marL="91440" marR="91440" marT="45720" marB="45720">
                    <a:lnR w="9525">
                      <a:solidFill>
                        <a:srgbClr val="CBDDD6"/>
                      </a:solidFill>
                      <a:prstDash val="solid"/>
                    </a:lnR>
                    <a:lnB w="9525">
                      <a:solidFill>
                        <a:srgbClr val="CBDDD6"/>
                      </a:solidFill>
                      <a:prstDash val="solid"/>
                    </a:lnB>
                    <a:solidFill>
                      <a:srgbClr val="FFFFFF"/>
                    </a:solidFill>
                  </a:tcPr>
                </a:tc>
                <a:tc>
                  <a:txBody>
                    <a:bodyPr/>
                    <a:lstStyle/>
                    <a:p>
                      <a:r>
                        <a:rPr sz="1800" b="0">
                          <a:solidFill>
                            <a:srgbClr val="193E3A"/>
                          </a:solidFill>
                          <a:latin typeface="Arial"/>
                          <a:ea typeface="Arial"/>
                          <a:cs typeface="Arial"/>
                        </a:rPr>
                        <a:t>89,16%</a:t>
                      </a:r>
                    </a:p>
                  </a:txBody>
                  <a:tcPr marL="91440" marR="91440" marT="45720" marB="45720">
                    <a:lnR w="9525">
                      <a:solidFill>
                        <a:srgbClr val="CBDDD6"/>
                      </a:solidFill>
                      <a:prstDash val="solid"/>
                    </a:lnR>
                    <a:lnB w="9525">
                      <a:solidFill>
                        <a:srgbClr val="CBDDD6"/>
                      </a:solidFill>
                      <a:prstDash val="solid"/>
                    </a:lnB>
                    <a:solidFill>
                      <a:srgbClr val="FFFFFF"/>
                    </a:solidFill>
                  </a:tcPr>
                </a:tc>
              </a:tr>
              <a:tr h="517525">
                <a:tc>
                  <a:txBody>
                    <a:bodyPr/>
                    <a:lstStyle/>
                    <a:p>
                      <a:r>
                        <a:rPr sz="1800" b="0">
                          <a:solidFill>
                            <a:srgbClr val="193E3A"/>
                          </a:solidFill>
                          <a:latin typeface="Arial"/>
                          <a:ea typeface="Arial"/>
                          <a:cs typeface="Arial"/>
                        </a:rPr>
                        <a:t>Recall / sensitivity</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E9F3EE"/>
                    </a:solidFill>
                  </a:tcPr>
                </a:tc>
                <a:tc>
                  <a:txBody>
                    <a:bodyPr/>
                    <a:lstStyle/>
                    <a:p>
                      <a:r>
                        <a:rPr sz="1800" b="0">
                          <a:solidFill>
                            <a:srgbClr val="193E3A"/>
                          </a:solidFill>
                          <a:latin typeface="Arial"/>
                          <a:ea typeface="Arial"/>
                          <a:cs typeface="Arial"/>
                        </a:rPr>
                        <a:t>92,76%</a:t>
                      </a:r>
                    </a:p>
                  </a:txBody>
                  <a:tcPr marL="91440" marR="91440" marT="45720" marB="45720">
                    <a:lnR w="9525">
                      <a:solidFill>
                        <a:srgbClr val="CBDDD6"/>
                      </a:solidFill>
                      <a:prstDash val="solid"/>
                    </a:lnR>
                    <a:lnB w="9525">
                      <a:solidFill>
                        <a:srgbClr val="CBDDD6"/>
                      </a:solidFill>
                      <a:prstDash val="solid"/>
                    </a:lnB>
                    <a:solidFill>
                      <a:srgbClr val="E9F3EE"/>
                    </a:solidFill>
                  </a:tcPr>
                </a:tc>
                <a:tc>
                  <a:txBody>
                    <a:bodyPr/>
                    <a:lstStyle/>
                    <a:p>
                      <a:r>
                        <a:rPr sz="1800" b="0">
                          <a:solidFill>
                            <a:srgbClr val="193E3A"/>
                          </a:solidFill>
                          <a:latin typeface="Arial"/>
                          <a:ea typeface="Arial"/>
                          <a:cs typeface="Arial"/>
                        </a:rPr>
                        <a:t>96,12%</a:t>
                      </a:r>
                    </a:p>
                  </a:txBody>
                  <a:tcPr marL="91440" marR="91440" marT="45720" marB="45720">
                    <a:lnR w="9525">
                      <a:solidFill>
                        <a:srgbClr val="CBDDD6"/>
                      </a:solidFill>
                      <a:prstDash val="solid"/>
                    </a:lnR>
                    <a:lnB w="9525">
                      <a:solidFill>
                        <a:srgbClr val="CBDDD6"/>
                      </a:solidFill>
                      <a:prstDash val="solid"/>
                    </a:lnB>
                    <a:solidFill>
                      <a:srgbClr val="E9F3EE"/>
                    </a:solidFill>
                  </a:tcPr>
                </a:tc>
              </a:tr>
              <a:tr h="517525">
                <a:tc>
                  <a:txBody>
                    <a:bodyPr/>
                    <a:lstStyle/>
                    <a:p>
                      <a:r>
                        <a:rPr sz="1800" b="0">
                          <a:solidFill>
                            <a:srgbClr val="193E3A"/>
                          </a:solidFill>
                          <a:latin typeface="Arial"/>
                          <a:ea typeface="Arial"/>
                          <a:cs typeface="Arial"/>
                        </a:rPr>
                        <a:t>Specificity</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FFFFFF"/>
                    </a:solidFill>
                  </a:tcPr>
                </a:tc>
                <a:tc>
                  <a:txBody>
                    <a:bodyPr/>
                    <a:lstStyle/>
                    <a:p>
                      <a:r>
                        <a:rPr sz="1800" b="0">
                          <a:solidFill>
                            <a:srgbClr val="193E3A"/>
                          </a:solidFill>
                          <a:latin typeface="Arial"/>
                          <a:ea typeface="Arial"/>
                          <a:cs typeface="Arial"/>
                        </a:rPr>
                        <a:t>36,36%</a:t>
                      </a:r>
                    </a:p>
                  </a:txBody>
                  <a:tcPr marL="91440" marR="91440" marT="45720" marB="45720">
                    <a:lnR w="9525">
                      <a:solidFill>
                        <a:srgbClr val="CBDDD6"/>
                      </a:solidFill>
                      <a:prstDash val="solid"/>
                    </a:lnR>
                    <a:lnB w="9525">
                      <a:solidFill>
                        <a:srgbClr val="CBDDD6"/>
                      </a:solidFill>
                      <a:prstDash val="solid"/>
                    </a:lnB>
                    <a:solidFill>
                      <a:srgbClr val="FFFFFF"/>
                    </a:solidFill>
                  </a:tcPr>
                </a:tc>
                <a:tc>
                  <a:txBody>
                    <a:bodyPr/>
                    <a:lstStyle/>
                    <a:p>
                      <a:r>
                        <a:rPr sz="1800" b="0">
                          <a:solidFill>
                            <a:srgbClr val="193E3A"/>
                          </a:solidFill>
                          <a:latin typeface="Arial"/>
                          <a:ea typeface="Arial"/>
                          <a:cs typeface="Arial"/>
                        </a:rPr>
                        <a:t>77,49%</a:t>
                      </a:r>
                    </a:p>
                  </a:txBody>
                  <a:tcPr marL="91440" marR="91440" marT="45720" marB="45720">
                    <a:lnR w="9525">
                      <a:solidFill>
                        <a:srgbClr val="CBDDD6"/>
                      </a:solidFill>
                      <a:prstDash val="solid"/>
                    </a:lnR>
                    <a:lnB w="9525">
                      <a:solidFill>
                        <a:srgbClr val="CBDDD6"/>
                      </a:solidFill>
                      <a:prstDash val="solid"/>
                    </a:lnB>
                    <a:solidFill>
                      <a:srgbClr val="FFFFFF"/>
                    </a:solidFill>
                  </a:tcPr>
                </a:tc>
              </a:tr>
              <a:tr h="517525">
                <a:tc>
                  <a:txBody>
                    <a:bodyPr/>
                    <a:lstStyle/>
                    <a:p>
                      <a:r>
                        <a:rPr sz="1800" b="0">
                          <a:solidFill>
                            <a:srgbClr val="193E3A"/>
                          </a:solidFill>
                          <a:latin typeface="Arial"/>
                          <a:ea typeface="Arial"/>
                          <a:cs typeface="Arial"/>
                        </a:rPr>
                        <a:t>F1</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E9F3EE"/>
                    </a:solidFill>
                  </a:tcPr>
                </a:tc>
                <a:tc>
                  <a:txBody>
                    <a:bodyPr/>
                    <a:lstStyle/>
                    <a:p>
                      <a:r>
                        <a:rPr sz="1800" b="0">
                          <a:solidFill>
                            <a:srgbClr val="193E3A"/>
                          </a:solidFill>
                          <a:latin typeface="Arial"/>
                          <a:ea typeface="Arial"/>
                          <a:cs typeface="Arial"/>
                        </a:rPr>
                        <a:t>0,8040</a:t>
                      </a:r>
                    </a:p>
                  </a:txBody>
                  <a:tcPr marL="91440" marR="91440" marT="45720" marB="45720">
                    <a:lnR w="9525">
                      <a:solidFill>
                        <a:srgbClr val="CBDDD6"/>
                      </a:solidFill>
                      <a:prstDash val="solid"/>
                    </a:lnR>
                    <a:lnB w="9525">
                      <a:solidFill>
                        <a:srgbClr val="CBDDD6"/>
                      </a:solidFill>
                      <a:prstDash val="solid"/>
                    </a:lnB>
                    <a:solidFill>
                      <a:srgbClr val="E9F3EE"/>
                    </a:solidFill>
                  </a:tcPr>
                </a:tc>
                <a:tc>
                  <a:txBody>
                    <a:bodyPr/>
                    <a:lstStyle/>
                    <a:p>
                      <a:r>
                        <a:rPr sz="1800" b="0">
                          <a:solidFill>
                            <a:srgbClr val="193E3A"/>
                          </a:solidFill>
                          <a:latin typeface="Arial"/>
                          <a:ea typeface="Arial"/>
                          <a:cs typeface="Arial"/>
                        </a:rPr>
                        <a:t>0,9174</a:t>
                      </a:r>
                    </a:p>
                  </a:txBody>
                  <a:tcPr marL="91440" marR="91440" marT="45720" marB="45720">
                    <a:lnR w="9525">
                      <a:solidFill>
                        <a:srgbClr val="CBDDD6"/>
                      </a:solidFill>
                      <a:prstDash val="solid"/>
                    </a:lnR>
                    <a:lnB w="9525">
                      <a:solidFill>
                        <a:srgbClr val="CBDDD6"/>
                      </a:solidFill>
                      <a:prstDash val="solid"/>
                    </a:lnB>
                    <a:solidFill>
                      <a:srgbClr val="E9F3EE"/>
                    </a:solidFill>
                  </a:tcPr>
                </a:tc>
              </a:tr>
              <a:tr h="517525">
                <a:tc>
                  <a:txBody>
                    <a:bodyPr/>
                    <a:lstStyle/>
                    <a:p>
                      <a:r>
                        <a:rPr sz="1800" b="0">
                          <a:solidFill>
                            <a:srgbClr val="193E3A"/>
                          </a:solidFill>
                          <a:latin typeface="Arial"/>
                          <a:ea typeface="Arial"/>
                          <a:cs typeface="Arial"/>
                        </a:rPr>
                        <a:t>ROC-AUC</a:t>
                      </a:r>
                    </a:p>
                  </a:txBody>
                  <a:tcPr marL="91440" marR="91440" marT="45720" marB="45720">
                    <a:lnL w="9525">
                      <a:solidFill>
                        <a:srgbClr val="CBDDD6"/>
                      </a:solidFill>
                      <a:prstDash val="solid"/>
                    </a:lnL>
                    <a:lnR w="9525">
                      <a:solidFill>
                        <a:srgbClr val="CBDDD6"/>
                      </a:solidFill>
                      <a:prstDash val="solid"/>
                    </a:lnR>
                    <a:lnB w="9525">
                      <a:solidFill>
                        <a:srgbClr val="CBDDD6"/>
                      </a:solidFill>
                      <a:prstDash val="solid"/>
                    </a:lnB>
                    <a:solidFill>
                      <a:srgbClr val="FFFFFF"/>
                    </a:solidFill>
                  </a:tcPr>
                </a:tc>
                <a:tc>
                  <a:txBody>
                    <a:bodyPr/>
                    <a:lstStyle/>
                    <a:p>
                      <a:r>
                        <a:rPr sz="1800" b="0">
                          <a:solidFill>
                            <a:srgbClr val="193E3A"/>
                          </a:solidFill>
                          <a:latin typeface="Arial"/>
                          <a:ea typeface="Arial"/>
                          <a:cs typeface="Arial"/>
                        </a:rPr>
                        <a:t>0,8211</a:t>
                      </a:r>
                    </a:p>
                  </a:txBody>
                  <a:tcPr marL="91440" marR="91440" marT="45720" marB="45720">
                    <a:lnR w="9525">
                      <a:solidFill>
                        <a:srgbClr val="CBDDD6"/>
                      </a:solidFill>
                      <a:prstDash val="solid"/>
                    </a:lnR>
                    <a:lnB w="9525">
                      <a:solidFill>
                        <a:srgbClr val="CBDDD6"/>
                      </a:solidFill>
                      <a:prstDash val="solid"/>
                    </a:lnB>
                    <a:solidFill>
                      <a:srgbClr val="FFFFFF"/>
                    </a:solidFill>
                  </a:tcPr>
                </a:tc>
                <a:tc>
                  <a:txBody>
                    <a:bodyPr/>
                    <a:lstStyle/>
                    <a:p>
                      <a:r>
                        <a:rPr sz="1800" b="0">
                          <a:solidFill>
                            <a:srgbClr val="193E3A"/>
                          </a:solidFill>
                          <a:latin typeface="Arial"/>
                          <a:ea typeface="Arial"/>
                          <a:cs typeface="Arial"/>
                        </a:rPr>
                        <a:t>0,9581</a:t>
                      </a:r>
                    </a:p>
                  </a:txBody>
                  <a:tcPr marL="91440" marR="91440" marT="45720" marB="45720">
                    <a:lnR w="9525">
                      <a:solidFill>
                        <a:srgbClr val="CBDDD6"/>
                      </a:solidFill>
                      <a:prstDash val="solid"/>
                    </a:lnR>
                    <a:lnB w="9525">
                      <a:solidFill>
                        <a:srgbClr val="CBDDD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45F1A87-F665-4C8B-BAC3-CCB6F1535146}"/>
              </a:ext>
            </a:extLst>
          </p:cNvPr>
          <p:cNvSpPr>
            <a:spLocks xmlns:a="http://schemas.openxmlformats.org/drawingml/2006/main" noGrp="1"/>
          </p:cNvSpPr>
          <p:nvPr/>
        </p:nvSpPr>
        <p:spPr>
          <a:xfrm xmlns:a="http://schemas.openxmlformats.org/drawingml/2006/main">
            <a:off x="609600" y="5133975"/>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1">
                <a:solidFill>
                  <a:srgbClr val="087F77"/>
                </a:solidFill>
                <a:latin typeface="Arial"/>
                <a:ea typeface="Arial"/>
                <a:cs typeface="Arial"/>
              </a:defRPr>
            </a:defPPr>
          </a:lstStyle>
          <a:p xmlns:a="http://schemas.openxmlformats.org/drawingml/2006/main">
            <a:pPr>
              <a:defRPr sz="3150" b="1">
                <a:solidFill>
                  <a:srgbClr val="087F77"/>
                </a:solidFill>
                <a:latin typeface="Arial"/>
                <a:ea typeface="Arial"/>
                <a:cs typeface="Arial"/>
              </a:defRPr>
            </a:pPr>
            <a:r>
              <a:rPr sz="3150" b="1">
                <a:solidFill>
                  <a:srgbClr val="087F77"/>
                </a:solidFill>
                <a:latin typeface="Arial"/>
                <a:ea typeface="Arial"/>
                <a:cs typeface="Arial"/>
              </a:rPr>
              <a:t>+17,48 п.п.</a:t>
            </a:r>
          </a:p>
        </p:txBody>
      </p:sp>
      <p:sp>
        <p:nvSpPr>
          <p:cNvPr id="5" name="">
            <a:extLst xmlns:a="http://schemas.openxmlformats.org/drawingml/2006/main">
              <a:ext uri="{FF2B5EF4-FFF2-40B4-BE49-F238E27FC236}">
                <a16:creationId xmlns:a16="http://schemas.microsoft.com/office/drawing/2014/main" id="{180D2AB2-03F6-457E-BED7-FB5680596CC9}"/>
              </a:ext>
            </a:extLst>
          </p:cNvPr>
          <p:cNvSpPr>
            <a:spLocks xmlns:a="http://schemas.openxmlformats.org/drawingml/2006/main" noGrp="1"/>
          </p:cNvSpPr>
          <p:nvPr/>
        </p:nvSpPr>
        <p:spPr>
          <a:xfrm xmlns:a="http://schemas.openxmlformats.org/drawingml/2006/main">
            <a:off x="628650" y="5857875"/>
            <a:ext cx="533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17C77"/>
                </a:solidFill>
                <a:latin typeface="Arial"/>
                <a:ea typeface="Arial"/>
                <a:cs typeface="Arial"/>
              </a:defRPr>
            </a:defPPr>
          </a:lstStyle>
          <a:p xmlns:a="http://schemas.openxmlformats.org/drawingml/2006/main">
            <a:pPr>
              <a:defRPr sz="1725" b="0">
                <a:solidFill>
                  <a:srgbClr val="617C77"/>
                </a:solidFill>
                <a:latin typeface="Arial"/>
                <a:ea typeface="Arial"/>
                <a:cs typeface="Arial"/>
              </a:defRPr>
            </a:pPr>
            <a:r>
              <a:rPr sz="1725" b="0">
                <a:solidFill>
                  <a:srgbClr val="617C77"/>
                </a:solidFill>
                <a:latin typeface="Arial"/>
                <a:ea typeface="Arial"/>
                <a:cs typeface="Arial"/>
              </a:rPr>
              <a:t>accuracy өсімі, CNN-мен салыстырғанда</a:t>
            </a:r>
          </a:p>
        </p:txBody>
      </p:sp>
      <p:sp>
        <p:nvSpPr>
          <p:cNvPr id="6" name="">
            <a:extLst xmlns:a="http://schemas.openxmlformats.org/drawingml/2006/main">
              <a:ext uri="{FF2B5EF4-FFF2-40B4-BE49-F238E27FC236}">
                <a16:creationId xmlns:a16="http://schemas.microsoft.com/office/drawing/2014/main" id="{9B1A28C1-93A3-474D-AFCC-7B9941132CAF}"/>
              </a:ext>
            </a:extLst>
          </p:cNvPr>
          <p:cNvSpPr>
            <a:spLocks xmlns:a="http://schemas.openxmlformats.org/drawingml/2006/main" noGrp="1"/>
          </p:cNvSpPr>
          <p:nvPr/>
        </p:nvSpPr>
        <p:spPr>
          <a:xfrm xmlns:a="http://schemas.openxmlformats.org/drawingml/2006/main">
            <a:off x="6943725" y="5162550"/>
            <a:ext cx="4572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193E3A"/>
                </a:solidFill>
                <a:latin typeface="Arial"/>
                <a:ea typeface="Arial"/>
                <a:cs typeface="Arial"/>
              </a:defRPr>
            </a:defPPr>
          </a:lstStyle>
          <a:p xmlns:a="http://schemas.openxmlformats.org/drawingml/2006/main">
            <a:pPr>
              <a:defRPr sz="2775" b="1">
                <a:solidFill>
                  <a:srgbClr val="193E3A"/>
                </a:solidFill>
                <a:latin typeface="Arial"/>
                <a:ea typeface="Arial"/>
                <a:cs typeface="Arial"/>
              </a:defRPr>
            </a:pPr>
            <a:r>
              <a:rPr sz="2775" b="1">
                <a:solidFill>
                  <a:srgbClr val="193E3A"/>
                </a:solidFill>
                <a:latin typeface="Arial"/>
                <a:ea typeface="Arial"/>
                <a:cs typeface="Arial"/>
              </a:rPr>
              <a:t>15 FN / 52 FP</a:t>
            </a:r>
          </a:p>
        </p:txBody>
      </p:sp>
      <p:sp>
        <p:nvSpPr>
          <p:cNvPr id="7" name="">
            <a:extLst xmlns:a="http://schemas.openxmlformats.org/drawingml/2006/main">
              <a:ext uri="{FF2B5EF4-FFF2-40B4-BE49-F238E27FC236}">
                <a16:creationId xmlns:a16="http://schemas.microsoft.com/office/drawing/2014/main" id="{E39C3178-E0ED-4DE1-A7ED-D8984C9EECDD}"/>
              </a:ext>
            </a:extLst>
          </p:cNvPr>
          <p:cNvSpPr>
            <a:spLocks xmlns:a="http://schemas.openxmlformats.org/drawingml/2006/main" noGrp="1"/>
          </p:cNvSpPr>
          <p:nvPr/>
        </p:nvSpPr>
        <p:spPr>
          <a:xfrm xmlns:a="http://schemas.openxmlformats.org/drawingml/2006/main">
            <a:off x="6962775" y="5857875"/>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17C77"/>
                </a:solidFill>
                <a:latin typeface="Arial"/>
                <a:ea typeface="Arial"/>
                <a:cs typeface="Arial"/>
              </a:defRPr>
            </a:defPPr>
          </a:lstStyle>
          <a:p xmlns:a="http://schemas.openxmlformats.org/drawingml/2006/main">
            <a:pPr>
              <a:defRPr sz="1725" b="0">
                <a:solidFill>
                  <a:srgbClr val="617C77"/>
                </a:solidFill>
                <a:latin typeface="Arial"/>
                <a:ea typeface="Arial"/>
                <a:cs typeface="Arial"/>
              </a:defRPr>
            </a:pPr>
            <a:r>
              <a:rPr sz="1725" b="0">
                <a:solidFill>
                  <a:srgbClr val="617C77"/>
                </a:solidFill>
                <a:latin typeface="Arial"/>
                <a:ea typeface="Arial"/>
                <a:cs typeface="Arial"/>
              </a:rPr>
              <a:t>90% accuracy мақсатына жетпеді</a:t>
            </a:r>
          </a:p>
        </p:txBody>
      </p:sp>
    </p:spTree>
    <p:extLst>
      <p:ext uri="{BB962C8B-B14F-4D97-AF65-F5344CB8AC3E}">
        <p14:creationId xmlns:p14="http://schemas.microsoft.com/office/powerpoint/2010/main" val="813002931"/>
      </p:ext>
    </p:extLst>
  </p:cSld>
</p:sld>
</file>

<file path=ppt/slides/slide7.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738C2B-E224-4678-AE4A-10161C5245DD}"/>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93E3A"/>
                </a:solidFill>
                <a:latin typeface="Arial"/>
                <a:ea typeface="Arial"/>
                <a:cs typeface="Arial"/>
              </a:defRPr>
            </a:defPPr>
          </a:lstStyle>
          <a:p xmlns:a="http://schemas.openxmlformats.org/drawingml/2006/main">
            <a:pPr>
              <a:defRPr sz="3225" b="1">
                <a:solidFill>
                  <a:srgbClr val="193E3A"/>
                </a:solidFill>
                <a:latin typeface="Arial"/>
                <a:ea typeface="Arial"/>
                <a:cs typeface="Arial"/>
              </a:defRPr>
            </a:pPr>
            <a:r>
              <a:rPr sz="3225" b="1">
                <a:solidFill>
                  <a:srgbClr val="193E3A"/>
                </a:solidFill>
                <a:latin typeface="Arial"/>
                <a:ea typeface="Arial"/>
                <a:cs typeface="Arial"/>
              </a:rPr>
              <a:t>Бір сурет және екі модель</a:t>
            </a:r>
          </a:p>
        </p:txBody>
      </p:sp>
      <p:sp>
        <p:nvSpPr>
          <p:cNvPr id="2" name="">
            <a:extLst xmlns:a="http://schemas.openxmlformats.org/drawingml/2006/main">
              <a:ext uri="{FF2B5EF4-FFF2-40B4-BE49-F238E27FC236}">
                <a16:creationId xmlns:a16="http://schemas.microsoft.com/office/drawing/2014/main" id="{EE0E43D7-907F-486D-B6F6-4F4505D79D62}"/>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4ADB8296-A7EC-4EF5-9FD9-71678BE8B6C5}"/>
              </a:ext>
            </a:extLst>
          </p:cNvPr>
          <p:cNvPicPr>
            <a:picLocks xmlns:a="http://schemas.openxmlformats.org/drawingml/2006/main" noChangeAspect="1"/>
          </p:cNvPicPr>
          <p:nvPr/>
        </p:nvPicPr>
        <p:blipFill>
          <a:blip xmlns:r="http://schemas.openxmlformats.org/officeDocument/2006/relationships" xmlns:a="http://schemas.openxmlformats.org/drawingml/2006/main" r:embed="Rb264804023b54073"/>
          <a:stretch xmlns:a="http://schemas.openxmlformats.org/drawingml/2006/main"/>
        </p:blipFill>
        <p:spPr>
          <a:xfrm xmlns:a="http://schemas.openxmlformats.org/drawingml/2006/main">
            <a:off x="860203" y="1743075"/>
            <a:ext cx="6794944" cy="4457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C783AF-4F81-48FF-BEC5-157E4809AD97}"/>
              </a:ext>
            </a:extLst>
          </p:cNvPr>
          <p:cNvSpPr>
            <a:spLocks xmlns:a="http://schemas.openxmlformats.org/drawingml/2006/main" noGrp="1"/>
          </p:cNvSpPr>
          <p:nvPr/>
        </p:nvSpPr>
        <p:spPr>
          <a:xfrm xmlns:a="http://schemas.openxmlformats.org/drawingml/2006/main">
            <a:off x="8429625" y="18954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87F77"/>
                </a:solidFill>
                <a:latin typeface="Arial"/>
                <a:ea typeface="Arial"/>
                <a:cs typeface="Arial"/>
              </a:defRPr>
            </a:defPPr>
          </a:lstStyle>
          <a:p xmlns:a="http://schemas.openxmlformats.org/drawingml/2006/main">
            <a:pPr>
              <a:defRPr sz="2400" b="1">
                <a:solidFill>
                  <a:srgbClr val="087F77"/>
                </a:solidFill>
                <a:latin typeface="Arial"/>
                <a:ea typeface="Arial"/>
                <a:cs typeface="Arial"/>
              </a:defRPr>
            </a:pPr>
            <a:r>
              <a:rPr sz="2400" b="1">
                <a:solidFill>
                  <a:srgbClr val="087F77"/>
                </a:solidFill>
                <a:latin typeface="Arial"/>
                <a:ea typeface="Arial"/>
                <a:cs typeface="Arial"/>
              </a:rPr>
              <a:t>JPG / PNG</a:t>
            </a:r>
          </a:p>
        </p:txBody>
      </p:sp>
      <p:sp>
        <p:nvSpPr>
          <p:cNvPr id="5" name="">
            <a:extLst xmlns:a="http://schemas.openxmlformats.org/drawingml/2006/main">
              <a:ext uri="{FF2B5EF4-FFF2-40B4-BE49-F238E27FC236}">
                <a16:creationId xmlns:a16="http://schemas.microsoft.com/office/drawing/2014/main" id="{B8502B56-C101-48ED-924C-8DE7379037A9}"/>
              </a:ext>
            </a:extLst>
          </p:cNvPr>
          <p:cNvSpPr>
            <a:spLocks xmlns:a="http://schemas.openxmlformats.org/drawingml/2006/main" noGrp="1"/>
          </p:cNvSpPr>
          <p:nvPr/>
        </p:nvSpPr>
        <p:spPr>
          <a:xfrm xmlns:a="http://schemas.openxmlformats.org/drawingml/2006/main">
            <a:off x="8429625" y="2619375"/>
            <a:ext cx="309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17C77"/>
                </a:solidFill>
                <a:latin typeface="Arial"/>
                <a:ea typeface="Arial"/>
                <a:cs typeface="Arial"/>
              </a:defRPr>
            </a:defPPr>
          </a:lstStyle>
          <a:p xmlns:a="http://schemas.openxmlformats.org/drawingml/2006/main">
            <a:pPr>
              <a:defRPr sz="1950" b="0">
                <a:solidFill>
                  <a:srgbClr val="617C77"/>
                </a:solidFill>
                <a:latin typeface="Arial"/>
                <a:ea typeface="Arial"/>
                <a:cs typeface="Arial"/>
              </a:defRPr>
            </a:pPr>
            <a:r>
              <a:rPr sz="1950" b="0">
                <a:solidFill>
                  <a:srgbClr val="617C77"/>
                </a:solidFill>
                <a:latin typeface="Arial"/>
                <a:ea typeface="Arial"/>
                <a:cs typeface="Arial"/>
              </a:rPr>
              <a:t>Бір топта 10 суретке дейін</a:t>
            </a:r>
          </a:p>
          <a:p xmlns:a="http://schemas.openxmlformats.org/drawingml/2006/main">
            <a:pPr>
              <a:defRPr sz="1950" b="0">
                <a:solidFill>
                  <a:srgbClr val="617C77"/>
                </a:solidFill>
                <a:latin typeface="Arial"/>
                <a:ea typeface="Arial"/>
                <a:cs typeface="Arial"/>
              </a:defRPr>
            </a:pPr>
            <a:r>
              <a:rPr sz="1950" b="0">
                <a:solidFill>
                  <a:srgbClr val="617C77"/>
                </a:solidFill>
                <a:latin typeface="Arial"/>
                <a:ea typeface="Arial"/>
                <a:cs typeface="Arial"/>
              </a:rPr>
              <a:t>Әр файл ≤ 12 МБ</a:t>
            </a:r>
          </a:p>
        </p:txBody>
      </p:sp>
      <p:sp>
        <p:nvSpPr>
          <p:cNvPr id="6" name="">
            <a:extLst xmlns:a="http://schemas.openxmlformats.org/drawingml/2006/main">
              <a:ext uri="{FF2B5EF4-FFF2-40B4-BE49-F238E27FC236}">
                <a16:creationId xmlns:a16="http://schemas.microsoft.com/office/drawing/2014/main" id="{505080B8-A4AE-407D-ABFF-6657DE7048C7}"/>
              </a:ext>
            </a:extLst>
          </p:cNvPr>
          <p:cNvSpPr>
            <a:spLocks xmlns:a="http://schemas.openxmlformats.org/drawingml/2006/main" noGrp="1"/>
          </p:cNvSpPr>
          <p:nvPr/>
        </p:nvSpPr>
        <p:spPr>
          <a:xfrm xmlns:a="http://schemas.openxmlformats.org/drawingml/2006/main">
            <a:off x="8429625" y="41148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93E3A"/>
                </a:solidFill>
                <a:latin typeface="Arial"/>
                <a:ea typeface="Arial"/>
                <a:cs typeface="Arial"/>
              </a:defRPr>
            </a:defPPr>
          </a:lstStyle>
          <a:p xmlns:a="http://schemas.openxmlformats.org/drawingml/2006/main">
            <a:pPr>
              <a:defRPr sz="2325" b="1">
                <a:solidFill>
                  <a:srgbClr val="193E3A"/>
                </a:solidFill>
                <a:latin typeface="Arial"/>
                <a:ea typeface="Arial"/>
                <a:cs typeface="Arial"/>
              </a:defRPr>
            </a:pPr>
            <a:r>
              <a:rPr sz="2325" b="1">
                <a:solidFill>
                  <a:srgbClr val="193E3A"/>
                </a:solidFill>
                <a:latin typeface="Arial"/>
                <a:ea typeface="Arial"/>
                <a:cs typeface="Arial"/>
              </a:rPr>
              <a:t>Санат, балл және</a:t>
            </a:r>
          </a:p>
          <a:p xmlns:a="http://schemas.openxmlformats.org/drawingml/2006/main">
            <a:pPr>
              <a:defRPr sz="2325" b="1">
                <a:solidFill>
                  <a:srgbClr val="193E3A"/>
                </a:solidFill>
                <a:latin typeface="Arial"/>
                <a:ea typeface="Arial"/>
                <a:cs typeface="Arial"/>
              </a:defRPr>
            </a:pPr>
            <a:r>
              <a:rPr sz="2325" b="1">
                <a:solidFill>
                  <a:srgbClr val="193E3A"/>
                </a:solidFill>
                <a:latin typeface="Arial"/>
                <a:ea typeface="Arial"/>
                <a:cs typeface="Arial"/>
              </a:rPr>
              <a:t>шешім шегі</a:t>
            </a:r>
          </a:p>
        </p:txBody>
      </p:sp>
      <p:sp>
        <p:nvSpPr>
          <p:cNvPr id="7" name="">
            <a:extLst xmlns:a="http://schemas.openxmlformats.org/drawingml/2006/main">
              <a:ext uri="{FF2B5EF4-FFF2-40B4-BE49-F238E27FC236}">
                <a16:creationId xmlns:a16="http://schemas.microsoft.com/office/drawing/2014/main" id="{507800CE-743C-4B24-BB58-8C54BC023ED3}"/>
              </a:ext>
            </a:extLst>
          </p:cNvPr>
          <p:cNvSpPr>
            <a:spLocks xmlns:a="http://schemas.openxmlformats.org/drawingml/2006/main" noGrp="1"/>
          </p:cNvSpPr>
          <p:nvPr/>
        </p:nvSpPr>
        <p:spPr>
          <a:xfrm xmlns:a="http://schemas.openxmlformats.org/drawingml/2006/main">
            <a:off x="8429625" y="5276850"/>
            <a:ext cx="3095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17C77"/>
                </a:solidFill>
                <a:latin typeface="Arial"/>
                <a:ea typeface="Arial"/>
                <a:cs typeface="Arial"/>
              </a:defRPr>
            </a:defPPr>
          </a:lstStyle>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Болжамдардың сәйкестігін</a:t>
            </a:r>
          </a:p>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бір экранда көру</a:t>
            </a:r>
          </a:p>
        </p:txBody>
      </p:sp>
    </p:spTree>
    <p:extLst>
      <p:ext uri="{BB962C8B-B14F-4D97-AF65-F5344CB8AC3E}">
        <p14:creationId xmlns:p14="http://schemas.microsoft.com/office/powerpoint/2010/main" val="2144803041"/>
      </p:ext>
    </p:extLst>
  </p:cSld>
</p:sld>
</file>

<file path=ppt/slides/slide8.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133CA6-F97E-4619-9E9C-425E60199341}"/>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93E3A"/>
                </a:solidFill>
                <a:latin typeface="Arial"/>
                <a:ea typeface="Arial"/>
                <a:cs typeface="Arial"/>
              </a:defRPr>
            </a:defPPr>
          </a:lstStyle>
          <a:p xmlns:a="http://schemas.openxmlformats.org/drawingml/2006/main">
            <a:pPr>
              <a:defRPr sz="3225" b="1">
                <a:solidFill>
                  <a:srgbClr val="193E3A"/>
                </a:solidFill>
                <a:latin typeface="Arial"/>
                <a:ea typeface="Arial"/>
                <a:cs typeface="Arial"/>
              </a:defRPr>
            </a:pPr>
            <a:r>
              <a:rPr sz="3225" b="1">
                <a:solidFill>
                  <a:srgbClr val="193E3A"/>
                </a:solidFill>
                <a:latin typeface="Arial"/>
                <a:ea typeface="Arial"/>
                <a:cs typeface="Arial"/>
              </a:rPr>
              <a:t>Grad-CAM: модель назарын көрсету</a:t>
            </a:r>
          </a:p>
        </p:txBody>
      </p:sp>
      <p:sp>
        <p:nvSpPr>
          <p:cNvPr id="2" name="">
            <a:extLst xmlns:a="http://schemas.openxmlformats.org/drawingml/2006/main">
              <a:ext uri="{FF2B5EF4-FFF2-40B4-BE49-F238E27FC236}">
                <a16:creationId xmlns:a16="http://schemas.microsoft.com/office/drawing/2014/main" id="{AE2EF3AD-8B4F-4A1C-9732-CF7DB8C07A0D}"/>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F43296C3-5451-4C60-A28D-F8853848611C}"/>
              </a:ext>
            </a:extLst>
          </p:cNvPr>
          <p:cNvPicPr>
            <a:picLocks xmlns:a="http://schemas.openxmlformats.org/drawingml/2006/main" noChangeAspect="1"/>
          </p:cNvPicPr>
          <p:nvPr/>
        </p:nvPicPr>
        <p:blipFill>
          <a:blip xmlns:r="http://schemas.openxmlformats.org/officeDocument/2006/relationships" xmlns:a="http://schemas.openxmlformats.org/drawingml/2006/main" r:embed="Ra4b335d3672040e8"/>
          <a:stretch xmlns:a="http://schemas.openxmlformats.org/drawingml/2006/main"/>
        </p:blipFill>
        <p:spPr>
          <a:xfrm xmlns:a="http://schemas.openxmlformats.org/drawingml/2006/main">
            <a:off x="780348" y="1695450"/>
            <a:ext cx="6954654" cy="45624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8EB5D2A-DF91-4497-81DC-612692BF1C25}"/>
              </a:ext>
            </a:extLst>
          </p:cNvPr>
          <p:cNvSpPr>
            <a:spLocks xmlns:a="http://schemas.openxmlformats.org/drawingml/2006/main" noGrp="1"/>
          </p:cNvSpPr>
          <p:nvPr/>
        </p:nvSpPr>
        <p:spPr>
          <a:xfrm xmlns:a="http://schemas.openxmlformats.org/drawingml/2006/main">
            <a:off x="8429625" y="18954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87F77"/>
                </a:solidFill>
                <a:latin typeface="Arial"/>
                <a:ea typeface="Arial"/>
                <a:cs typeface="Arial"/>
              </a:defRPr>
            </a:defPPr>
          </a:lstStyle>
          <a:p xmlns:a="http://schemas.openxmlformats.org/drawingml/2006/main">
            <a:pPr>
              <a:defRPr sz="2550" b="1">
                <a:solidFill>
                  <a:srgbClr val="087F77"/>
                </a:solidFill>
                <a:latin typeface="Arial"/>
                <a:ea typeface="Arial"/>
                <a:cs typeface="Arial"/>
              </a:defRPr>
            </a:pPr>
            <a:r>
              <a:rPr sz="2550" b="1">
                <a:solidFill>
                  <a:srgbClr val="087F77"/>
                </a:solidFill>
                <a:latin typeface="Arial"/>
                <a:ea typeface="Arial"/>
                <a:cs typeface="Arial"/>
              </a:rPr>
              <a:t>Модель назары</a:t>
            </a:r>
          </a:p>
        </p:txBody>
      </p:sp>
      <p:sp>
        <p:nvSpPr>
          <p:cNvPr id="5" name="">
            <a:extLst xmlns:a="http://schemas.openxmlformats.org/drawingml/2006/main">
              <a:ext uri="{FF2B5EF4-FFF2-40B4-BE49-F238E27FC236}">
                <a16:creationId xmlns:a16="http://schemas.microsoft.com/office/drawing/2014/main" id="{BAB52083-772D-4712-B8C1-BBA51030F347}"/>
              </a:ext>
            </a:extLst>
          </p:cNvPr>
          <p:cNvSpPr>
            <a:spLocks xmlns:a="http://schemas.openxmlformats.org/drawingml/2006/main" noGrp="1"/>
          </p:cNvSpPr>
          <p:nvPr/>
        </p:nvSpPr>
        <p:spPr>
          <a:xfrm xmlns:a="http://schemas.openxmlformats.org/drawingml/2006/main">
            <a:off x="8429625" y="322897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93E3A"/>
                </a:solidFill>
                <a:latin typeface="Arial"/>
                <a:ea typeface="Arial"/>
                <a:cs typeface="Arial"/>
              </a:defRPr>
            </a:defPPr>
          </a:lstStyle>
          <a:p xmlns:a="http://schemas.openxmlformats.org/drawingml/2006/main">
            <a:pPr>
              <a:defRPr sz="2025" b="0">
                <a:solidFill>
                  <a:srgbClr val="193E3A"/>
                </a:solidFill>
                <a:latin typeface="Arial"/>
                <a:ea typeface="Arial"/>
                <a:cs typeface="Arial"/>
              </a:defRPr>
            </a:pPr>
            <a:r>
              <a:rPr sz="2025" b="0">
                <a:solidFill>
                  <a:srgbClr val="193E3A"/>
                </a:solidFill>
                <a:latin typeface="Arial"/>
                <a:ea typeface="Arial"/>
                <a:cs typeface="Arial"/>
              </a:rPr>
              <a:t>Түпнұсқа / жылу картасы</a:t>
            </a:r>
          </a:p>
          <a:p xmlns:a="http://schemas.openxmlformats.org/drawingml/2006/main">
            <a:pPr>
              <a:defRPr sz="2025" b="0">
                <a:solidFill>
                  <a:srgbClr val="193E3A"/>
                </a:solidFill>
                <a:latin typeface="Arial"/>
                <a:ea typeface="Arial"/>
                <a:cs typeface="Arial"/>
              </a:defRPr>
            </a:pPr>
            <a:r>
              <a:rPr sz="2025" b="0">
                <a:solidFill>
                  <a:srgbClr val="193E3A"/>
                </a:solidFill>
                <a:latin typeface="Arial"/>
                <a:ea typeface="Arial"/>
                <a:cs typeface="Arial"/>
              </a:rPr>
              <a:t>Белгіленген PNG жүктеу</a:t>
            </a:r>
          </a:p>
        </p:txBody>
      </p:sp>
      <p:sp>
        <p:nvSpPr>
          <p:cNvPr id="6" name="">
            <a:extLst xmlns:a="http://schemas.openxmlformats.org/drawingml/2006/main">
              <a:ext uri="{FF2B5EF4-FFF2-40B4-BE49-F238E27FC236}">
                <a16:creationId xmlns:a16="http://schemas.microsoft.com/office/drawing/2014/main" id="{55E8D5EA-5837-4523-9E41-B8EFF07D516C}"/>
              </a:ext>
            </a:extLst>
          </p:cNvPr>
          <p:cNvSpPr>
            <a:spLocks xmlns:a="http://schemas.openxmlformats.org/drawingml/2006/main" noGrp="1"/>
          </p:cNvSpPr>
          <p:nvPr/>
        </p:nvSpPr>
        <p:spPr>
          <a:xfrm xmlns:a="http://schemas.openxmlformats.org/drawingml/2006/main">
            <a:off x="8429625" y="4895850"/>
            <a:ext cx="3143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17C77"/>
                </a:solidFill>
                <a:latin typeface="Arial"/>
                <a:ea typeface="Arial"/>
                <a:cs typeface="Arial"/>
              </a:defRPr>
            </a:defPPr>
          </a:lstStyle>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Карта ықпалды аймақтарды</a:t>
            </a:r>
          </a:p>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жуық көрсетеді. Зақымның</a:t>
            </a:r>
          </a:p>
          <a:p xmlns:a="http://schemas.openxmlformats.org/drawingml/2006/main">
            <a:pPr>
              <a:defRPr sz="1875" b="0">
                <a:solidFill>
                  <a:srgbClr val="617C77"/>
                </a:solidFill>
                <a:latin typeface="Arial"/>
                <a:ea typeface="Arial"/>
                <a:cs typeface="Arial"/>
              </a:defRPr>
            </a:pPr>
            <a:r>
              <a:rPr sz="1875" b="0">
                <a:solidFill>
                  <a:srgbClr val="617C77"/>
                </a:solidFill>
                <a:latin typeface="Arial"/>
                <a:ea typeface="Arial"/>
                <a:cs typeface="Arial"/>
              </a:rPr>
              <a:t>нақты шекарасын бермейді.</a:t>
            </a:r>
          </a:p>
        </p:txBody>
      </p:sp>
    </p:spTree>
    <p:extLst>
      <p:ext uri="{BB962C8B-B14F-4D97-AF65-F5344CB8AC3E}">
        <p14:creationId xmlns:p14="http://schemas.microsoft.com/office/powerpoint/2010/main" val="67803543"/>
      </p:ext>
    </p:extLst>
  </p:cSld>
</p:sld>
</file>

<file path=ppt/slides/slide9.xml><?xml version="1.0" encoding="utf-8"?>
<p:sld xmlns:p="http://schemas.openxmlformats.org/presentationml/2006/main">
  <p:cSld>
    <p:bg>
      <p:bgPr>
        <a:solidFill xmlns:a="http://schemas.openxmlformats.org/drawingml/2006/main">
          <a:srgbClr val="F6FA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299F64-CC26-402C-81BD-4F732A512FFE}"/>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93E3A"/>
                </a:solidFill>
                <a:latin typeface="Arial"/>
                <a:ea typeface="Arial"/>
                <a:cs typeface="Arial"/>
              </a:defRPr>
            </a:defPPr>
          </a:lstStyle>
          <a:p xmlns:a="http://schemas.openxmlformats.org/drawingml/2006/main">
            <a:pPr>
              <a:defRPr sz="3225" b="1">
                <a:solidFill>
                  <a:srgbClr val="193E3A"/>
                </a:solidFill>
                <a:latin typeface="Arial"/>
                <a:ea typeface="Arial"/>
                <a:cs typeface="Arial"/>
              </a:defRPr>
            </a:pPr>
            <a:r>
              <a:rPr sz="3225" b="1">
                <a:solidFill>
                  <a:srgbClr val="193E3A"/>
                </a:solidFill>
                <a:latin typeface="Arial"/>
                <a:ea typeface="Arial"/>
                <a:cs typeface="Arial"/>
              </a:rPr>
              <a:t>Қорытынды есеп және талдау тарихы</a:t>
            </a:r>
          </a:p>
        </p:txBody>
      </p:sp>
      <p:sp>
        <p:nvSpPr>
          <p:cNvPr id="2" name="">
            <a:extLst xmlns:a="http://schemas.openxmlformats.org/drawingml/2006/main">
              <a:ext uri="{FF2B5EF4-FFF2-40B4-BE49-F238E27FC236}">
                <a16:creationId xmlns:a16="http://schemas.microsoft.com/office/drawing/2014/main" id="{354845F2-9D71-42C9-9ADC-4E3950A86417}"/>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17C77"/>
                </a:solidFill>
                <a:latin typeface="Arial"/>
                <a:ea typeface="Arial"/>
                <a:cs typeface="Arial"/>
              </a:defRPr>
            </a:defPPr>
          </a:lstStyle>
          <a:p xmlns:a="http://schemas.openxmlformats.org/drawingml/2006/main">
            <a:pPr>
              <a:defRPr sz="1275" b="0">
                <a:solidFill>
                  <a:srgbClr val="617C77"/>
                </a:solidFill>
                <a:latin typeface="Arial"/>
                <a:ea typeface="Arial"/>
                <a:cs typeface="Arial"/>
              </a:defRPr>
            </a:pPr>
            <a:r>
              <a:rPr sz="1275" b="0">
                <a:solidFill>
                  <a:srgbClr val="617C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EAAF0538-6580-4CA4-89F2-E006D613247D}"/>
              </a:ext>
            </a:extLst>
          </p:cNvPr>
          <p:cNvPicPr>
            <a:picLocks xmlns:a="http://schemas.openxmlformats.org/drawingml/2006/main" noChangeAspect="1"/>
          </p:cNvPicPr>
          <p:nvPr/>
        </p:nvPicPr>
        <p:blipFill>
          <a:blip xmlns:r="http://schemas.openxmlformats.org/officeDocument/2006/relationships" xmlns:a="http://schemas.openxmlformats.org/drawingml/2006/main" r:embed="R53c038bdb16e4ad0"/>
          <a:stretch xmlns:a="http://schemas.openxmlformats.org/drawingml/2006/main"/>
        </p:blipFill>
        <p:spPr>
          <a:xfrm xmlns:a="http://schemas.openxmlformats.org/drawingml/2006/main">
            <a:off x="523875" y="1736494"/>
            <a:ext cx="6524625" cy="4280362"/>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7665AD7-32BF-45A2-8545-816328CE618A}"/>
              </a:ext>
            </a:extLst>
          </p:cNvPr>
          <p:cNvPicPr>
            <a:picLocks xmlns:a="http://schemas.openxmlformats.org/drawingml/2006/main" noChangeAspect="1"/>
          </p:cNvPicPr>
          <p:nvPr/>
        </p:nvPicPr>
        <p:blipFill>
          <a:blip xmlns:r="http://schemas.openxmlformats.org/officeDocument/2006/relationships" xmlns:a="http://schemas.openxmlformats.org/drawingml/2006/main" r:embed="R1df61b873fcf4630"/>
          <a:stretch xmlns:a="http://schemas.openxmlformats.org/drawingml/2006/main"/>
        </p:blipFill>
        <p:spPr>
          <a:xfrm xmlns:a="http://schemas.openxmlformats.org/drawingml/2006/main">
            <a:off x="7419975" y="1677160"/>
            <a:ext cx="2867025" cy="405613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D3A8D23-FC49-4980-AD98-4109201CDCE0}"/>
              </a:ext>
            </a:extLst>
          </p:cNvPr>
          <p:cNvSpPr>
            <a:spLocks xmlns:a="http://schemas.openxmlformats.org/drawingml/2006/main" noGrp="1"/>
          </p:cNvSpPr>
          <p:nvPr/>
        </p:nvSpPr>
        <p:spPr>
          <a:xfrm xmlns:a="http://schemas.openxmlformats.org/drawingml/2006/main">
            <a:off x="609600" y="616267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87F77"/>
                </a:solidFill>
                <a:latin typeface="Arial"/>
                <a:ea typeface="Arial"/>
                <a:cs typeface="Arial"/>
              </a:defRPr>
            </a:defPPr>
          </a:lstStyle>
          <a:p xmlns:a="http://schemas.openxmlformats.org/drawingml/2006/main">
            <a:pPr>
              <a:defRPr sz="1725" b="1">
                <a:solidFill>
                  <a:srgbClr val="087F77"/>
                </a:solidFill>
                <a:latin typeface="Arial"/>
                <a:ea typeface="Arial"/>
                <a:cs typeface="Arial"/>
              </a:defRPr>
            </a:pPr>
            <a:r>
              <a:rPr sz="1725" b="1">
                <a:solidFill>
                  <a:srgbClr val="087F77"/>
                </a:solidFill>
                <a:latin typeface="Arial"/>
                <a:ea typeface="Arial"/>
                <a:cs typeface="Arial"/>
              </a:rPr>
              <a:t>Соңғы 20 талдауға қайта оралу</a:t>
            </a:r>
          </a:p>
        </p:txBody>
      </p:sp>
      <p:sp>
        <p:nvSpPr>
          <p:cNvPr id="6" name="">
            <a:extLst xmlns:a="http://schemas.openxmlformats.org/drawingml/2006/main">
              <a:ext uri="{FF2B5EF4-FFF2-40B4-BE49-F238E27FC236}">
                <a16:creationId xmlns:a16="http://schemas.microsoft.com/office/drawing/2014/main" id="{6015357C-F098-493E-AD14-1575D4E9CAFF}"/>
              </a:ext>
            </a:extLst>
          </p:cNvPr>
          <p:cNvSpPr>
            <a:spLocks xmlns:a="http://schemas.openxmlformats.org/drawingml/2006/main" noGrp="1"/>
          </p:cNvSpPr>
          <p:nvPr/>
        </p:nvSpPr>
        <p:spPr>
          <a:xfrm xmlns:a="http://schemas.openxmlformats.org/drawingml/2006/main">
            <a:off x="7600950" y="6162675"/>
            <a:ext cx="32670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087F77"/>
                </a:solidFill>
                <a:latin typeface="Arial"/>
                <a:ea typeface="Arial"/>
                <a:cs typeface="Arial"/>
              </a:defRPr>
            </a:defPPr>
          </a:lstStyle>
          <a:p xmlns:a="http://schemas.openxmlformats.org/drawingml/2006/main">
            <a:pPr>
              <a:defRPr sz="1725" b="1">
                <a:solidFill>
                  <a:srgbClr val="087F77"/>
                </a:solidFill>
                <a:latin typeface="Arial"/>
                <a:ea typeface="Arial"/>
                <a:cs typeface="Arial"/>
              </a:defRPr>
            </a:pPr>
            <a:r>
              <a:rPr sz="1725" b="1">
                <a:solidFill>
                  <a:srgbClr val="087F77"/>
                </a:solidFill>
                <a:latin typeface="Arial"/>
                <a:ea typeface="Arial"/>
                <a:cs typeface="Arial"/>
              </a:rPr>
              <a:t>PDF / мәтін есебі</a:t>
            </a:r>
          </a:p>
        </p:txBody>
      </p:sp>
    </p:spTree>
    <p:extLst>
      <p:ext uri="{BB962C8B-B14F-4D97-AF65-F5344CB8AC3E}">
        <p14:creationId xmlns:p14="http://schemas.microsoft.com/office/powerpoint/2010/main" val="99876860"/>
      </p:ext>
    </p:extLst>
  </p:cSld>
</p:sld>
</file>

<file path=ppt/slides/slide10.xml><?xml version="1.0" encoding="utf-8"?>
<p:sld xmlns:p="http://schemas.openxmlformats.org/presentationml/2006/main">
  <p:cSld>
    <p:bg>
      <p:bgPr>
        <a:solidFill xmlns:a="http://schemas.openxmlformats.org/drawingml/2006/main">
          <a:srgbClr val="193E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4C3BAE-4F07-453C-9DC3-30B491852765}"/>
              </a:ext>
            </a:extLst>
          </p:cNvPr>
          <p:cNvSpPr>
            <a:spLocks xmlns:a="http://schemas.openxmlformats.org/drawingml/2006/main" noGrp="1"/>
          </p:cNvSpPr>
          <p:nvPr/>
        </p:nvSpPr>
        <p:spPr>
          <a:xfrm xmlns:a="http://schemas.openxmlformats.org/drawingml/2006/main">
            <a:off x="609600" y="495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Жоба нәтижесі және келесі кезең</a:t>
            </a:r>
          </a:p>
        </p:txBody>
      </p:sp>
      <p:sp>
        <p:nvSpPr>
          <p:cNvPr id="2" name="">
            <a:extLst xmlns:a="http://schemas.openxmlformats.org/drawingml/2006/main">
              <a:ext uri="{FF2B5EF4-FFF2-40B4-BE49-F238E27FC236}">
                <a16:creationId xmlns:a16="http://schemas.microsoft.com/office/drawing/2014/main" id="{A0E8EB6C-0C1F-43FC-B77D-01BC79C81FAF}"/>
              </a:ext>
            </a:extLst>
          </p:cNvPr>
          <p:cNvSpPr>
            <a:spLocks xmlns:a="http://schemas.openxmlformats.org/drawingml/2006/main" noGrp="1"/>
          </p:cNvSpPr>
          <p:nvPr/>
        </p:nvSpPr>
        <p:spPr>
          <a:xfrm xmlns:a="http://schemas.openxmlformats.org/drawingml/2006/main">
            <a:off x="11077575" y="63150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B8E5D8"/>
                </a:solidFill>
                <a:latin typeface="Arial"/>
                <a:ea typeface="Arial"/>
                <a:cs typeface="Arial"/>
              </a:defRPr>
            </a:defPPr>
          </a:lstStyle>
          <a:p xmlns:a="http://schemas.openxmlformats.org/drawingml/2006/main">
            <a:pPr>
              <a:defRPr sz="1275" b="0">
                <a:solidFill>
                  <a:srgbClr val="B8E5D8"/>
                </a:solidFill>
                <a:latin typeface="Arial"/>
                <a:ea typeface="Arial"/>
                <a:cs typeface="Arial"/>
              </a:defRPr>
            </a:pPr>
            <a:r>
              <a:rPr sz="1275" b="0">
                <a:solidFill>
                  <a:srgbClr val="B8E5D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EE06768-3186-40F3-BD95-227F0096DC03}"/>
              </a:ext>
            </a:extLst>
          </p:cNvPr>
          <p:cNvSpPr>
            <a:spLocks xmlns:a="http://schemas.openxmlformats.org/drawingml/2006/main" noGrp="1"/>
          </p:cNvSpPr>
          <p:nvPr/>
        </p:nvSpPr>
        <p:spPr>
          <a:xfrm xmlns:a="http://schemas.openxmlformats.org/drawingml/2006/main">
            <a:off x="609600" y="179070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8E5D8"/>
                </a:solidFill>
                <a:latin typeface="Arial"/>
                <a:ea typeface="Arial"/>
                <a:cs typeface="Arial"/>
              </a:defRPr>
            </a:defPPr>
          </a:lstStyle>
          <a:p xmlns:a="http://schemas.openxmlformats.org/drawingml/2006/main">
            <a:pPr>
              <a:defRPr sz="2325" b="1">
                <a:solidFill>
                  <a:srgbClr val="B8E5D8"/>
                </a:solidFill>
                <a:latin typeface="Arial"/>
                <a:ea typeface="Arial"/>
                <a:cs typeface="Arial"/>
              </a:defRPr>
            </a:pPr>
            <a:r>
              <a:rPr sz="2325" b="1">
                <a:solidFill>
                  <a:srgbClr val="B8E5D8"/>
                </a:solidFill>
                <a:latin typeface="Arial"/>
                <a:ea typeface="Arial"/>
                <a:cs typeface="Arial"/>
              </a:rPr>
              <a:t>Орындалды</a:t>
            </a:r>
          </a:p>
        </p:txBody>
      </p:sp>
      <p:sp>
        <p:nvSpPr>
          <p:cNvPr id="4" name="">
            <a:extLst xmlns:a="http://schemas.openxmlformats.org/drawingml/2006/main">
              <a:ext uri="{FF2B5EF4-FFF2-40B4-BE49-F238E27FC236}">
                <a16:creationId xmlns:a16="http://schemas.microsoft.com/office/drawing/2014/main" id="{F6AF01EE-554D-450A-B8CE-27277DB316CF}"/>
              </a:ext>
            </a:extLst>
          </p:cNvPr>
          <p:cNvSpPr>
            <a:spLocks xmlns:a="http://schemas.openxmlformats.org/drawingml/2006/main" noGrp="1"/>
          </p:cNvSpPr>
          <p:nvPr/>
        </p:nvSpPr>
        <p:spPr>
          <a:xfrm xmlns:a="http://schemas.openxmlformats.org/drawingml/2006/main">
            <a:off x="619125" y="2524125"/>
            <a:ext cx="53340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Екі үйретілген модель</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Қазақша жұмыс істейтін сайт</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Grad-CAM және есептер</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Талдау тарихы</a:t>
            </a:r>
          </a:p>
        </p:txBody>
      </p:sp>
      <p:sp>
        <p:nvSpPr>
          <p:cNvPr id="5" name="">
            <a:extLst xmlns:a="http://schemas.openxmlformats.org/drawingml/2006/main">
              <a:ext uri="{FF2B5EF4-FFF2-40B4-BE49-F238E27FC236}">
                <a16:creationId xmlns:a16="http://schemas.microsoft.com/office/drawing/2014/main" id="{DF4D3831-1780-4EE7-9548-E2BD4E735B95}"/>
              </a:ext>
            </a:extLst>
          </p:cNvPr>
          <p:cNvSpPr>
            <a:spLocks xmlns:a="http://schemas.openxmlformats.org/drawingml/2006/main" noGrp="1"/>
          </p:cNvSpPr>
          <p:nvPr/>
        </p:nvSpPr>
        <p:spPr>
          <a:xfrm xmlns:a="http://schemas.openxmlformats.org/drawingml/2006/main">
            <a:off x="6753225" y="1790700"/>
            <a:ext cx="4810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8E5D8"/>
                </a:solidFill>
                <a:latin typeface="Arial"/>
                <a:ea typeface="Arial"/>
                <a:cs typeface="Arial"/>
              </a:defRPr>
            </a:defPPr>
          </a:lstStyle>
          <a:p xmlns:a="http://schemas.openxmlformats.org/drawingml/2006/main">
            <a:pPr>
              <a:defRPr sz="2325" b="1">
                <a:solidFill>
                  <a:srgbClr val="B8E5D8"/>
                </a:solidFill>
                <a:latin typeface="Arial"/>
                <a:ea typeface="Arial"/>
                <a:cs typeface="Arial"/>
              </a:defRPr>
            </a:pPr>
            <a:r>
              <a:rPr sz="2325" b="1">
                <a:solidFill>
                  <a:srgbClr val="B8E5D8"/>
                </a:solidFill>
                <a:latin typeface="Arial"/>
                <a:ea typeface="Arial"/>
                <a:cs typeface="Arial"/>
              </a:rPr>
              <a:t>Келесі кезең</a:t>
            </a:r>
          </a:p>
        </p:txBody>
      </p:sp>
      <p:sp>
        <p:nvSpPr>
          <p:cNvPr id="6" name="">
            <a:extLst xmlns:a="http://schemas.openxmlformats.org/drawingml/2006/main">
              <a:ext uri="{FF2B5EF4-FFF2-40B4-BE49-F238E27FC236}">
                <a16:creationId xmlns:a16="http://schemas.microsoft.com/office/drawing/2014/main" id="{9F5A7402-DECA-4F7F-A51D-126FB5E6880E}"/>
              </a:ext>
            </a:extLst>
          </p:cNvPr>
          <p:cNvSpPr>
            <a:spLocks xmlns:a="http://schemas.openxmlformats.org/drawingml/2006/main" noGrp="1"/>
          </p:cNvSpPr>
          <p:nvPr/>
        </p:nvSpPr>
        <p:spPr>
          <a:xfrm xmlns:a="http://schemas.openxmlformats.org/drawingml/2006/main">
            <a:off x="6762750" y="2524125"/>
            <a:ext cx="47625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Сыртқы деректе тексеру</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Бірнеше ауруға кеңейту</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Multi-label classification</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Сайтты серверге орналастыру</a:t>
            </a:r>
          </a:p>
        </p:txBody>
      </p:sp>
      <p:sp>
        <p:nvSpPr>
          <p:cNvPr id="7" name="">
            <a:extLst xmlns:a="http://schemas.openxmlformats.org/drawingml/2006/main">
              <a:ext uri="{FF2B5EF4-FFF2-40B4-BE49-F238E27FC236}">
                <a16:creationId xmlns:a16="http://schemas.microsoft.com/office/drawing/2014/main" id="{9B67C0C3-16A2-4893-AC02-725F7A7CA230}"/>
              </a:ext>
            </a:extLst>
          </p:cNvPr>
          <p:cNvSpPr>
            <a:spLocks xmlns:a="http://schemas.openxmlformats.org/drawingml/2006/main" noGrp="1"/>
          </p:cNvSpPr>
          <p:nvPr/>
        </p:nvSpPr>
        <p:spPr>
          <a:xfrm xmlns:a="http://schemas.openxmlformats.org/drawingml/2006/main">
            <a:off x="609600" y="5381625"/>
            <a:ext cx="10858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B8E5D8"/>
                </a:solidFill>
                <a:latin typeface="Arial"/>
                <a:ea typeface="Arial"/>
                <a:cs typeface="Arial"/>
              </a:defRPr>
            </a:defPPr>
          </a:lstStyle>
          <a:p xmlns:a="http://schemas.openxmlformats.org/drawingml/2006/main">
            <a:pPr>
              <a:defRPr sz="2175" b="1">
                <a:solidFill>
                  <a:srgbClr val="B8E5D8"/>
                </a:solidFill>
                <a:latin typeface="Arial"/>
                <a:ea typeface="Arial"/>
                <a:cs typeface="Arial"/>
              </a:defRPr>
            </a:pPr>
            <a:r>
              <a:rPr sz="2175" b="1">
                <a:solidFill>
                  <a:srgbClr val="B8E5D8"/>
                </a:solidFill>
                <a:latin typeface="Arial"/>
                <a:ea typeface="Arial"/>
                <a:cs typeface="Arial"/>
              </a:rPr>
              <a:t>Оқу прототипі. Клиникалық қолдануға бөлек тексеру қажет.</a:t>
            </a:r>
          </a:p>
        </p:txBody>
      </p:sp>
      <p:sp>
        <p:nvSpPr>
          <p:cNvPr id="8" name="">
            <a:extLst xmlns:a="http://schemas.openxmlformats.org/drawingml/2006/main">
              <a:ext uri="{FF2B5EF4-FFF2-40B4-BE49-F238E27FC236}">
                <a16:creationId xmlns:a16="http://schemas.microsoft.com/office/drawing/2014/main" id="{FE7F7376-4450-4EEA-B816-6DF74804ABE4}"/>
              </a:ext>
            </a:extLst>
          </p:cNvPr>
          <p:cNvSpPr>
            <a:spLocks xmlns:a="http://schemas.openxmlformats.org/drawingml/2006/main" noGrp="1"/>
          </p:cNvSpPr>
          <p:nvPr/>
        </p:nvSpPr>
        <p:spPr>
          <a:xfrm xmlns:a="http://schemas.openxmlformats.org/drawingml/2006/main">
            <a:off x="619125" y="61150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FFFFFF"/>
                </a:solidFill>
                <a:latin typeface="Arial"/>
                <a:ea typeface="Arial"/>
                <a:cs typeface="Arial"/>
              </a:defRPr>
            </a:def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NORMAL жауабы барлық ауруды жоққа шығармайды.</a:t>
            </a:r>
          </a:p>
        </p:txBody>
      </p:sp>
    </p:spTree>
    <p:extLst>
      <p:ext uri="{BB962C8B-B14F-4D97-AF65-F5344CB8AC3E}">
        <p14:creationId xmlns:p14="http://schemas.microsoft.com/office/powerpoint/2010/main" val="1517619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2026-10-13T13:11:13.4600000Z</dcterms:created>
  <dcterms:modified xsi:type="dcterms:W3CDTF">2026-10-13T13:11:13.4600000Z</dcterms:modified>
</coreProperties>
</file>