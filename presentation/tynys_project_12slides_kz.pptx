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70310b1e21947ef" /><Relationship Type="http://schemas.openxmlformats.org/officeDocument/2006/relationships/extended-properties" Target="/docProps/app.xml" Id="R48013274a3164568" /><Relationship Type="http://schemas.openxmlformats.org/officeDocument/2006/relationships/officeDocument" Target="/ppt/presentation.xml" Id="R45bcda5280554c94" /></Relationships>
</file>

<file path=ppt/presentation.xml><?xml version="1.0" encoding="utf-8"?>
<p:presentation xmlns:p="http://schemas.openxmlformats.org/presentationml/2006/main">
  <p:sldMasterIdLst>
    <p:sldMasterId xmlns:r="http://schemas.openxmlformats.org/officeDocument/2006/relationships" id="2147483648" r:id="R61b9461495d34f42"/>
  </p:sldMasterIdLst>
  <p:notesMasterIdLst>
    <p:notesMasterId xmlns:r="http://schemas.openxmlformats.org/officeDocument/2006/relationships" r:id="R808ec985136e4789"/>
  </p:notesMasterIdLst>
  <p:sldIdLst>
    <p:sldId xmlns:r="http://schemas.openxmlformats.org/officeDocument/2006/relationships" id="256" r:id="Ra63782b7cfd44f4f"/>
    <p:sldId xmlns:r="http://schemas.openxmlformats.org/officeDocument/2006/relationships" id="257" r:id="R0c1a7e57f9c542a4"/>
    <p:sldId xmlns:r="http://schemas.openxmlformats.org/officeDocument/2006/relationships" id="258" r:id="R0c9593387ab04aa9"/>
    <p:sldId xmlns:r="http://schemas.openxmlformats.org/officeDocument/2006/relationships" id="259" r:id="R031a71137ae544dd"/>
    <p:sldId xmlns:r="http://schemas.openxmlformats.org/officeDocument/2006/relationships" id="260" r:id="R02438320ce234f24"/>
    <p:sldId xmlns:r="http://schemas.openxmlformats.org/officeDocument/2006/relationships" id="261" r:id="R32989a48699a4267"/>
    <p:sldId xmlns:r="http://schemas.openxmlformats.org/officeDocument/2006/relationships" id="262" r:id="R9b1aacb8997f46bf"/>
    <p:sldId xmlns:r="http://schemas.openxmlformats.org/officeDocument/2006/relationships" id="263" r:id="R2ccaf381820d4aaf"/>
    <p:sldId xmlns:r="http://schemas.openxmlformats.org/officeDocument/2006/relationships" id="264" r:id="Rdc25e25c3b254a51"/>
    <p:sldId xmlns:r="http://schemas.openxmlformats.org/officeDocument/2006/relationships" id="265" r:id="R95ce96c8c5bc4118"/>
    <p:sldId xmlns:r="http://schemas.openxmlformats.org/officeDocument/2006/relationships" id="266" r:id="R437df4735dd74df2"/>
    <p:sldId xmlns:r="http://schemas.openxmlformats.org/officeDocument/2006/relationships" id="267" r:id="R3aedf8202c3c411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8ae98fb256447e6" /><Relationship Type="http://schemas.openxmlformats.org/officeDocument/2006/relationships/slideMaster" Target="/ppt/slideMasters/slideMaster1.xml" Id="R61b9461495d34f42" /><Relationship Type="http://schemas.openxmlformats.org/officeDocument/2006/relationships/notesMaster" Target="/ppt/notesMasters/notesMaster1.xml" Id="R808ec985136e4789" /><Relationship Type="http://schemas.openxmlformats.org/officeDocument/2006/relationships/presProps" Target="/ppt/presProps.xml" Id="Rb977546f68604ac4" /><Relationship Type="http://schemas.openxmlformats.org/officeDocument/2006/relationships/tableStyles" Target="/ppt/tableStyles.xml" Id="R061e3b374d4043ce" /><Relationship Type="http://schemas.openxmlformats.org/officeDocument/2006/relationships/slide" Target="/ppt/slides/slide1.xml" Id="Ra63782b7cfd44f4f" /><Relationship Type="http://schemas.openxmlformats.org/officeDocument/2006/relationships/slide" Target="/ppt/slides/slide2.xml" Id="R0c1a7e57f9c542a4" /><Relationship Type="http://schemas.openxmlformats.org/officeDocument/2006/relationships/slide" Target="/ppt/slides/slide3.xml" Id="R0c9593387ab04aa9" /><Relationship Type="http://schemas.openxmlformats.org/officeDocument/2006/relationships/slide" Target="/ppt/slides/slide4.xml" Id="R031a71137ae544dd" /><Relationship Type="http://schemas.openxmlformats.org/officeDocument/2006/relationships/slide" Target="/ppt/slides/slide5.xml" Id="R02438320ce234f24" /><Relationship Type="http://schemas.openxmlformats.org/officeDocument/2006/relationships/slide" Target="/ppt/slides/slide6.xml" Id="R32989a48699a4267" /><Relationship Type="http://schemas.openxmlformats.org/officeDocument/2006/relationships/slide" Target="/ppt/slides/slide7.xml" Id="R9b1aacb8997f46bf" /><Relationship Type="http://schemas.openxmlformats.org/officeDocument/2006/relationships/slide" Target="/ppt/slides/slide8.xml" Id="R2ccaf381820d4aaf" /><Relationship Type="http://schemas.openxmlformats.org/officeDocument/2006/relationships/slide" Target="/ppt/slides/slide9.xml" Id="Rdc25e25c3b254a51" /><Relationship Type="http://schemas.openxmlformats.org/officeDocument/2006/relationships/slide" Target="/ppt/slides/slide10.xml" Id="R95ce96c8c5bc4118" /><Relationship Type="http://schemas.openxmlformats.org/officeDocument/2006/relationships/slide" Target="/ppt/slides/slide11.xml" Id="R437df4735dd74df2" /><Relationship Type="http://schemas.openxmlformats.org/officeDocument/2006/relationships/slide" Target="/ppt/slides/slide12.xml" Id="R3aedf8202c3c411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07f5a758d404c0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3a9d9a153904913" /><Relationship Type="http://schemas.openxmlformats.org/officeDocument/2006/relationships/notesMaster" Target="/ppt/notesMasters/notesMaster1.xml" Id="R375cbdee1bc64d03" /></Relationships>
</file>

<file path=ppt/notesSlides/_rels/notesSlide2.xml.rels>&#65279;<?xml version="1.0" encoding="utf-8"?><Relationships xmlns="http://schemas.openxmlformats.org/package/2006/relationships"><Relationship Type="http://schemas.openxmlformats.org/officeDocument/2006/relationships/slide" Target="/ppt/slides/slide2.xml" Id="R8e1bfcc70fcd40cf" /><Relationship Type="http://schemas.openxmlformats.org/officeDocument/2006/relationships/notesMaster" Target="/ppt/notesMasters/notesMaster1.xml" Id="R2352e4598b00423a" /></Relationships>
</file>

<file path=ppt/notesSlides/_rels/notesSlide3.xml.rels>&#65279;<?xml version="1.0" encoding="utf-8"?><Relationships xmlns="http://schemas.openxmlformats.org/package/2006/relationships"><Relationship Type="http://schemas.openxmlformats.org/officeDocument/2006/relationships/slide" Target="/ppt/slides/slide3.xml" Id="R20bd70c4ab2c4f57" /><Relationship Type="http://schemas.openxmlformats.org/officeDocument/2006/relationships/notesMaster" Target="/ppt/notesMasters/notesMaster1.xml" Id="Rfe85d3f9ddd14832" /></Relationships>
</file>

<file path=ppt/notesSlides/_rels/notesSlide4.xml.rels>&#65279;<?xml version="1.0" encoding="utf-8"?><Relationships xmlns="http://schemas.openxmlformats.org/package/2006/relationships"><Relationship Type="http://schemas.openxmlformats.org/officeDocument/2006/relationships/slide" Target="/ppt/slides/slide4.xml" Id="Re4fa2b7fea2d467d" /><Relationship Type="http://schemas.openxmlformats.org/officeDocument/2006/relationships/notesMaster" Target="/ppt/notesMasters/notesMaster1.xml" Id="Rd60439f5b1de436f" /></Relationships>
</file>

<file path=ppt/notesSlides/_rels/notesSlide5.xml.rels>&#65279;<?xml version="1.0" encoding="utf-8"?><Relationships xmlns="http://schemas.openxmlformats.org/package/2006/relationships"><Relationship Type="http://schemas.openxmlformats.org/officeDocument/2006/relationships/slide" Target="/ppt/slides/slide5.xml" Id="R0d2355291e144e78" /><Relationship Type="http://schemas.openxmlformats.org/officeDocument/2006/relationships/notesMaster" Target="/ppt/notesMasters/notesMaster1.xml" Id="R5afa6a88726e4ee4" /></Relationships>
</file>

<file path=ppt/notesSlides/_rels/notesSlide6.xml.rels>&#65279;<?xml version="1.0" encoding="utf-8"?><Relationships xmlns="http://schemas.openxmlformats.org/package/2006/relationships"><Relationship Type="http://schemas.openxmlformats.org/officeDocument/2006/relationships/slide" Target="/ppt/slides/slide6.xml" Id="Rb334d3a479b94bdd" /><Relationship Type="http://schemas.openxmlformats.org/officeDocument/2006/relationships/notesMaster" Target="/ppt/notesMasters/notesMaster1.xml" Id="R4f879a2175ea421d" /></Relationships>
</file>

<file path=ppt/notesSlides/_rels/notesSlide7.xml.rels>&#65279;<?xml version="1.0" encoding="utf-8"?><Relationships xmlns="http://schemas.openxmlformats.org/package/2006/relationships"><Relationship Type="http://schemas.openxmlformats.org/officeDocument/2006/relationships/slide" Target="/ppt/slides/slide7.xml" Id="Rd0317e07e7164590" /><Relationship Type="http://schemas.openxmlformats.org/officeDocument/2006/relationships/notesMaster" Target="/ppt/notesMasters/notesMaster1.xml" Id="Rdf364f66b1424ce9" /></Relationships>
</file>

<file path=ppt/notesSlides/_rels/notesSlide8.xml.rels>&#65279;<?xml version="1.0" encoding="utf-8"?><Relationships xmlns="http://schemas.openxmlformats.org/package/2006/relationships"><Relationship Type="http://schemas.openxmlformats.org/officeDocument/2006/relationships/slide" Target="/ppt/slides/slide8.xml" Id="Rfc71a24b0a184484" /><Relationship Type="http://schemas.openxmlformats.org/officeDocument/2006/relationships/notesMaster" Target="/ppt/notesMasters/notesMaster1.xml" Id="Rd34b7d7661444475" /></Relationships>
</file>

<file path=ppt/notesSlides/_rels/notesSlide9.xml.rels>&#65279;<?xml version="1.0" encoding="utf-8"?><Relationships xmlns="http://schemas.openxmlformats.org/package/2006/relationships"><Relationship Type="http://schemas.openxmlformats.org/officeDocument/2006/relationships/slide" Target="/ppt/slides/slide9.xml" Id="Rdc30fb82d57848b2" /><Relationship Type="http://schemas.openxmlformats.org/officeDocument/2006/relationships/notesMaster" Target="/ppt/notesMasters/notesMaster1.xml" Id="R1490e41b070f4a5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c63639ef48f49cb" /><Relationship Type="http://schemas.openxmlformats.org/officeDocument/2006/relationships/notesMaster" Target="/ppt/notesMasters/notesMaster1.xml" Id="R84628a4302be4ab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5e9dca9eda24489" /><Relationship Type="http://schemas.openxmlformats.org/officeDocument/2006/relationships/notesMaster" Target="/ppt/notesMasters/notesMaster1.xml" Id="Re145ed0c7caa41b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8d072437fff4b6b" /><Relationship Type="http://schemas.openxmlformats.org/officeDocument/2006/relationships/notesMaster" Target="/ppt/notesMasters/notesMaster1.xml" Id="R79305f4207144d9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Жобамның атауы — Tynys. Ол өкпе рентгенін NORMAL және PNEUMONIA санаттарына жіктейді. TensorFlow және Keras арқылы CNN мен MobileNetV2 үйретіп, қазақша сайтқа қостым. Қазір жоба суретті талдау, модельдерді салыстыру және есеп жүктеу мүмкіндіктерін қамтиды.</a:t>
            </a:r>
          </a:p>
          <a:p xmlns:a="http://schemas.openxmlformats.org/drawingml/2006/main">
            <a:r>
              <a:t/>
            </a:r>
          </a:p>
          <a:p xmlns:a="http://schemas.openxmlformats.org/drawingml/2006/main">
            <a:r>
              <a:t>Дереккөздер: site/model/test_metrics.csv; site/model/mcnemar.json; training/external_validation_metrics.csv; training/IMPLEMENTATION_STATUS.json. OpenI: https://openi.nlm.nih.gov/api/search?query=pneumonia&amp;m=1&amp;n=1&amp;coll=cxr . Бастапқы датасет: https://www.kaggle.com/datasets/paultimothymooney/chest-xray-pneumonia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Жобаның мәселесі — рентгенді бастапқы сұрыптауға қолдау қажеттілігі. Мақсаты — екі санатты жіктеу моделін сайт арқылы қолдану. Бұл бинарлық классификация. Мамандардың уақытын үнемдеу көзделеді, бірақ клиникадағы әсерін өлшеген жоқпын.</a:t>
            </a:r>
          </a:p>
          <a:p xmlns:a="http://schemas.openxmlformats.org/drawingml/2006/main">
            <a:r>
              <a:t/>
            </a:r>
          </a:p>
          <a:p xmlns:a="http://schemas.openxmlformats.org/drawingml/2006/main">
            <a:r>
              <a:t>Дереккөздер: site/model/test_metrics.csv; site/model/mcnemar.json; training/external_validation_metrics.csv; training/IMPLEMENTATION_STATUS.json. OpenI: https://openi.nlm.nih.gov/api/search?query=pneumonia&amp;m=1&amp;n=1&amp;coll=cxr . Бастапқы датасет: https://www.kaggle.com/datasets/paultimothymooney/chest-xray-pneumonia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Kaggle датасетінен 5856 жарамды сурет оқылды. Тазалаудан кейін train 3801, validation 952, test 618 сурет қалды. Жиындар арасындағы SHA-256 көшірмелерін және файл атауынан алынған топтарды тексердім. Бұл топтар ресми пациент ID емес.</a:t>
            </a:r>
          </a:p>
          <a:p xmlns:a="http://schemas.openxmlformats.org/drawingml/2006/main">
            <a:r>
              <a:t/>
            </a:r>
          </a:p>
          <a:p xmlns:a="http://schemas.openxmlformats.org/drawingml/2006/main">
            <a:r>
              <a:t>Дереккөздер: site/model/test_metrics.csv; site/model/mcnemar.json; training/external_validation_metrics.csv; training/IMPLEMENTATION_STATUS.json. OpenI: https://openi.nlm.nih.gov/api/search?query=pneumonia&amp;m=1&amp;n=1&amp;coll=cxr . Бастапқы датасет: https://www.kaggle.com/datasets/paultimothymooney/chest-xray-pneumonia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CNN белгілерді осы деректерден басынан үйренеді. MobileNetV2 ImageNet салмақтарынан бастап бейімделеді. Суретті үш арнамен оқып, float32 түрінде пропорциясын сақтап 224-ке 224 өлшемге келтіреміз. Сырттан нормализация қоспаймыз. FastAPI серверінде Colab-пен бірдей модель мен өңдеу жұмыс істейді.</a:t>
            </a:r>
          </a:p>
          <a:p xmlns:a="http://schemas.openxmlformats.org/drawingml/2006/main">
            <a:r>
              <a:t/>
            </a:r>
          </a:p>
          <a:p xmlns:a="http://schemas.openxmlformats.org/drawingml/2006/main">
            <a:r>
              <a:t>Дереккөздер: site/model/test_metrics.csv; site/model/mcnemar.json; training/external_validation_metrics.csv; training/IMPLEMENTATION_STATUS.json. OpenI: https://openi.nlm.nih.gov/api/search?query=pneumonia&amp;m=1&amp;n=1&amp;coll=cxr . Бастапқы датасет: https://www.kaggle.com/datasets/paultimothymooney/chest-xray-pneumonia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Нейрондық желі сурет белгілерін шығарып, sigmoid арқылы нөл мен бір арасындағы баллды есептейді. Балл 0,740 шегінен жоғары немесе тең болса PNEUMONIA болжамын береді. Мысалда 0,80 осы шектен жоғары. Үйрету кезінде binary cross-entropy қатесі азаяды. Бұл балл клиникалық сенімділік пайызы емес.</a:t>
            </a:r>
          </a:p>
          <a:p xmlns:a="http://schemas.openxmlformats.org/drawingml/2006/main">
            <a:r>
              <a:t/>
            </a:r>
          </a:p>
          <a:p xmlns:a="http://schemas.openxmlformats.org/drawingml/2006/main">
            <a:r>
              <a:t>Дереккөздер: site/model/test_metrics.csv; site/model/mcnemar.json; training/external_validation_metrics.csv; training/IMPLEMENTATION_STATUS.json. OpenI: https://openi.nlm.nih.gov/api/search?query=pneumonia&amp;m=1&amp;n=1&amp;coll=cxr . Бастапқы датасет: https://www.kaggle.com/datasets/paultimothymooney/chest-xray-pneumonia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Ішкі тестте CNN accuracy 71,68%, MobileNetV2 accuracy 89,16% көрсетті. MobileNetV2 recall 96,12%, 15 false negative және 52 false positive бар. 90% accuracy мақсатына жетпеді. Жұптық McNemar тестінде CNN ғана дұрыс тапқан 20, MobileNetV2 ғана дұрыс тапқан 128 сурет бар. p шамамен 1,80 көбейтілген онның минус жиырмасыншы дәрежесі. Айырма осы тестте статистикалық маңызды.</a:t>
            </a:r>
          </a:p>
          <a:p xmlns:a="http://schemas.openxmlformats.org/drawingml/2006/main">
            <a:r>
              <a:t/>
            </a:r>
          </a:p>
          <a:p xmlns:a="http://schemas.openxmlformats.org/drawingml/2006/main">
            <a:r>
              <a:t>Дереккөздер: site/model/test_metrics.csv; site/model/mcnemar.json; training/external_validation_metrics.csv; training/IMPLEMENTATION_STATUS.json. OpenI: https://openi.nlm.nih.gov/api/search?query=pneumonia&amp;m=1&amp;n=1&amp;coll=cxr . Бастапқы датасет: https://www.kaggle.com/datasets/paultimothymooney/chest-xray-pneumonia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Бір суретті екі модель тексереді. Сайт әр модельдің санатын, баллын және өз шешім шегін көрсетеді. Бір топта 10 файлға дейін, әр файл 12 мегабайтқа дейін жүктеуге болады. JPG, PNG және CR/DX DICOM қолданылады. CT/MR файлдарын сервер қабылдамайды.</a:t>
            </a:r>
          </a:p>
          <a:p xmlns:a="http://schemas.openxmlformats.org/drawingml/2006/main">
            <a:r>
              <a:t/>
            </a:r>
          </a:p>
          <a:p xmlns:a="http://schemas.openxmlformats.org/drawingml/2006/main">
            <a:r>
              <a:t>Дереккөздер: site/model/test_metrics.csv; site/model/mcnemar.json; training/external_validation_metrics.csv; training/IMPLEMENTATION_STATUS.json. OpenI: https://openi.nlm.nih.gov/api/search?query=pneumonia&amp;m=1&amp;n=1&amp;coll=cxr . Бастапқы датасет: https://www.kaggle.com/datasets/paultimothymooney/chest-xray-pneumonia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Grad-CAM модельдің таңдаған санатына ықпал еткен аймақтарды түспен көрсетеді. Түпнұсқамен ауыстырып қарап, белгіленген PNG жүктеуге болады. Карта зақымның нақты шекарасы емес. Калибрлеу қосылса да Grad-CAM басының сәйкестігін raw sigmoid баллымен тексереміз.</a:t>
            </a:r>
          </a:p>
          <a:p xmlns:a="http://schemas.openxmlformats.org/drawingml/2006/main">
            <a:r>
              <a:t/>
            </a:r>
          </a:p>
          <a:p xmlns:a="http://schemas.openxmlformats.org/drawingml/2006/main">
            <a:r>
              <a:t>Дереккөздер: site/model/test_metrics.csv; site/model/mcnemar.json; training/external_validation_metrics.csv; training/IMPLEMENTATION_STATUS.json. OpenI: https://openi.nlm.nih.gov/api/search?query=pneumonia&amp;m=1&amp;n=1&amp;coll=cxr . Бастапқы датасет: https://www.kaggle.com/datasets/paultimothymooney/chest-xray-pneumonia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PDF және мәтіндік есепте санат, балл, шек, екі модельдің салыстыруы беріледі. PDF түпнұсқа мен Grad-CAM-ды қатар көрсетеді. OOD ескертуі бар болса PDF-ке де кіреді. Тарих соңғы 20 талдауды осы бет жадында сақтайды. Бетті жаңартқанда немесе тазалағанда жойылады.</a:t>
            </a:r>
          </a:p>
          <a:p xmlns:a="http://schemas.openxmlformats.org/drawingml/2006/main">
            <a:r>
              <a:t/>
            </a:r>
          </a:p>
          <a:p xmlns:a="http://schemas.openxmlformats.org/drawingml/2006/main">
            <a:r>
              <a:t>Дереккөздер: site/model/test_metrics.csv; site/model/mcnemar.json; training/external_validation_metrics.csv; training/IMPLEMENTATION_STATUS.json. OpenI: https://openi.nlm.nih.gov/api/search?query=pneumonia&amp;m=1&amp;n=1&amp;coll=cxr . Бастапқы датасет: https://www.kaggle.com/datasets/paultimothymooney/chest-xray-pneumonia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Жаңа нұсқада CR/DX DICOM, unit және интеграциялық тесттер, CI, Docker конфигурациясы бар. 34 жергілікті тест өтті. Docker қызметі қосылмағандықтан контейнерді тексере алмадым. Калибрлеу мен OOD коды дайын, бірақ толық validation параметрлері әлі есептелмеген. Көп ауруға арналған multi-label — келесі бөлек эксперимент.</a:t>
            </a:r>
          </a:p>
          <a:p xmlns:a="http://schemas.openxmlformats.org/drawingml/2006/main">
            <a:r>
              <a:t/>
            </a:r>
          </a:p>
          <a:p xmlns:a="http://schemas.openxmlformats.org/drawingml/2006/main">
            <a:r>
              <a:t>Дереккөздер: site/model/test_metrics.csv; site/model/mcnemar.json; training/external_validation_metrics.csv; training/IMPLEMENTATION_STATUS.json. OpenI: https://openi.nlm.nih.gov/api/search?query=pneumonia&amp;m=1&amp;n=1&amp;coll=cxr . Бастапқы датасет: https://www.kaggle.com/datasets/paultimothymooney/chest-xray-pneumonia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OpenI-ден 200 суретті сыртқы тестке алдым: 160 NORMAL, 40 PNEUMONIA. Бір есептен бір сурет таңдап, SHA-256-ны ішкі жиындармен салыстырдым, қиылысу табылмады. Шек өзгерген жоқ. Accuracy 55%, recall 57,50%, ROC-AUC 0,5442 болды. Бұл ішкі нәтиженің басқа деректе қайталанбағанын көрсетеді. Топтау есеп ID-імен жасалды, нақты пациент сәйкестігі толық расталмаған. MeSH белгілері де клиникалық gold standard емес.</a:t>
            </a:r>
          </a:p>
          <a:p xmlns:a="http://schemas.openxmlformats.org/drawingml/2006/main">
            <a:r>
              <a:t/>
            </a:r>
          </a:p>
          <a:p xmlns:a="http://schemas.openxmlformats.org/drawingml/2006/main">
            <a:r>
              <a:t>Дереккөздер: site/model/test_metrics.csv; site/model/mcnemar.json; training/external_validation_metrics.csv; training/IMPLEMENTATION_STATUS.json. OpenI: https://openi.nlm.nih.gov/api/search?query=pneumonia&amp;m=1&amp;n=1&amp;coll=cxr . Бастапқы датасет: https://www.kaggle.com/datasets/paultimothymooney/chest-xray-pneumonia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Temperature scaling T коэффициентін validation NLL арқылы таңдайды, кейін шешім шегі де сол validation-да қайта таңдалады. OOD validation белгілерінің Махаланобис қашықтығына сүйенеді және болжамды блоктамайды. Бастапқы 952 файлдың 312-сі жүктелгенде желі тайм-ауты болды. Сондықтан T немесе OOD параметрлерін ойдан енгізбедім. Қазір T=1, OOD қолжетімсіз. Қайта жалғастыру командалары README-де берілген.</a:t>
            </a:r>
          </a:p>
          <a:p xmlns:a="http://schemas.openxmlformats.org/drawingml/2006/main">
            <a:r>
              <a:t/>
            </a:r>
          </a:p>
          <a:p xmlns:a="http://schemas.openxmlformats.org/drawingml/2006/main">
            <a:r>
              <a:t>Дереккөздер: site/model/test_metrics.csv; site/model/mcnemar.json; training/external_validation_metrics.csv; training/IMPLEMENTATION_STATUS.json. OpenI: https://openi.nlm.nih.gov/api/search?query=pneumonia&amp;m=1&amp;n=1&amp;coll=cxr . Бастапқы датасет: https://www.kaggle.com/datasets/paultimothymooney/chest-xray-pneumonia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d61a1da2c8941a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d482122326643f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6d275960ca9499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36f53a804264d6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9f9100b7d3448d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36cf1fa627a44e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914AE31-8D9D-4F27-BEFA-363A9E30EBD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01F4815-CFE7-4740-9385-F3E30AEFC14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B3971F7-2EFB-4569-B8B6-0912C31E1FA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DC72CFC-2F04-4CAB-A460-2D8AF11DA88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FC08BEB-6330-43C6-ADC5-1560C9E2354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195D2D4-F27C-4C13-8B39-5E578933DC1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697EFA3-BF78-46CC-9479-9FBF3DA7107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C501100-A07C-41AB-A795-DA01AABEF0A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A9F4718-B7CC-4ACB-AE77-369D5C3E927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CFAF339-8AA7-40E8-9823-436BBC4C922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2fe3c0698154dfd" /><Relationship Type="http://schemas.openxmlformats.org/officeDocument/2006/relationships/slideLayout" Target="/ppt/slideLayouts/slideLayout1.xml" Id="Raf964ad1409349c1" /><Relationship Type="http://schemas.openxmlformats.org/officeDocument/2006/relationships/slideLayout" Target="/ppt/slideLayouts/slideLayout2.xml" Id="Ra70fe6ae048940f4" /><Relationship Type="http://schemas.openxmlformats.org/officeDocument/2006/relationships/slideLayout" Target="/ppt/slideLayouts/slideLayout3.xml" Id="R37e662867b3e42ca" /><Relationship Type="http://schemas.openxmlformats.org/officeDocument/2006/relationships/slideLayout" Target="/ppt/slideLayouts/slideLayout4.xml" Id="Rc205cd9a4ebe46b8" /><Relationship Type="http://schemas.openxmlformats.org/officeDocument/2006/relationships/slideLayout" Target="/ppt/slideLayouts/slideLayout5.xml" Id="R77a54fa643e242c3" /><Relationship Type="http://schemas.openxmlformats.org/officeDocument/2006/relationships/slideLayout" Target="/ppt/slideLayouts/slideLayout6.xml" Id="Rc295db52a98748c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f964ad1409349c1"/>
    <p:sldLayoutId xmlns:r="http://schemas.openxmlformats.org/officeDocument/2006/relationships" id="2147483650" r:id="Ra70fe6ae048940f4"/>
    <p:sldLayoutId xmlns:r="http://schemas.openxmlformats.org/officeDocument/2006/relationships" id="2147483651" r:id="R37e662867b3e42ca"/>
    <p:sldLayoutId xmlns:r="http://schemas.openxmlformats.org/officeDocument/2006/relationships" id="2147483652" r:id="Rc205cd9a4ebe46b8"/>
    <p:sldLayoutId xmlns:r="http://schemas.openxmlformats.org/officeDocument/2006/relationships" id="2147483653" r:id="R77a54fa643e242c3"/>
    <p:sldLayoutId xmlns:r="http://schemas.openxmlformats.org/officeDocument/2006/relationships" id="2147483654" r:id="Rc295db52a98748c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bbcac8a889c4419" /><Relationship Type="http://schemas.openxmlformats.org/officeDocument/2006/relationships/image" Target="/ppt/media/image.png" Id="R1f05dab6c4274fbe" /><Relationship Type="http://schemas.openxmlformats.org/officeDocument/2006/relationships/notesSlide" Target="/ppt/notesSlides/notesSlide1.xml" Id="R501ba350d1574d7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2fae8bca4864347" /><Relationship Type="http://schemas.openxmlformats.org/officeDocument/2006/relationships/notesSlide" Target="/ppt/notesSlides/notesSlide2.xml" Id="R660d63fd72ad470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d10b86ab2ea46b3" /><Relationship Type="http://schemas.openxmlformats.org/officeDocument/2006/relationships/notesSlide" Target="/ppt/notesSlides/notesSlide3.xml" Id="R88871afccc73488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3d39c40b5a847d1" /><Relationship Type="http://schemas.openxmlformats.org/officeDocument/2006/relationships/notesSlide" Target="/ppt/notesSlides/notesSlide4.xml" Id="R9539f41aee3b4f7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775b6468c8f4362" /><Relationship Type="http://schemas.openxmlformats.org/officeDocument/2006/relationships/notesSlide" Target="/ppt/notesSlides/notesSlide5.xml" Id="Re19c235903514a8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a4cc140313345e2" /><Relationship Type="http://schemas.openxmlformats.org/officeDocument/2006/relationships/notesSlide" Target="/ppt/notesSlides/notesSlide6.xml" Id="R74f97fe8e3e34a4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0d0c71aca3b43b9" /><Relationship Type="http://schemas.openxmlformats.org/officeDocument/2006/relationships/image" Target="/ppt/media/image.jpeg" Id="R6dc5a5ca6bb14bf2" /><Relationship Type="http://schemas.openxmlformats.org/officeDocument/2006/relationships/notesSlide" Target="/ppt/notesSlides/notesSlide7.xml" Id="Rb224edee092c49e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158637792604132" /><Relationship Type="http://schemas.openxmlformats.org/officeDocument/2006/relationships/image" Target="/ppt/media/image2.jpeg" Id="R2099249900e144f8" /><Relationship Type="http://schemas.openxmlformats.org/officeDocument/2006/relationships/notesSlide" Target="/ppt/notesSlides/notesSlide8.xml" Id="Ra78faf4116df43f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9419f5bd43b4ae7" /><Relationship Type="http://schemas.openxmlformats.org/officeDocument/2006/relationships/image" Target="/ppt/media/image3.jpeg" Id="R853c6958f4a944bc" /><Relationship Type="http://schemas.openxmlformats.org/officeDocument/2006/relationships/image" Target="/ppt/media/image2.png" Id="R031d0597b5954e39" /><Relationship Type="http://schemas.openxmlformats.org/officeDocument/2006/relationships/notesSlide" Target="/ppt/notesSlides/notesSlide9.xml" Id="R525dc06803a2496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763086268204f08" /><Relationship Type="http://schemas.openxmlformats.org/officeDocument/2006/relationships/notesSlide" Target="/ppt/notesSlides/notesSlide10.xml" Id="R53e8c1a6a00b45a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2ddbe23fff54bc7" /><Relationship Type="http://schemas.openxmlformats.org/officeDocument/2006/relationships/notesSlide" Target="/ppt/notesSlides/notesSlide11.xml" Id="R90aae44500574e5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fb56e8613bf4c55" /><Relationship Type="http://schemas.openxmlformats.org/officeDocument/2006/relationships/notesSlide" Target="/ppt/notesSlides/notesSlide12.xml" Id="Rfc44637f0a37432e" /></Relationships>
</file>

<file path=ppt/slides/slide1.xml><?xml version="1.0" encoding="utf-8"?>
<p:sld xmlns:p="http://schemas.openxmlformats.org/presentationml/2006/main">
  <p:cSld>
    <p:bg>
      <p:bgPr>
        <a:solidFill xmlns:a="http://schemas.openxmlformats.org/drawingml/2006/main">
          <a:srgbClr val="F6FAF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769B9CB-C7EC-4B85-B0DC-07C77A75FFB6}"/>
              </a:ext>
            </a:extLst>
          </p:cNvPr>
          <p:cNvSpPr>
            <a:spLocks xmlns:a="http://schemas.openxmlformats.org/drawingml/2006/main" noGrp="1"/>
          </p:cNvSpPr>
          <p:nvPr/>
        </p:nvSpPr>
        <p:spPr>
          <a:xfrm xmlns:a="http://schemas.openxmlformats.org/drawingml/2006/main">
            <a:off x="11077575" y="6315075"/>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617C77"/>
                </a:solidFill>
                <a:latin typeface="Arial"/>
                <a:ea typeface="Arial"/>
                <a:cs typeface="Arial"/>
              </a:defRPr>
            </a:defPPr>
          </a:lstStyle>
          <a:p xmlns:a="http://schemas.openxmlformats.org/drawingml/2006/main">
            <a:pPr>
              <a:buNone/>
              <a:defRPr sz="1275" b="0">
                <a:solidFill>
                  <a:srgbClr val="617C77"/>
                </a:solidFill>
                <a:latin typeface="Arial"/>
                <a:ea typeface="Arial"/>
                <a:cs typeface="Arial"/>
              </a:defRPr>
            </a:pPr>
            <a:r>
              <a:rPr sz="1275" b="0">
                <a:solidFill>
                  <a:srgbClr val="617C77"/>
                </a:solidFill>
                <a:latin typeface="Arial"/>
                <a:ea typeface="Arial"/>
                <a:cs typeface="Arial"/>
              </a:rPr>
              <a:t>01</a:t>
            </a:r>
          </a:p>
        </p:txBody>
      </p:sp>
      <p:pic>
        <p:nvPicPr>
          <p:cNvPr id="2" name="">
            <a:extLst xmlns:a="http://schemas.openxmlformats.org/drawingml/2006/main">
              <a:ext uri="{FF2B5EF4-FFF2-40B4-BE49-F238E27FC236}">
                <a16:creationId xmlns:a16="http://schemas.microsoft.com/office/drawing/2014/main" id="{D910C2E2-2A37-4DEB-8A01-8D1A9CF5DAEF}"/>
              </a:ext>
            </a:extLst>
          </p:cNvPr>
          <p:cNvPicPr>
            <a:picLocks xmlns:a="http://schemas.openxmlformats.org/drawingml/2006/main" noChangeAspect="1"/>
          </p:cNvPicPr>
          <p:nvPr/>
        </p:nvPicPr>
        <p:blipFill>
          <a:blip xmlns:r="http://schemas.openxmlformats.org/officeDocument/2006/relationships" xmlns:a="http://schemas.openxmlformats.org/drawingml/2006/main" r:embed="R1f05dab6c4274fbe"/>
          <a:stretch xmlns:a="http://schemas.openxmlformats.org/drawingml/2006/main"/>
        </p:blipFill>
        <p:spPr>
          <a:xfrm xmlns:a="http://schemas.openxmlformats.org/drawingml/2006/main">
            <a:off x="6810375" y="952500"/>
            <a:ext cx="4857750" cy="48577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E2464969-0621-4E35-9D1C-0840C90BBDEC}"/>
              </a:ext>
            </a:extLst>
          </p:cNvPr>
          <p:cNvSpPr>
            <a:spLocks xmlns:a="http://schemas.openxmlformats.org/drawingml/2006/main" noGrp="1"/>
          </p:cNvSpPr>
          <p:nvPr/>
        </p:nvSpPr>
        <p:spPr>
          <a:xfrm xmlns:a="http://schemas.openxmlformats.org/drawingml/2006/main">
            <a:off x="609600" y="1381125"/>
            <a:ext cx="6191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6300" b="1">
                <a:solidFill>
                  <a:srgbClr val="087F77"/>
                </a:solidFill>
                <a:latin typeface="Arial"/>
                <a:ea typeface="Arial"/>
                <a:cs typeface="Arial"/>
              </a:defRPr>
            </a:defPPr>
          </a:lstStyle>
          <a:p xmlns:a="http://schemas.openxmlformats.org/drawingml/2006/main">
            <a:pPr>
              <a:buNone/>
              <a:defRPr sz="6300" b="1">
                <a:solidFill>
                  <a:srgbClr val="087F77"/>
                </a:solidFill>
                <a:latin typeface="Arial"/>
                <a:ea typeface="Arial"/>
                <a:cs typeface="Arial"/>
              </a:defRPr>
            </a:pPr>
            <a:r>
              <a:rPr sz="6300" b="1">
                <a:solidFill>
                  <a:srgbClr val="087F77"/>
                </a:solidFill>
                <a:latin typeface="Arial"/>
                <a:ea typeface="Arial"/>
                <a:cs typeface="Arial"/>
              </a:rPr>
              <a:t>Tynys</a:t>
            </a:r>
          </a:p>
        </p:txBody>
      </p:sp>
      <p:sp>
        <p:nvSpPr>
          <p:cNvPr id="4" name="">
            <a:extLst xmlns:a="http://schemas.openxmlformats.org/drawingml/2006/main">
              <a:ext uri="{FF2B5EF4-FFF2-40B4-BE49-F238E27FC236}">
                <a16:creationId xmlns:a16="http://schemas.microsoft.com/office/drawing/2014/main" id="{52A9DCA0-5F90-4A33-A898-A1D1FA61DEF9}"/>
              </a:ext>
            </a:extLst>
          </p:cNvPr>
          <p:cNvSpPr>
            <a:spLocks xmlns:a="http://schemas.openxmlformats.org/drawingml/2006/main" noGrp="1"/>
          </p:cNvSpPr>
          <p:nvPr/>
        </p:nvSpPr>
        <p:spPr>
          <a:xfrm xmlns:a="http://schemas.openxmlformats.org/drawingml/2006/main">
            <a:off x="647700" y="2657475"/>
            <a:ext cx="6191250" cy="2019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193E3A"/>
                </a:solidFill>
                <a:latin typeface="Arial"/>
                <a:ea typeface="Arial"/>
                <a:cs typeface="Arial"/>
              </a:defRPr>
            </a:defPPr>
          </a:lstStyle>
          <a:p xmlns:a="http://schemas.openxmlformats.org/drawingml/2006/main">
            <a:pPr>
              <a:buNone/>
              <a:defRPr sz="3300" b="1">
                <a:solidFill>
                  <a:srgbClr val="193E3A"/>
                </a:solidFill>
                <a:latin typeface="Arial"/>
                <a:ea typeface="Arial"/>
                <a:cs typeface="Arial"/>
              </a:defRPr>
            </a:pPr>
            <a:r>
              <a:rPr sz="3300" b="1">
                <a:solidFill>
                  <a:srgbClr val="193E3A"/>
                </a:solidFill>
                <a:latin typeface="Arial"/>
                <a:ea typeface="Arial"/>
                <a:cs typeface="Arial"/>
              </a:rPr>
              <a:t>Өкпе рентгенін</a:t>
            </a:r>
          </a:p>
          <a:p xmlns:a="http://schemas.openxmlformats.org/drawingml/2006/main">
            <a:pPr>
              <a:buNone/>
              <a:defRPr sz="3300" b="1">
                <a:solidFill>
                  <a:srgbClr val="193E3A"/>
                </a:solidFill>
                <a:latin typeface="Arial"/>
                <a:ea typeface="Arial"/>
                <a:cs typeface="Arial"/>
              </a:defRPr>
            </a:pPr>
            <a:r>
              <a:rPr sz="3300" b="1">
                <a:solidFill>
                  <a:srgbClr val="193E3A"/>
                </a:solidFill>
                <a:latin typeface="Arial"/>
                <a:ea typeface="Arial"/>
                <a:cs typeface="Arial"/>
              </a:rPr>
              <a:t>машиналық оқытумен</a:t>
            </a:r>
          </a:p>
          <a:p xmlns:a="http://schemas.openxmlformats.org/drawingml/2006/main">
            <a:pPr>
              <a:buNone/>
              <a:defRPr sz="3300" b="1">
                <a:solidFill>
                  <a:srgbClr val="193E3A"/>
                </a:solidFill>
                <a:latin typeface="Arial"/>
                <a:ea typeface="Arial"/>
                <a:cs typeface="Arial"/>
              </a:defRPr>
            </a:pPr>
            <a:r>
              <a:rPr sz="3300" b="1">
                <a:solidFill>
                  <a:srgbClr val="193E3A"/>
                </a:solidFill>
                <a:latin typeface="Arial"/>
                <a:ea typeface="Arial"/>
                <a:cs typeface="Arial"/>
              </a:rPr>
              <a:t>жіктеу</a:t>
            </a:r>
          </a:p>
        </p:txBody>
      </p:sp>
      <p:sp>
        <p:nvSpPr>
          <p:cNvPr id="5" name="">
            <a:extLst xmlns:a="http://schemas.openxmlformats.org/drawingml/2006/main">
              <a:ext uri="{FF2B5EF4-FFF2-40B4-BE49-F238E27FC236}">
                <a16:creationId xmlns:a16="http://schemas.microsoft.com/office/drawing/2014/main" id="{0FF5B0F7-513C-41DA-B23C-02D7FB6F9E70}"/>
              </a:ext>
            </a:extLst>
          </p:cNvPr>
          <p:cNvSpPr>
            <a:spLocks xmlns:a="http://schemas.openxmlformats.org/drawingml/2006/main" noGrp="1"/>
          </p:cNvSpPr>
          <p:nvPr/>
        </p:nvSpPr>
        <p:spPr>
          <a:xfrm xmlns:a="http://schemas.openxmlformats.org/drawingml/2006/main">
            <a:off x="666750" y="5286375"/>
            <a:ext cx="5715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617C77"/>
                </a:solidFill>
                <a:latin typeface="Arial"/>
                <a:ea typeface="Arial"/>
                <a:cs typeface="Arial"/>
              </a:defRPr>
            </a:defPPr>
          </a:lstStyle>
          <a:p xmlns:a="http://schemas.openxmlformats.org/drawingml/2006/main">
            <a:pPr>
              <a:buNone/>
              <a:defRPr sz="1875" b="0">
                <a:solidFill>
                  <a:srgbClr val="617C77"/>
                </a:solidFill>
                <a:latin typeface="Arial"/>
                <a:ea typeface="Arial"/>
                <a:cs typeface="Arial"/>
              </a:defRPr>
            </a:pPr>
            <a:r>
              <a:rPr sz="1875" b="0">
                <a:solidFill>
                  <a:srgbClr val="617C77"/>
                </a:solidFill>
                <a:latin typeface="Arial"/>
                <a:ea typeface="Arial"/>
                <a:cs typeface="Arial"/>
              </a:rPr>
              <a:t>TensorFlow / Keras</a:t>
            </a:r>
          </a:p>
          <a:p xmlns:a="http://schemas.openxmlformats.org/drawingml/2006/main">
            <a:pPr>
              <a:buNone/>
              <a:defRPr sz="1875" b="0">
                <a:solidFill>
                  <a:srgbClr val="617C77"/>
                </a:solidFill>
                <a:latin typeface="Arial"/>
                <a:ea typeface="Arial"/>
                <a:cs typeface="Arial"/>
              </a:defRPr>
            </a:pPr>
            <a:r>
              <a:rPr sz="1875" b="0">
                <a:solidFill>
                  <a:srgbClr val="617C77"/>
                </a:solidFill>
                <a:latin typeface="Arial"/>
                <a:ea typeface="Arial"/>
                <a:cs typeface="Arial"/>
              </a:rPr>
              <a:t>CNN және MobileNetV2</a:t>
            </a:r>
          </a:p>
        </p:txBody>
      </p:sp>
    </p:spTree>
    <p:extLst>
      <p:ext uri="{BB962C8B-B14F-4D97-AF65-F5344CB8AC3E}">
        <p14:creationId xmlns:p14="http://schemas.microsoft.com/office/powerpoint/2010/main" val="619667245"/>
      </p:ext>
    </p:extLst>
  </p:cSld>
</p:sld>
</file>

<file path=ppt/slides/slide2.xml><?xml version="1.0" encoding="utf-8"?>
<p:sld xmlns:p="http://schemas.openxmlformats.org/presentationml/2006/main">
  <p:cSld>
    <p:bg>
      <p:bgPr>
        <a:solidFill xmlns:a="http://schemas.openxmlformats.org/drawingml/2006/main">
          <a:srgbClr val="F6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48F543F-9128-411A-BB25-1238B7C307D4}"/>
              </a:ext>
            </a:extLst>
          </p:cNvPr>
          <p:cNvSpPr>
            <a:spLocks xmlns:a="http://schemas.openxmlformats.org/drawingml/2006/main" noGrp="1"/>
          </p:cNvSpPr>
          <p:nvPr/>
        </p:nvSpPr>
        <p:spPr>
          <a:xfrm xmlns:a="http://schemas.openxmlformats.org/drawingml/2006/main">
            <a:off x="609600" y="4953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1">
                <a:solidFill>
                  <a:srgbClr val="193E3A"/>
                </a:solidFill>
                <a:latin typeface="Arial"/>
                <a:ea typeface="Arial"/>
                <a:cs typeface="Arial"/>
              </a:defRPr>
            </a:defPPr>
          </a:lstStyle>
          <a:p xmlns:a="http://schemas.openxmlformats.org/drawingml/2006/main">
            <a:pPr>
              <a:buNone/>
              <a:defRPr sz="3225" b="1">
                <a:solidFill>
                  <a:srgbClr val="193E3A"/>
                </a:solidFill>
                <a:latin typeface="Arial"/>
                <a:ea typeface="Arial"/>
                <a:cs typeface="Arial"/>
              </a:defRPr>
            </a:pPr>
            <a:r>
              <a:rPr sz="3225" b="1">
                <a:solidFill>
                  <a:srgbClr val="193E3A"/>
                </a:solidFill>
                <a:latin typeface="Arial"/>
                <a:ea typeface="Arial"/>
                <a:cs typeface="Arial"/>
              </a:rPr>
              <a:t>Мәселе және жоба мақсаты</a:t>
            </a:r>
          </a:p>
        </p:txBody>
      </p:sp>
      <p:sp>
        <p:nvSpPr>
          <p:cNvPr id="2" name="">
            <a:extLst xmlns:a="http://schemas.openxmlformats.org/drawingml/2006/main">
              <a:ext uri="{FF2B5EF4-FFF2-40B4-BE49-F238E27FC236}">
                <a16:creationId xmlns:a16="http://schemas.microsoft.com/office/drawing/2014/main" id="{4B978937-DA6D-4A90-9256-D497EEF12401}"/>
              </a:ext>
            </a:extLst>
          </p:cNvPr>
          <p:cNvSpPr>
            <a:spLocks xmlns:a="http://schemas.openxmlformats.org/drawingml/2006/main" noGrp="1"/>
          </p:cNvSpPr>
          <p:nvPr/>
        </p:nvSpPr>
        <p:spPr>
          <a:xfrm xmlns:a="http://schemas.openxmlformats.org/drawingml/2006/main">
            <a:off x="11077575" y="6315075"/>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617C77"/>
                </a:solidFill>
                <a:latin typeface="Arial"/>
                <a:ea typeface="Arial"/>
                <a:cs typeface="Arial"/>
              </a:defRPr>
            </a:defPPr>
          </a:lstStyle>
          <a:p xmlns:a="http://schemas.openxmlformats.org/drawingml/2006/main">
            <a:pPr>
              <a:buNone/>
              <a:defRPr sz="1275" b="0">
                <a:solidFill>
                  <a:srgbClr val="617C77"/>
                </a:solidFill>
                <a:latin typeface="Arial"/>
                <a:ea typeface="Arial"/>
                <a:cs typeface="Arial"/>
              </a:defRPr>
            </a:pPr>
            <a:r>
              <a:rPr sz="1275" b="0">
                <a:solidFill>
                  <a:srgbClr val="617C77"/>
                </a:solidFill>
                <a:latin typeface="Arial"/>
                <a:ea typeface="Arial"/>
                <a:cs typeface="Arial"/>
              </a:rPr>
              <a:t>02</a:t>
            </a:r>
          </a:p>
        </p:txBody>
      </p:sp>
      <p:sp>
        <p:nvSpPr>
          <p:cNvPr id="3" name="">
            <a:extLst xmlns:a="http://schemas.openxmlformats.org/drawingml/2006/main">
              <a:ext uri="{FF2B5EF4-FFF2-40B4-BE49-F238E27FC236}">
                <a16:creationId xmlns:a16="http://schemas.microsoft.com/office/drawing/2014/main" id="{0ACF9A27-7044-41D4-AE24-DBF2FD7DF113}"/>
              </a:ext>
            </a:extLst>
          </p:cNvPr>
          <p:cNvSpPr>
            <a:spLocks xmlns:a="http://schemas.openxmlformats.org/drawingml/2006/main" noGrp="1"/>
          </p:cNvSpPr>
          <p:nvPr/>
        </p:nvSpPr>
        <p:spPr>
          <a:xfrm xmlns:a="http://schemas.openxmlformats.org/drawingml/2006/main">
            <a:off x="609600" y="1790700"/>
            <a:ext cx="10953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075" b="1">
                <a:solidFill>
                  <a:srgbClr val="087F77"/>
                </a:solidFill>
                <a:latin typeface="Arial"/>
                <a:ea typeface="Arial"/>
                <a:cs typeface="Arial"/>
              </a:defRPr>
            </a:defPPr>
          </a:lstStyle>
          <a:p xmlns:a="http://schemas.openxmlformats.org/drawingml/2006/main">
            <a:pPr>
              <a:buNone/>
              <a:defRPr sz="3075" b="1">
                <a:solidFill>
                  <a:srgbClr val="087F77"/>
                </a:solidFill>
                <a:latin typeface="Arial"/>
                <a:ea typeface="Arial"/>
                <a:cs typeface="Arial"/>
              </a:defRPr>
            </a:pPr>
            <a:r>
              <a:rPr sz="3075" b="1">
                <a:solidFill>
                  <a:srgbClr val="087F77"/>
                </a:solidFill>
                <a:latin typeface="Arial"/>
                <a:ea typeface="Arial"/>
                <a:cs typeface="Arial"/>
              </a:rPr>
              <a:t>Бастапқы сұрыптауға қолдау</a:t>
            </a:r>
          </a:p>
        </p:txBody>
      </p:sp>
      <p:sp>
        <p:nvSpPr>
          <p:cNvPr id="4" name="">
            <a:extLst xmlns:a="http://schemas.openxmlformats.org/drawingml/2006/main">
              <a:ext uri="{FF2B5EF4-FFF2-40B4-BE49-F238E27FC236}">
                <a16:creationId xmlns:a16="http://schemas.microsoft.com/office/drawing/2014/main" id="{3877B61E-4BF7-495C-A58F-0CE0B9ABD26F}"/>
              </a:ext>
            </a:extLst>
          </p:cNvPr>
          <p:cNvSpPr>
            <a:spLocks xmlns:a="http://schemas.openxmlformats.org/drawingml/2006/main" noGrp="1"/>
          </p:cNvSpPr>
          <p:nvPr/>
        </p:nvSpPr>
        <p:spPr>
          <a:xfrm xmlns:a="http://schemas.openxmlformats.org/drawingml/2006/main">
            <a:off x="628650" y="2628900"/>
            <a:ext cx="10572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0">
                <a:solidFill>
                  <a:srgbClr val="617C77"/>
                </a:solidFill>
                <a:latin typeface="Arial"/>
                <a:ea typeface="Arial"/>
                <a:cs typeface="Arial"/>
              </a:defRPr>
            </a:defPPr>
          </a:lstStyle>
          <a:p xmlns:a="http://schemas.openxmlformats.org/drawingml/2006/main">
            <a:pPr>
              <a:buNone/>
              <a:defRPr sz="2325" b="0">
                <a:solidFill>
                  <a:srgbClr val="617C77"/>
                </a:solidFill>
                <a:latin typeface="Arial"/>
                <a:ea typeface="Arial"/>
                <a:cs typeface="Arial"/>
              </a:defRPr>
            </a:pPr>
            <a:r>
              <a:rPr sz="2325" b="0">
                <a:solidFill>
                  <a:srgbClr val="617C77"/>
                </a:solidFill>
                <a:latin typeface="Arial"/>
                <a:ea typeface="Arial"/>
                <a:cs typeface="Arial"/>
              </a:rPr>
              <a:t>Мамандар жетіспейтін аймақтарда рентгенді</a:t>
            </a:r>
          </a:p>
          <a:p xmlns:a="http://schemas.openxmlformats.org/drawingml/2006/main">
            <a:pPr>
              <a:buNone/>
              <a:defRPr sz="2325" b="0">
                <a:solidFill>
                  <a:srgbClr val="617C77"/>
                </a:solidFill>
                <a:latin typeface="Arial"/>
                <a:ea typeface="Arial"/>
                <a:cs typeface="Arial"/>
              </a:defRPr>
            </a:pPr>
            <a:r>
              <a:rPr sz="2325" b="0">
                <a:solidFill>
                  <a:srgbClr val="617C77"/>
                </a:solidFill>
                <a:latin typeface="Arial"/>
                <a:ea typeface="Arial"/>
                <a:cs typeface="Arial"/>
              </a:rPr>
              <a:t>алғашқы бағалау қажеттілігі</a:t>
            </a:r>
          </a:p>
        </p:txBody>
      </p:sp>
      <p:sp>
        <p:nvSpPr>
          <p:cNvPr id="5" name="">
            <a:extLst xmlns:a="http://schemas.openxmlformats.org/drawingml/2006/main">
              <a:ext uri="{FF2B5EF4-FFF2-40B4-BE49-F238E27FC236}">
                <a16:creationId xmlns:a16="http://schemas.microsoft.com/office/drawing/2014/main" id="{B1339BA5-C543-4E6D-9335-0F5F57F0980C}"/>
              </a:ext>
            </a:extLst>
          </p:cNvPr>
          <p:cNvSpPr>
            <a:spLocks xmlns:a="http://schemas.openxmlformats.org/drawingml/2006/main" noGrp="1"/>
          </p:cNvSpPr>
          <p:nvPr/>
        </p:nvSpPr>
        <p:spPr>
          <a:xfrm xmlns:a="http://schemas.openxmlformats.org/drawingml/2006/main">
            <a:off x="609600" y="4086225"/>
            <a:ext cx="4953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250" b="1">
                <a:solidFill>
                  <a:srgbClr val="193E3A"/>
                </a:solidFill>
                <a:latin typeface="Arial"/>
                <a:ea typeface="Arial"/>
                <a:cs typeface="Arial"/>
              </a:defRPr>
            </a:defPPr>
          </a:lstStyle>
          <a:p xmlns:a="http://schemas.openxmlformats.org/drawingml/2006/main">
            <a:pPr>
              <a:buNone/>
              <a:defRPr sz="2250" b="1">
                <a:solidFill>
                  <a:srgbClr val="193E3A"/>
                </a:solidFill>
                <a:latin typeface="Arial"/>
                <a:ea typeface="Arial"/>
                <a:cs typeface="Arial"/>
              </a:defRPr>
            </a:pPr>
            <a:r>
              <a:rPr sz="2250" b="1">
                <a:solidFill>
                  <a:srgbClr val="193E3A"/>
                </a:solidFill>
                <a:latin typeface="Arial"/>
                <a:ea typeface="Arial"/>
                <a:cs typeface="Arial"/>
              </a:rPr>
              <a:t>Мақсат</a:t>
            </a:r>
          </a:p>
        </p:txBody>
      </p:sp>
      <p:sp>
        <p:nvSpPr>
          <p:cNvPr id="6" name="">
            <a:extLst xmlns:a="http://schemas.openxmlformats.org/drawingml/2006/main">
              <a:ext uri="{FF2B5EF4-FFF2-40B4-BE49-F238E27FC236}">
                <a16:creationId xmlns:a16="http://schemas.microsoft.com/office/drawing/2014/main" id="{FF1AEDF7-5E35-4AD7-96FC-F0C24112D0D3}"/>
              </a:ext>
            </a:extLst>
          </p:cNvPr>
          <p:cNvSpPr>
            <a:spLocks xmlns:a="http://schemas.openxmlformats.org/drawingml/2006/main" noGrp="1"/>
          </p:cNvSpPr>
          <p:nvPr/>
        </p:nvSpPr>
        <p:spPr>
          <a:xfrm xmlns:a="http://schemas.openxmlformats.org/drawingml/2006/main">
            <a:off x="619125" y="4733925"/>
            <a:ext cx="5429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0">
                <a:solidFill>
                  <a:srgbClr val="193E3A"/>
                </a:solidFill>
                <a:latin typeface="Arial"/>
                <a:ea typeface="Arial"/>
                <a:cs typeface="Arial"/>
              </a:defRPr>
            </a:defPPr>
          </a:lstStyle>
          <a:p xmlns:a="http://schemas.openxmlformats.org/drawingml/2006/main">
            <a:pPr>
              <a:buNone/>
              <a:defRPr sz="2325" b="0">
                <a:solidFill>
                  <a:srgbClr val="193E3A"/>
                </a:solidFill>
                <a:latin typeface="Arial"/>
                <a:ea typeface="Arial"/>
                <a:cs typeface="Arial"/>
              </a:defRPr>
            </a:pPr>
            <a:r>
              <a:rPr sz="2325" b="0">
                <a:solidFill>
                  <a:srgbClr val="193E3A"/>
                </a:solidFill>
                <a:latin typeface="Arial"/>
                <a:ea typeface="Arial"/>
                <a:cs typeface="Arial"/>
              </a:rPr>
              <a:t>NORMAL / PNEUMONIA</a:t>
            </a:r>
          </a:p>
          <a:p xmlns:a="http://schemas.openxmlformats.org/drawingml/2006/main">
            <a:pPr>
              <a:buNone/>
              <a:defRPr sz="2325" b="0">
                <a:solidFill>
                  <a:srgbClr val="193E3A"/>
                </a:solidFill>
                <a:latin typeface="Arial"/>
                <a:ea typeface="Arial"/>
                <a:cs typeface="Arial"/>
              </a:defRPr>
            </a:pPr>
            <a:r>
              <a:rPr sz="2325" b="0">
                <a:solidFill>
                  <a:srgbClr val="193E3A"/>
                </a:solidFill>
                <a:latin typeface="Arial"/>
                <a:ea typeface="Arial"/>
                <a:cs typeface="Arial"/>
              </a:rPr>
              <a:t>жіктеу моделін сайтқа қосу</a:t>
            </a:r>
          </a:p>
        </p:txBody>
      </p:sp>
      <p:sp>
        <p:nvSpPr>
          <p:cNvPr id="7" name="">
            <a:extLst xmlns:a="http://schemas.openxmlformats.org/drawingml/2006/main">
              <a:ext uri="{FF2B5EF4-FFF2-40B4-BE49-F238E27FC236}">
                <a16:creationId xmlns:a16="http://schemas.microsoft.com/office/drawing/2014/main" id="{14B2CDEF-BBBC-4FF6-98BB-DB108DA07C02}"/>
              </a:ext>
            </a:extLst>
          </p:cNvPr>
          <p:cNvSpPr>
            <a:spLocks xmlns:a="http://schemas.openxmlformats.org/drawingml/2006/main" noGrp="1"/>
          </p:cNvSpPr>
          <p:nvPr/>
        </p:nvSpPr>
        <p:spPr>
          <a:xfrm xmlns:a="http://schemas.openxmlformats.org/drawingml/2006/main">
            <a:off x="6772275" y="4086225"/>
            <a:ext cx="4667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250" b="1">
                <a:solidFill>
                  <a:srgbClr val="087F77"/>
                </a:solidFill>
                <a:latin typeface="Arial"/>
                <a:ea typeface="Arial"/>
                <a:cs typeface="Arial"/>
              </a:defRPr>
            </a:defPPr>
          </a:lstStyle>
          <a:p xmlns:a="http://schemas.openxmlformats.org/drawingml/2006/main">
            <a:pPr>
              <a:buNone/>
              <a:defRPr sz="2250" b="1">
                <a:solidFill>
                  <a:srgbClr val="087F77"/>
                </a:solidFill>
                <a:latin typeface="Arial"/>
                <a:ea typeface="Arial"/>
                <a:cs typeface="Arial"/>
              </a:defRPr>
            </a:pPr>
            <a:r>
              <a:rPr sz="2250" b="1">
                <a:solidFill>
                  <a:srgbClr val="087F77"/>
                </a:solidFill>
                <a:latin typeface="Arial"/>
                <a:ea typeface="Arial"/>
                <a:cs typeface="Arial"/>
              </a:rPr>
              <a:t>Көзделген пайда</a:t>
            </a:r>
          </a:p>
        </p:txBody>
      </p:sp>
      <p:sp>
        <p:nvSpPr>
          <p:cNvPr id="8" name="">
            <a:extLst xmlns:a="http://schemas.openxmlformats.org/drawingml/2006/main">
              <a:ext uri="{FF2B5EF4-FFF2-40B4-BE49-F238E27FC236}">
                <a16:creationId xmlns:a16="http://schemas.microsoft.com/office/drawing/2014/main" id="{1C6182A4-93FA-409F-B5D0-C05846E0D53C}"/>
              </a:ext>
            </a:extLst>
          </p:cNvPr>
          <p:cNvSpPr>
            <a:spLocks xmlns:a="http://schemas.openxmlformats.org/drawingml/2006/main" noGrp="1"/>
          </p:cNvSpPr>
          <p:nvPr/>
        </p:nvSpPr>
        <p:spPr>
          <a:xfrm xmlns:a="http://schemas.openxmlformats.org/drawingml/2006/main">
            <a:off x="6781800" y="4733925"/>
            <a:ext cx="4667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0">
                <a:solidFill>
                  <a:srgbClr val="193E3A"/>
                </a:solidFill>
                <a:latin typeface="Arial"/>
                <a:ea typeface="Arial"/>
                <a:cs typeface="Arial"/>
              </a:defRPr>
            </a:defPPr>
          </a:lstStyle>
          <a:p xmlns:a="http://schemas.openxmlformats.org/drawingml/2006/main">
            <a:pPr>
              <a:buNone/>
              <a:defRPr sz="2325" b="0">
                <a:solidFill>
                  <a:srgbClr val="193E3A"/>
                </a:solidFill>
                <a:latin typeface="Arial"/>
                <a:ea typeface="Arial"/>
                <a:cs typeface="Arial"/>
              </a:defRPr>
            </a:pPr>
            <a:r>
              <a:rPr sz="2325" b="0">
                <a:solidFill>
                  <a:srgbClr val="193E3A"/>
                </a:solidFill>
                <a:latin typeface="Arial"/>
                <a:ea typeface="Arial"/>
                <a:cs typeface="Arial"/>
              </a:rPr>
              <a:t>Суреттерді сұрыптау</a:t>
            </a:r>
          </a:p>
          <a:p xmlns:a="http://schemas.openxmlformats.org/drawingml/2006/main">
            <a:pPr>
              <a:buNone/>
              <a:defRPr sz="2325" b="0">
                <a:solidFill>
                  <a:srgbClr val="193E3A"/>
                </a:solidFill>
                <a:latin typeface="Arial"/>
                <a:ea typeface="Arial"/>
                <a:cs typeface="Arial"/>
              </a:defRPr>
            </a:pPr>
            <a:r>
              <a:rPr sz="2325" b="0">
                <a:solidFill>
                  <a:srgbClr val="193E3A"/>
                </a:solidFill>
                <a:latin typeface="Arial"/>
                <a:ea typeface="Arial"/>
                <a:cs typeface="Arial"/>
              </a:rPr>
              <a:t>Нәтижені түсінікті көрсету</a:t>
            </a:r>
          </a:p>
        </p:txBody>
      </p:sp>
    </p:spTree>
    <p:extLst>
      <p:ext uri="{BB962C8B-B14F-4D97-AF65-F5344CB8AC3E}">
        <p14:creationId xmlns:p14="http://schemas.microsoft.com/office/powerpoint/2010/main" val="304876481"/>
      </p:ext>
    </p:extLst>
  </p:cSld>
</p:sld>
</file>

<file path=ppt/slides/slide3.xml><?xml version="1.0" encoding="utf-8"?>
<p:sld xmlns:p="http://schemas.openxmlformats.org/presentationml/2006/main">
  <p:cSld>
    <p:bg>
      <p:bgPr>
        <a:solidFill xmlns:a="http://schemas.openxmlformats.org/drawingml/2006/main">
          <a:srgbClr val="193E3A"/>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81DAE24-4900-4BF8-B093-BC28473887CC}"/>
              </a:ext>
            </a:extLst>
          </p:cNvPr>
          <p:cNvSpPr>
            <a:spLocks xmlns:a="http://schemas.openxmlformats.org/drawingml/2006/main" noGrp="1"/>
          </p:cNvSpPr>
          <p:nvPr/>
        </p:nvSpPr>
        <p:spPr>
          <a:xfrm xmlns:a="http://schemas.openxmlformats.org/drawingml/2006/main">
            <a:off x="609600" y="4953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1">
                <a:solidFill>
                  <a:srgbClr val="FFFFFF"/>
                </a:solidFill>
                <a:latin typeface="Arial"/>
                <a:ea typeface="Arial"/>
                <a:cs typeface="Arial"/>
              </a:defRPr>
            </a:defPPr>
          </a:lstStyle>
          <a:p xmlns:a="http://schemas.openxmlformats.org/drawingml/2006/main">
            <a:pPr>
              <a:buNone/>
              <a:defRPr sz="3225" b="1">
                <a:solidFill>
                  <a:srgbClr val="FFFFFF"/>
                </a:solidFill>
                <a:latin typeface="Arial"/>
                <a:ea typeface="Arial"/>
                <a:cs typeface="Arial"/>
              </a:defRPr>
            </a:pPr>
            <a:r>
              <a:rPr sz="3225" b="1">
                <a:solidFill>
                  <a:srgbClr val="FFFFFF"/>
                </a:solidFill>
                <a:latin typeface="Arial"/>
                <a:ea typeface="Arial"/>
                <a:cs typeface="Arial"/>
              </a:rPr>
              <a:t>Датасет және эксперименттің бөлінуі</a:t>
            </a:r>
          </a:p>
        </p:txBody>
      </p:sp>
      <p:sp>
        <p:nvSpPr>
          <p:cNvPr id="2" name="">
            <a:extLst xmlns:a="http://schemas.openxmlformats.org/drawingml/2006/main">
              <a:ext uri="{FF2B5EF4-FFF2-40B4-BE49-F238E27FC236}">
                <a16:creationId xmlns:a16="http://schemas.microsoft.com/office/drawing/2014/main" id="{CD64E8C3-C208-4B18-B54B-8A66D26ABA2C}"/>
              </a:ext>
            </a:extLst>
          </p:cNvPr>
          <p:cNvSpPr>
            <a:spLocks xmlns:a="http://schemas.openxmlformats.org/drawingml/2006/main" noGrp="1"/>
          </p:cNvSpPr>
          <p:nvPr/>
        </p:nvSpPr>
        <p:spPr>
          <a:xfrm xmlns:a="http://schemas.openxmlformats.org/drawingml/2006/main">
            <a:off x="11077575" y="6315075"/>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B8E5D8"/>
                </a:solidFill>
                <a:latin typeface="Arial"/>
                <a:ea typeface="Arial"/>
                <a:cs typeface="Arial"/>
              </a:defRPr>
            </a:defPPr>
          </a:lstStyle>
          <a:p xmlns:a="http://schemas.openxmlformats.org/drawingml/2006/main">
            <a:pPr>
              <a:buNone/>
              <a:defRPr sz="1275" b="0">
                <a:solidFill>
                  <a:srgbClr val="B8E5D8"/>
                </a:solidFill>
                <a:latin typeface="Arial"/>
                <a:ea typeface="Arial"/>
                <a:cs typeface="Arial"/>
              </a:defRPr>
            </a:pPr>
            <a:r>
              <a:rPr sz="1275" b="0">
                <a:solidFill>
                  <a:srgbClr val="B8E5D8"/>
                </a:solidFill>
                <a:latin typeface="Arial"/>
                <a:ea typeface="Arial"/>
                <a:cs typeface="Arial"/>
              </a:rPr>
              <a:t>03</a:t>
            </a:r>
          </a:p>
        </p:txBody>
      </p:sp>
      <p:sp>
        <p:nvSpPr>
          <p:cNvPr id="3" name="">
            <a:extLst xmlns:a="http://schemas.openxmlformats.org/drawingml/2006/main">
              <a:ext uri="{FF2B5EF4-FFF2-40B4-BE49-F238E27FC236}">
                <a16:creationId xmlns:a16="http://schemas.microsoft.com/office/drawing/2014/main" id="{CE29517F-C6F0-4DEB-98D2-749CD43887BF}"/>
              </a:ext>
            </a:extLst>
          </p:cNvPr>
          <p:cNvSpPr>
            <a:spLocks xmlns:a="http://schemas.openxmlformats.org/drawingml/2006/main" noGrp="1"/>
          </p:cNvSpPr>
          <p:nvPr/>
        </p:nvSpPr>
        <p:spPr>
          <a:xfrm xmlns:a="http://schemas.openxmlformats.org/drawingml/2006/main">
            <a:off x="609600" y="1771650"/>
            <a:ext cx="49530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6525" b="1">
                <a:solidFill>
                  <a:srgbClr val="B8E5D8"/>
                </a:solidFill>
                <a:latin typeface="Arial"/>
                <a:ea typeface="Arial"/>
                <a:cs typeface="Arial"/>
              </a:defRPr>
            </a:defPPr>
          </a:lstStyle>
          <a:p xmlns:a="http://schemas.openxmlformats.org/drawingml/2006/main">
            <a:pPr>
              <a:buNone/>
              <a:defRPr sz="6525" b="1">
                <a:solidFill>
                  <a:srgbClr val="B8E5D8"/>
                </a:solidFill>
                <a:latin typeface="Arial"/>
                <a:ea typeface="Arial"/>
                <a:cs typeface="Arial"/>
              </a:defRPr>
            </a:pPr>
            <a:r>
              <a:rPr sz="6525" b="1">
                <a:solidFill>
                  <a:srgbClr val="B8E5D8"/>
                </a:solidFill>
                <a:latin typeface="Arial"/>
                <a:ea typeface="Arial"/>
                <a:cs typeface="Arial"/>
              </a:rPr>
              <a:t>5856</a:t>
            </a:r>
          </a:p>
        </p:txBody>
      </p:sp>
      <p:sp>
        <p:nvSpPr>
          <p:cNvPr id="4" name="">
            <a:extLst xmlns:a="http://schemas.openxmlformats.org/drawingml/2006/main">
              <a:ext uri="{FF2B5EF4-FFF2-40B4-BE49-F238E27FC236}">
                <a16:creationId xmlns:a16="http://schemas.microsoft.com/office/drawing/2014/main" id="{C364C4EA-E43C-4F13-9F71-72DEC5021036}"/>
              </a:ext>
            </a:extLst>
          </p:cNvPr>
          <p:cNvSpPr>
            <a:spLocks xmlns:a="http://schemas.openxmlformats.org/drawingml/2006/main" noGrp="1"/>
          </p:cNvSpPr>
          <p:nvPr/>
        </p:nvSpPr>
        <p:spPr>
          <a:xfrm xmlns:a="http://schemas.openxmlformats.org/drawingml/2006/main">
            <a:off x="647700" y="2886075"/>
            <a:ext cx="5429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FFFFF"/>
                </a:solidFill>
                <a:latin typeface="Arial"/>
                <a:ea typeface="Arial"/>
                <a:cs typeface="Arial"/>
              </a:defRPr>
            </a:defPPr>
          </a:lstStyle>
          <a:p xmlns:a="http://schemas.openxmlformats.org/drawingml/2006/main">
            <a:pPr>
              <a:buNone/>
              <a:defRPr sz="2100" b="0">
                <a:solidFill>
                  <a:srgbClr val="FFFFFF"/>
                </a:solidFill>
                <a:latin typeface="Arial"/>
                <a:ea typeface="Arial"/>
                <a:cs typeface="Arial"/>
              </a:defRPr>
            </a:pPr>
            <a:r>
              <a:rPr sz="2100" b="0">
                <a:solidFill>
                  <a:srgbClr val="FFFFFF"/>
                </a:solidFill>
                <a:latin typeface="Arial"/>
                <a:ea typeface="Arial"/>
                <a:cs typeface="Arial"/>
              </a:rPr>
              <a:t>оқылған жарамды сурет</a:t>
            </a:r>
          </a:p>
        </p:txBody>
      </p:sp>
      <p:sp>
        <p:nvSpPr>
          <p:cNvPr id="5" name="">
            <a:extLst xmlns:a="http://schemas.openxmlformats.org/drawingml/2006/main">
              <a:ext uri="{FF2B5EF4-FFF2-40B4-BE49-F238E27FC236}">
                <a16:creationId xmlns:a16="http://schemas.microsoft.com/office/drawing/2014/main" id="{60CFC47C-EC9C-446F-ABD6-02EB72F06E00}"/>
              </a:ext>
            </a:extLst>
          </p:cNvPr>
          <p:cNvSpPr>
            <a:spLocks xmlns:a="http://schemas.openxmlformats.org/drawingml/2006/main" noGrp="1"/>
          </p:cNvSpPr>
          <p:nvPr/>
        </p:nvSpPr>
        <p:spPr>
          <a:xfrm xmlns:a="http://schemas.openxmlformats.org/drawingml/2006/main">
            <a:off x="7429500" y="1838325"/>
            <a:ext cx="4000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5775" b="1">
                <a:solidFill>
                  <a:srgbClr val="FFFFFF"/>
                </a:solidFill>
                <a:latin typeface="Arial"/>
                <a:ea typeface="Arial"/>
                <a:cs typeface="Arial"/>
              </a:defRPr>
            </a:defPPr>
          </a:lstStyle>
          <a:p xmlns:a="http://schemas.openxmlformats.org/drawingml/2006/main">
            <a:pPr>
              <a:buNone/>
              <a:defRPr sz="5775" b="1">
                <a:solidFill>
                  <a:srgbClr val="FFFFFF"/>
                </a:solidFill>
                <a:latin typeface="Arial"/>
                <a:ea typeface="Arial"/>
                <a:cs typeface="Arial"/>
              </a:defRPr>
            </a:pPr>
            <a:r>
              <a:rPr sz="5775" b="1">
                <a:solidFill>
                  <a:srgbClr val="FFFFFF"/>
                </a:solidFill>
                <a:latin typeface="Arial"/>
                <a:ea typeface="Arial"/>
                <a:cs typeface="Arial"/>
              </a:rPr>
              <a:t>5371</a:t>
            </a:r>
          </a:p>
        </p:txBody>
      </p:sp>
      <p:sp>
        <p:nvSpPr>
          <p:cNvPr id="6" name="">
            <a:extLst xmlns:a="http://schemas.openxmlformats.org/drawingml/2006/main">
              <a:ext uri="{FF2B5EF4-FFF2-40B4-BE49-F238E27FC236}">
                <a16:creationId xmlns:a16="http://schemas.microsoft.com/office/drawing/2014/main" id="{F7D5F830-8E64-4F9C-9ED1-F3772A3C54C8}"/>
              </a:ext>
            </a:extLst>
          </p:cNvPr>
          <p:cNvSpPr>
            <a:spLocks xmlns:a="http://schemas.openxmlformats.org/drawingml/2006/main" noGrp="1"/>
          </p:cNvSpPr>
          <p:nvPr/>
        </p:nvSpPr>
        <p:spPr>
          <a:xfrm xmlns:a="http://schemas.openxmlformats.org/drawingml/2006/main">
            <a:off x="7486650" y="2933700"/>
            <a:ext cx="3857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B8E5D8"/>
                </a:solidFill>
                <a:latin typeface="Arial"/>
                <a:ea typeface="Arial"/>
                <a:cs typeface="Arial"/>
              </a:defRPr>
            </a:defPPr>
          </a:lstStyle>
          <a:p xmlns:a="http://schemas.openxmlformats.org/drawingml/2006/main">
            <a:pPr>
              <a:buNone/>
              <a:defRPr sz="2100" b="0">
                <a:solidFill>
                  <a:srgbClr val="B8E5D8"/>
                </a:solidFill>
                <a:latin typeface="Arial"/>
                <a:ea typeface="Arial"/>
                <a:cs typeface="Arial"/>
              </a:defRPr>
            </a:pPr>
            <a:r>
              <a:rPr sz="2100" b="0">
                <a:solidFill>
                  <a:srgbClr val="B8E5D8"/>
                </a:solidFill>
                <a:latin typeface="Arial"/>
                <a:ea typeface="Arial"/>
                <a:cs typeface="Arial"/>
              </a:rPr>
              <a:t>тазалаудан кейін</a:t>
            </a:r>
          </a:p>
        </p:txBody>
      </p:sp>
      <p:sp>
        <p:nvSpPr>
          <p:cNvPr id="7" name="">
            <a:extLst xmlns:a="http://schemas.openxmlformats.org/drawingml/2006/main">
              <a:ext uri="{FF2B5EF4-FFF2-40B4-BE49-F238E27FC236}">
                <a16:creationId xmlns:a16="http://schemas.microsoft.com/office/drawing/2014/main" id="{7909F000-F70C-4FE6-A8D3-01505272328D}"/>
              </a:ext>
            </a:extLst>
          </p:cNvPr>
          <p:cNvSpPr>
            <a:spLocks xmlns:a="http://schemas.openxmlformats.org/drawingml/2006/main" noGrp="1"/>
          </p:cNvSpPr>
          <p:nvPr/>
        </p:nvSpPr>
        <p:spPr>
          <a:xfrm xmlns:a="http://schemas.openxmlformats.org/drawingml/2006/main">
            <a:off x="609600" y="4124325"/>
            <a:ext cx="3429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4425" b="1">
                <a:solidFill>
                  <a:srgbClr val="FFFFFF"/>
                </a:solidFill>
                <a:latin typeface="Arial"/>
                <a:ea typeface="Arial"/>
                <a:cs typeface="Arial"/>
              </a:defRPr>
            </a:defPPr>
          </a:lstStyle>
          <a:p xmlns:a="http://schemas.openxmlformats.org/drawingml/2006/main">
            <a:pPr>
              <a:buNone/>
              <a:defRPr sz="4425" b="1">
                <a:solidFill>
                  <a:srgbClr val="FFFFFF"/>
                </a:solidFill>
                <a:latin typeface="Arial"/>
                <a:ea typeface="Arial"/>
                <a:cs typeface="Arial"/>
              </a:defRPr>
            </a:pPr>
            <a:r>
              <a:rPr sz="4425" b="1">
                <a:solidFill>
                  <a:srgbClr val="FFFFFF"/>
                </a:solidFill>
                <a:latin typeface="Arial"/>
                <a:ea typeface="Arial"/>
                <a:cs typeface="Arial"/>
              </a:rPr>
              <a:t>3801</a:t>
            </a:r>
          </a:p>
        </p:txBody>
      </p:sp>
      <p:sp>
        <p:nvSpPr>
          <p:cNvPr id="8" name="">
            <a:extLst xmlns:a="http://schemas.openxmlformats.org/drawingml/2006/main">
              <a:ext uri="{FF2B5EF4-FFF2-40B4-BE49-F238E27FC236}">
                <a16:creationId xmlns:a16="http://schemas.microsoft.com/office/drawing/2014/main" id="{AB212961-85A5-4BEC-B45D-EDD9E84879E7}"/>
              </a:ext>
            </a:extLst>
          </p:cNvPr>
          <p:cNvSpPr>
            <a:spLocks xmlns:a="http://schemas.openxmlformats.org/drawingml/2006/main" noGrp="1"/>
          </p:cNvSpPr>
          <p:nvPr/>
        </p:nvSpPr>
        <p:spPr>
          <a:xfrm xmlns:a="http://schemas.openxmlformats.org/drawingml/2006/main">
            <a:off x="647700" y="502920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0">
                <a:solidFill>
                  <a:srgbClr val="B8E5D8"/>
                </a:solidFill>
                <a:latin typeface="Arial"/>
                <a:ea typeface="Arial"/>
                <a:cs typeface="Arial"/>
              </a:defRPr>
            </a:defPPr>
          </a:lstStyle>
          <a:p xmlns:a="http://schemas.openxmlformats.org/drawingml/2006/main">
            <a:pPr>
              <a:buNone/>
              <a:defRPr sz="2175" b="0">
                <a:solidFill>
                  <a:srgbClr val="B8E5D8"/>
                </a:solidFill>
                <a:latin typeface="Arial"/>
                <a:ea typeface="Arial"/>
                <a:cs typeface="Arial"/>
              </a:defRPr>
            </a:pPr>
            <a:r>
              <a:rPr sz="2175" b="0">
                <a:solidFill>
                  <a:srgbClr val="B8E5D8"/>
                </a:solidFill>
                <a:latin typeface="Arial"/>
                <a:ea typeface="Arial"/>
                <a:cs typeface="Arial"/>
              </a:rPr>
              <a:t>Train</a:t>
            </a:r>
          </a:p>
        </p:txBody>
      </p:sp>
      <p:sp>
        <p:nvSpPr>
          <p:cNvPr id="9" name="">
            <a:extLst xmlns:a="http://schemas.openxmlformats.org/drawingml/2006/main">
              <a:ext uri="{FF2B5EF4-FFF2-40B4-BE49-F238E27FC236}">
                <a16:creationId xmlns:a16="http://schemas.microsoft.com/office/drawing/2014/main" id="{7163266F-B431-4461-BCA9-452BA50A2FDE}"/>
              </a:ext>
            </a:extLst>
          </p:cNvPr>
          <p:cNvSpPr>
            <a:spLocks xmlns:a="http://schemas.openxmlformats.org/drawingml/2006/main" noGrp="1"/>
          </p:cNvSpPr>
          <p:nvPr/>
        </p:nvSpPr>
        <p:spPr>
          <a:xfrm xmlns:a="http://schemas.openxmlformats.org/drawingml/2006/main">
            <a:off x="4914900" y="4124325"/>
            <a:ext cx="266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4425" b="1">
                <a:solidFill>
                  <a:srgbClr val="FFFFFF"/>
                </a:solidFill>
                <a:latin typeface="Arial"/>
                <a:ea typeface="Arial"/>
                <a:cs typeface="Arial"/>
              </a:defRPr>
            </a:defPPr>
          </a:lstStyle>
          <a:p xmlns:a="http://schemas.openxmlformats.org/drawingml/2006/main">
            <a:pPr>
              <a:buNone/>
              <a:defRPr sz="4425" b="1">
                <a:solidFill>
                  <a:srgbClr val="FFFFFF"/>
                </a:solidFill>
                <a:latin typeface="Arial"/>
                <a:ea typeface="Arial"/>
                <a:cs typeface="Arial"/>
              </a:defRPr>
            </a:pPr>
            <a:r>
              <a:rPr sz="4425" b="1">
                <a:solidFill>
                  <a:srgbClr val="FFFFFF"/>
                </a:solidFill>
                <a:latin typeface="Arial"/>
                <a:ea typeface="Arial"/>
                <a:cs typeface="Arial"/>
              </a:rPr>
              <a:t>952</a:t>
            </a:r>
          </a:p>
        </p:txBody>
      </p:sp>
      <p:sp>
        <p:nvSpPr>
          <p:cNvPr id="10" name="">
            <a:extLst xmlns:a="http://schemas.openxmlformats.org/drawingml/2006/main">
              <a:ext uri="{FF2B5EF4-FFF2-40B4-BE49-F238E27FC236}">
                <a16:creationId xmlns:a16="http://schemas.microsoft.com/office/drawing/2014/main" id="{2CD827C8-C448-4BA1-87A9-C87BBEBB6F79}"/>
              </a:ext>
            </a:extLst>
          </p:cNvPr>
          <p:cNvSpPr>
            <a:spLocks xmlns:a="http://schemas.openxmlformats.org/drawingml/2006/main" noGrp="1"/>
          </p:cNvSpPr>
          <p:nvPr/>
        </p:nvSpPr>
        <p:spPr>
          <a:xfrm xmlns:a="http://schemas.openxmlformats.org/drawingml/2006/main">
            <a:off x="4943475" y="502920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0">
                <a:solidFill>
                  <a:srgbClr val="B8E5D8"/>
                </a:solidFill>
                <a:latin typeface="Arial"/>
                <a:ea typeface="Arial"/>
                <a:cs typeface="Arial"/>
              </a:defRPr>
            </a:defPPr>
          </a:lstStyle>
          <a:p xmlns:a="http://schemas.openxmlformats.org/drawingml/2006/main">
            <a:pPr>
              <a:buNone/>
              <a:defRPr sz="2175" b="0">
                <a:solidFill>
                  <a:srgbClr val="B8E5D8"/>
                </a:solidFill>
                <a:latin typeface="Arial"/>
                <a:ea typeface="Arial"/>
                <a:cs typeface="Arial"/>
              </a:defRPr>
            </a:pPr>
            <a:r>
              <a:rPr sz="2175" b="0">
                <a:solidFill>
                  <a:srgbClr val="B8E5D8"/>
                </a:solidFill>
                <a:latin typeface="Arial"/>
                <a:ea typeface="Arial"/>
                <a:cs typeface="Arial"/>
              </a:rPr>
              <a:t>Validation</a:t>
            </a:r>
          </a:p>
        </p:txBody>
      </p:sp>
      <p:sp>
        <p:nvSpPr>
          <p:cNvPr id="11" name="">
            <a:extLst xmlns:a="http://schemas.openxmlformats.org/drawingml/2006/main">
              <a:ext uri="{FF2B5EF4-FFF2-40B4-BE49-F238E27FC236}">
                <a16:creationId xmlns:a16="http://schemas.microsoft.com/office/drawing/2014/main" id="{7B533209-80BB-4FA2-A3A0-827C42FE60AC}"/>
              </a:ext>
            </a:extLst>
          </p:cNvPr>
          <p:cNvSpPr>
            <a:spLocks xmlns:a="http://schemas.openxmlformats.org/drawingml/2006/main" noGrp="1"/>
          </p:cNvSpPr>
          <p:nvPr/>
        </p:nvSpPr>
        <p:spPr>
          <a:xfrm xmlns:a="http://schemas.openxmlformats.org/drawingml/2006/main">
            <a:off x="8905875" y="4124325"/>
            <a:ext cx="2571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4425" b="1">
                <a:solidFill>
                  <a:srgbClr val="FFFFFF"/>
                </a:solidFill>
                <a:latin typeface="Arial"/>
                <a:ea typeface="Arial"/>
                <a:cs typeface="Arial"/>
              </a:defRPr>
            </a:defPPr>
          </a:lstStyle>
          <a:p xmlns:a="http://schemas.openxmlformats.org/drawingml/2006/main">
            <a:pPr>
              <a:buNone/>
              <a:defRPr sz="4425" b="1">
                <a:solidFill>
                  <a:srgbClr val="FFFFFF"/>
                </a:solidFill>
                <a:latin typeface="Arial"/>
                <a:ea typeface="Arial"/>
                <a:cs typeface="Arial"/>
              </a:defRPr>
            </a:pPr>
            <a:r>
              <a:rPr sz="4425" b="1">
                <a:solidFill>
                  <a:srgbClr val="FFFFFF"/>
                </a:solidFill>
                <a:latin typeface="Arial"/>
                <a:ea typeface="Arial"/>
                <a:cs typeface="Arial"/>
              </a:rPr>
              <a:t>618</a:t>
            </a:r>
          </a:p>
        </p:txBody>
      </p:sp>
      <p:sp>
        <p:nvSpPr>
          <p:cNvPr id="12" name="">
            <a:extLst xmlns:a="http://schemas.openxmlformats.org/drawingml/2006/main">
              <a:ext uri="{FF2B5EF4-FFF2-40B4-BE49-F238E27FC236}">
                <a16:creationId xmlns:a16="http://schemas.microsoft.com/office/drawing/2014/main" id="{017AC610-4000-4BFB-ADDD-48E9D388AF3C}"/>
              </a:ext>
            </a:extLst>
          </p:cNvPr>
          <p:cNvSpPr>
            <a:spLocks xmlns:a="http://schemas.openxmlformats.org/drawingml/2006/main" noGrp="1"/>
          </p:cNvSpPr>
          <p:nvPr/>
        </p:nvSpPr>
        <p:spPr>
          <a:xfrm xmlns:a="http://schemas.openxmlformats.org/drawingml/2006/main">
            <a:off x="8943975" y="5029200"/>
            <a:ext cx="2381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0">
                <a:solidFill>
                  <a:srgbClr val="B8E5D8"/>
                </a:solidFill>
                <a:latin typeface="Arial"/>
                <a:ea typeface="Arial"/>
                <a:cs typeface="Arial"/>
              </a:defRPr>
            </a:defPPr>
          </a:lstStyle>
          <a:p xmlns:a="http://schemas.openxmlformats.org/drawingml/2006/main">
            <a:pPr>
              <a:buNone/>
              <a:defRPr sz="2175" b="0">
                <a:solidFill>
                  <a:srgbClr val="B8E5D8"/>
                </a:solidFill>
                <a:latin typeface="Arial"/>
                <a:ea typeface="Arial"/>
                <a:cs typeface="Arial"/>
              </a:defRPr>
            </a:pPr>
            <a:r>
              <a:rPr sz="2175" b="0">
                <a:solidFill>
                  <a:srgbClr val="B8E5D8"/>
                </a:solidFill>
                <a:latin typeface="Arial"/>
                <a:ea typeface="Arial"/>
                <a:cs typeface="Arial"/>
              </a:rPr>
              <a:t>Test</a:t>
            </a:r>
          </a:p>
        </p:txBody>
      </p:sp>
      <p:sp>
        <p:nvSpPr>
          <p:cNvPr id="13" name="">
            <a:extLst xmlns:a="http://schemas.openxmlformats.org/drawingml/2006/main">
              <a:ext uri="{FF2B5EF4-FFF2-40B4-BE49-F238E27FC236}">
                <a16:creationId xmlns:a16="http://schemas.microsoft.com/office/drawing/2014/main" id="{D1A17C4F-0FBD-46DC-A483-DF195FC86489}"/>
              </a:ext>
            </a:extLst>
          </p:cNvPr>
          <p:cNvSpPr>
            <a:spLocks xmlns:a="http://schemas.openxmlformats.org/drawingml/2006/main" noGrp="1"/>
          </p:cNvSpPr>
          <p:nvPr/>
        </p:nvSpPr>
        <p:spPr>
          <a:xfrm xmlns:a="http://schemas.openxmlformats.org/drawingml/2006/main">
            <a:off x="609600" y="5905500"/>
            <a:ext cx="1057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B8E5D8"/>
                </a:solidFill>
                <a:latin typeface="Arial"/>
                <a:ea typeface="Arial"/>
                <a:cs typeface="Arial"/>
              </a:defRPr>
            </a:defPPr>
          </a:lstStyle>
          <a:p xmlns:a="http://schemas.openxmlformats.org/drawingml/2006/main">
            <a:pPr>
              <a:buNone/>
              <a:defRPr sz="1650" b="0">
                <a:solidFill>
                  <a:srgbClr val="B8E5D8"/>
                </a:solidFill>
                <a:latin typeface="Arial"/>
                <a:ea typeface="Arial"/>
                <a:cs typeface="Arial"/>
              </a:defRPr>
            </a:pPr>
            <a:r>
              <a:rPr sz="1650" b="0">
                <a:solidFill>
                  <a:srgbClr val="B8E5D8"/>
                </a:solidFill>
                <a:latin typeface="Arial"/>
                <a:ea typeface="Arial"/>
                <a:cs typeface="Arial"/>
              </a:rPr>
              <a:t>453 development суретін test қиылысуына байланысты шығардық</a:t>
            </a:r>
          </a:p>
        </p:txBody>
      </p:sp>
    </p:spTree>
    <p:extLst>
      <p:ext uri="{BB962C8B-B14F-4D97-AF65-F5344CB8AC3E}">
        <p14:creationId xmlns:p14="http://schemas.microsoft.com/office/powerpoint/2010/main" val="223799671"/>
      </p:ext>
    </p:extLst>
  </p:cSld>
</p:sld>
</file>

<file path=ppt/slides/slide4.xml><?xml version="1.0" encoding="utf-8"?>
<p:sld xmlns:p="http://schemas.openxmlformats.org/presentationml/2006/main">
  <p:cSld>
    <p:bg>
      <p:bgPr>
        <a:solidFill xmlns:a="http://schemas.openxmlformats.org/drawingml/2006/main">
          <a:srgbClr val="F6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53872B9-6028-4EE6-8FD8-EEB1AC444329}"/>
              </a:ext>
            </a:extLst>
          </p:cNvPr>
          <p:cNvSpPr>
            <a:spLocks xmlns:a="http://schemas.openxmlformats.org/drawingml/2006/main" noGrp="1"/>
          </p:cNvSpPr>
          <p:nvPr/>
        </p:nvSpPr>
        <p:spPr>
          <a:xfrm xmlns:a="http://schemas.openxmlformats.org/drawingml/2006/main">
            <a:off x="609600" y="4953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1">
                <a:solidFill>
                  <a:srgbClr val="193E3A"/>
                </a:solidFill>
                <a:latin typeface="Arial"/>
                <a:ea typeface="Arial"/>
                <a:cs typeface="Arial"/>
              </a:defRPr>
            </a:defPPr>
          </a:lstStyle>
          <a:p xmlns:a="http://schemas.openxmlformats.org/drawingml/2006/main">
            <a:pPr>
              <a:buNone/>
              <a:defRPr sz="3225" b="1">
                <a:solidFill>
                  <a:srgbClr val="193E3A"/>
                </a:solidFill>
                <a:latin typeface="Arial"/>
                <a:ea typeface="Arial"/>
                <a:cs typeface="Arial"/>
              </a:defRPr>
            </a:pPr>
            <a:r>
              <a:rPr sz="3225" b="1">
                <a:solidFill>
                  <a:srgbClr val="193E3A"/>
                </a:solidFill>
                <a:latin typeface="Arial"/>
                <a:ea typeface="Arial"/>
                <a:cs typeface="Arial"/>
              </a:rPr>
              <a:t>Модельден веб-сайтқа дейін</a:t>
            </a:r>
          </a:p>
        </p:txBody>
      </p:sp>
      <p:sp>
        <p:nvSpPr>
          <p:cNvPr id="2" name="">
            <a:extLst xmlns:a="http://schemas.openxmlformats.org/drawingml/2006/main">
              <a:ext uri="{FF2B5EF4-FFF2-40B4-BE49-F238E27FC236}">
                <a16:creationId xmlns:a16="http://schemas.microsoft.com/office/drawing/2014/main" id="{5EA2D68C-A286-4281-94E3-C4A92784B0EA}"/>
              </a:ext>
            </a:extLst>
          </p:cNvPr>
          <p:cNvSpPr>
            <a:spLocks xmlns:a="http://schemas.openxmlformats.org/drawingml/2006/main" noGrp="1"/>
          </p:cNvSpPr>
          <p:nvPr/>
        </p:nvSpPr>
        <p:spPr>
          <a:xfrm xmlns:a="http://schemas.openxmlformats.org/drawingml/2006/main">
            <a:off x="11077575" y="6315075"/>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617C77"/>
                </a:solidFill>
                <a:latin typeface="Arial"/>
                <a:ea typeface="Arial"/>
                <a:cs typeface="Arial"/>
              </a:defRPr>
            </a:defPPr>
          </a:lstStyle>
          <a:p xmlns:a="http://schemas.openxmlformats.org/drawingml/2006/main">
            <a:pPr>
              <a:buNone/>
              <a:defRPr sz="1275" b="0">
                <a:solidFill>
                  <a:srgbClr val="617C77"/>
                </a:solidFill>
                <a:latin typeface="Arial"/>
                <a:ea typeface="Arial"/>
                <a:cs typeface="Arial"/>
              </a:defRPr>
            </a:pPr>
            <a:r>
              <a:rPr sz="1275" b="0">
                <a:solidFill>
                  <a:srgbClr val="617C77"/>
                </a:solidFill>
                <a:latin typeface="Arial"/>
                <a:ea typeface="Arial"/>
                <a:cs typeface="Arial"/>
              </a:rPr>
              <a:t>04</a:t>
            </a:r>
          </a:p>
        </p:txBody>
      </p:sp>
      <p:graphicFrame>
        <p:nvGraphicFramePr>
          <p:cNvPr id="3" name="">
            <a:extLst xmlns:a="http://schemas.openxmlformats.org/drawingml/2006/main">
              <a:ext uri="{FF2B5EF4-FFF2-40B4-BE49-F238E27FC236}">
                <a16:creationId xmlns:a16="http://schemas.microsoft.com/office/drawing/2014/main" id="{3B1FB806-647D-4023-940D-730E961DACE8}"/>
              </a:ext>
            </a:extLst>
          </p:cNvPr>
          <p:cNvGraphicFramePr/>
          <p:nvPr/>
        </p:nvGraphicFramePr>
        <p:xfrm>
          <a:off xmlns:a="http://schemas.openxmlformats.org/drawingml/2006/main" x="609600" y="1752600"/>
          <a:ext xmlns:a="http://schemas.openxmlformats.org/drawingml/2006/main" cx="10972800" cy="2571750"/>
        </p:xfrm>
        <a:graphic xmlns:a="http://schemas.openxmlformats.org/drawingml/2006/main">
          <a:graphicData uri="http://schemas.openxmlformats.org/drawingml/2006/table">
            <a:tbl>
              <a:tblPr/>
              <a:tblGrid>
                <a:gridCol w="2857500"/>
                <a:gridCol w="3667125"/>
                <a:gridCol w="4448175"/>
              </a:tblGrid>
              <a:tr h="642938">
                <a:tc>
                  <a:txBody>
                    <a:bodyPr/>
                    <a:lstStyle/>
                    <a:p>
                      <a:r>
                        <a:rPr sz="1875" b="1">
                          <a:solidFill>
                            <a:srgbClr val="FFFFFF"/>
                          </a:solidFill>
                          <a:latin typeface="Arial"/>
                          <a:ea typeface="Arial"/>
                          <a:cs typeface="Arial"/>
                        </a:rPr>
                        <a:t/>
                      </a:r>
                    </a:p>
                  </a:txBody>
                  <a:tcPr marL="91440" marR="91440" marT="45720" marB="45720">
                    <a:lnL w="9525">
                      <a:solidFill>
                        <a:srgbClr val="CBDDD6"/>
                      </a:solidFill>
                      <a:prstDash val="solid"/>
                    </a:lnL>
                    <a:lnR w="9525">
                      <a:solidFill>
                        <a:srgbClr val="CBDDD6"/>
                      </a:solidFill>
                      <a:prstDash val="solid"/>
                    </a:lnR>
                    <a:lnT w="9525">
                      <a:solidFill>
                        <a:srgbClr val="CBDDD6"/>
                      </a:solidFill>
                      <a:prstDash val="solid"/>
                    </a:lnT>
                    <a:lnB w="9525">
                      <a:solidFill>
                        <a:srgbClr val="CBDDD6"/>
                      </a:solidFill>
                      <a:prstDash val="solid"/>
                    </a:lnB>
                    <a:solidFill>
                      <a:srgbClr val="193E3A"/>
                    </a:solidFill>
                  </a:tcPr>
                </a:tc>
                <a:tc>
                  <a:txBody>
                    <a:bodyPr/>
                    <a:lstStyle/>
                    <a:p>
                      <a:r>
                        <a:rPr sz="1875" b="1">
                          <a:solidFill>
                            <a:srgbClr val="FFFFFF"/>
                          </a:solidFill>
                          <a:latin typeface="Arial"/>
                          <a:ea typeface="Arial"/>
                          <a:cs typeface="Arial"/>
                        </a:rPr>
                        <a:t>CNN</a:t>
                      </a:r>
                    </a:p>
                  </a:txBody>
                  <a:tcPr marL="91440" marR="91440" marT="45720" marB="45720">
                    <a:lnR w="9525">
                      <a:solidFill>
                        <a:srgbClr val="CBDDD6"/>
                      </a:solidFill>
                      <a:prstDash val="solid"/>
                    </a:lnR>
                    <a:lnT w="9525">
                      <a:solidFill>
                        <a:srgbClr val="CBDDD6"/>
                      </a:solidFill>
                      <a:prstDash val="solid"/>
                    </a:lnT>
                    <a:lnB w="9525">
                      <a:solidFill>
                        <a:srgbClr val="CBDDD6"/>
                      </a:solidFill>
                      <a:prstDash val="solid"/>
                    </a:lnB>
                    <a:solidFill>
                      <a:srgbClr val="193E3A"/>
                    </a:solidFill>
                  </a:tcPr>
                </a:tc>
                <a:tc>
                  <a:txBody>
                    <a:bodyPr/>
                    <a:lstStyle/>
                    <a:p>
                      <a:r>
                        <a:rPr sz="1875" b="1">
                          <a:solidFill>
                            <a:srgbClr val="FFFFFF"/>
                          </a:solidFill>
                          <a:latin typeface="Arial"/>
                          <a:ea typeface="Arial"/>
                          <a:cs typeface="Arial"/>
                        </a:rPr>
                        <a:t>MobileNetV2</a:t>
                      </a:r>
                    </a:p>
                  </a:txBody>
                  <a:tcPr marL="91440" marR="91440" marT="45720" marB="45720">
                    <a:lnR w="9525">
                      <a:solidFill>
                        <a:srgbClr val="CBDDD6"/>
                      </a:solidFill>
                      <a:prstDash val="solid"/>
                    </a:lnR>
                    <a:lnT w="9525">
                      <a:solidFill>
                        <a:srgbClr val="CBDDD6"/>
                      </a:solidFill>
                      <a:prstDash val="solid"/>
                    </a:lnT>
                    <a:lnB w="9525">
                      <a:solidFill>
                        <a:srgbClr val="CBDDD6"/>
                      </a:solidFill>
                      <a:prstDash val="solid"/>
                    </a:lnB>
                    <a:solidFill>
                      <a:srgbClr val="193E3A"/>
                    </a:solidFill>
                  </a:tcPr>
                </a:tc>
              </a:tr>
              <a:tr h="642938">
                <a:tc>
                  <a:txBody>
                    <a:bodyPr/>
                    <a:lstStyle/>
                    <a:p>
                      <a:r>
                        <a:rPr sz="1875" b="0">
                          <a:solidFill>
                            <a:srgbClr val="193E3A"/>
                          </a:solidFill>
                          <a:latin typeface="Arial"/>
                          <a:ea typeface="Arial"/>
                          <a:cs typeface="Arial"/>
                        </a:rPr>
                        <a:t>Бастапқы салмақ</a:t>
                      </a:r>
                    </a:p>
                  </a:txBody>
                  <a:tcPr marL="91440" marR="91440" marT="45720" marB="45720">
                    <a:lnL w="9525">
                      <a:solidFill>
                        <a:srgbClr val="CBDDD6"/>
                      </a:solidFill>
                      <a:prstDash val="solid"/>
                    </a:lnL>
                    <a:lnR w="9525">
                      <a:solidFill>
                        <a:srgbClr val="CBDDD6"/>
                      </a:solidFill>
                      <a:prstDash val="solid"/>
                    </a:lnR>
                    <a:lnB w="9525">
                      <a:solidFill>
                        <a:srgbClr val="CBDDD6"/>
                      </a:solidFill>
                      <a:prstDash val="solid"/>
                    </a:lnB>
                    <a:solidFill>
                      <a:srgbClr val="FFFFFF"/>
                    </a:solidFill>
                  </a:tcPr>
                </a:tc>
                <a:tc>
                  <a:txBody>
                    <a:bodyPr/>
                    <a:lstStyle/>
                    <a:p>
                      <a:r>
                        <a:rPr sz="1875" b="0">
                          <a:solidFill>
                            <a:srgbClr val="193E3A"/>
                          </a:solidFill>
                          <a:latin typeface="Arial"/>
                          <a:ea typeface="Arial"/>
                          <a:cs typeface="Arial"/>
                        </a:rPr>
                        <a:t>Кездейсоқ</a:t>
                      </a:r>
                    </a:p>
                  </a:txBody>
                  <a:tcPr marL="91440" marR="91440" marT="45720" marB="45720">
                    <a:lnR w="9525">
                      <a:solidFill>
                        <a:srgbClr val="CBDDD6"/>
                      </a:solidFill>
                      <a:prstDash val="solid"/>
                    </a:lnR>
                    <a:lnB w="9525">
                      <a:solidFill>
                        <a:srgbClr val="CBDDD6"/>
                      </a:solidFill>
                      <a:prstDash val="solid"/>
                    </a:lnB>
                    <a:solidFill>
                      <a:srgbClr val="FFFFFF"/>
                    </a:solidFill>
                  </a:tcPr>
                </a:tc>
                <a:tc>
                  <a:txBody>
                    <a:bodyPr/>
                    <a:lstStyle/>
                    <a:p>
                      <a:r>
                        <a:rPr sz="1875" b="0">
                          <a:solidFill>
                            <a:srgbClr val="193E3A"/>
                          </a:solidFill>
                          <a:latin typeface="Arial"/>
                          <a:ea typeface="Arial"/>
                          <a:cs typeface="Arial"/>
                        </a:rPr>
                        <a:t>ImageNet</a:t>
                      </a:r>
                    </a:p>
                  </a:txBody>
                  <a:tcPr marL="91440" marR="91440" marT="45720" marB="45720">
                    <a:lnR w="9525">
                      <a:solidFill>
                        <a:srgbClr val="CBDDD6"/>
                      </a:solidFill>
                      <a:prstDash val="solid"/>
                    </a:lnR>
                    <a:lnB w="9525">
                      <a:solidFill>
                        <a:srgbClr val="CBDDD6"/>
                      </a:solidFill>
                      <a:prstDash val="solid"/>
                    </a:lnB>
                    <a:solidFill>
                      <a:srgbClr val="FFFFFF"/>
                    </a:solidFill>
                  </a:tcPr>
                </a:tc>
              </a:tr>
              <a:tr h="642938">
                <a:tc>
                  <a:txBody>
                    <a:bodyPr/>
                    <a:lstStyle/>
                    <a:p>
                      <a:r>
                        <a:rPr sz="1875" b="0">
                          <a:solidFill>
                            <a:srgbClr val="193E3A"/>
                          </a:solidFill>
                          <a:latin typeface="Arial"/>
                          <a:ea typeface="Arial"/>
                          <a:cs typeface="Arial"/>
                        </a:rPr>
                        <a:t>Үйрету тәсілі</a:t>
                      </a:r>
                    </a:p>
                  </a:txBody>
                  <a:tcPr marL="91440" marR="91440" marT="45720" marB="45720">
                    <a:lnL w="9525">
                      <a:solidFill>
                        <a:srgbClr val="CBDDD6"/>
                      </a:solidFill>
                      <a:prstDash val="solid"/>
                    </a:lnL>
                    <a:lnR w="9525">
                      <a:solidFill>
                        <a:srgbClr val="CBDDD6"/>
                      </a:solidFill>
                      <a:prstDash val="solid"/>
                    </a:lnR>
                    <a:lnB w="9525">
                      <a:solidFill>
                        <a:srgbClr val="CBDDD6"/>
                      </a:solidFill>
                      <a:prstDash val="solid"/>
                    </a:lnB>
                    <a:solidFill>
                      <a:srgbClr val="E9F3EE"/>
                    </a:solidFill>
                  </a:tcPr>
                </a:tc>
                <a:tc>
                  <a:txBody>
                    <a:bodyPr/>
                    <a:lstStyle/>
                    <a:p>
                      <a:r>
                        <a:rPr sz="1875" b="0">
                          <a:solidFill>
                            <a:srgbClr val="193E3A"/>
                          </a:solidFill>
                          <a:latin typeface="Arial"/>
                          <a:ea typeface="Arial"/>
                          <a:cs typeface="Arial"/>
                        </a:rPr>
                        <a:t>CNN-ді басынан үйрету</a:t>
                      </a:r>
                    </a:p>
                  </a:txBody>
                  <a:tcPr marL="91440" marR="91440" marT="45720" marB="45720">
                    <a:lnR w="9525">
                      <a:solidFill>
                        <a:srgbClr val="CBDDD6"/>
                      </a:solidFill>
                      <a:prstDash val="solid"/>
                    </a:lnR>
                    <a:lnB w="9525">
                      <a:solidFill>
                        <a:srgbClr val="CBDDD6"/>
                      </a:solidFill>
                      <a:prstDash val="solid"/>
                    </a:lnB>
                    <a:solidFill>
                      <a:srgbClr val="E9F3EE"/>
                    </a:solidFill>
                  </a:tcPr>
                </a:tc>
                <a:tc>
                  <a:txBody>
                    <a:bodyPr/>
                    <a:lstStyle/>
                    <a:p>
                      <a:r>
                        <a:rPr sz="1875" b="0">
                          <a:solidFill>
                            <a:srgbClr val="193E3A"/>
                          </a:solidFill>
                          <a:latin typeface="Arial"/>
                          <a:ea typeface="Arial"/>
                          <a:cs typeface="Arial"/>
                        </a:rPr>
                        <a:t>Transfer Learning + fine</a:t>
                      </a:r>
                    </a:p>
                  </a:txBody>
                  <a:tcPr marL="91440" marR="91440" marT="45720" marB="45720">
                    <a:lnR w="9525">
                      <a:solidFill>
                        <a:srgbClr val="CBDDD6"/>
                      </a:solidFill>
                      <a:prstDash val="solid"/>
                    </a:lnR>
                    <a:lnB w="9525">
                      <a:solidFill>
                        <a:srgbClr val="CBDDD6"/>
                      </a:solidFill>
                      <a:prstDash val="solid"/>
                    </a:lnB>
                    <a:solidFill>
                      <a:srgbClr val="E9F3EE"/>
                    </a:solidFill>
                  </a:tcPr>
                </a:tc>
              </a:tr>
              <a:tr h="642938">
                <a:tc>
                  <a:txBody>
                    <a:bodyPr/>
                    <a:lstStyle/>
                    <a:p>
                      <a:r>
                        <a:rPr sz="1875" b="0">
                          <a:solidFill>
                            <a:srgbClr val="193E3A"/>
                          </a:solidFill>
                          <a:latin typeface="Arial"/>
                          <a:ea typeface="Arial"/>
                          <a:cs typeface="Arial"/>
                        </a:rPr>
                        <a:t>Шешім шегі</a:t>
                      </a:r>
                    </a:p>
                  </a:txBody>
                  <a:tcPr marL="91440" marR="91440" marT="45720" marB="45720">
                    <a:lnL w="9525">
                      <a:solidFill>
                        <a:srgbClr val="CBDDD6"/>
                      </a:solidFill>
                      <a:prstDash val="solid"/>
                    </a:lnL>
                    <a:lnR w="9525">
                      <a:solidFill>
                        <a:srgbClr val="CBDDD6"/>
                      </a:solidFill>
                      <a:prstDash val="solid"/>
                    </a:lnR>
                    <a:lnB w="9525">
                      <a:solidFill>
                        <a:srgbClr val="CBDDD6"/>
                      </a:solidFill>
                      <a:prstDash val="solid"/>
                    </a:lnB>
                    <a:solidFill>
                      <a:srgbClr val="FFFFFF"/>
                    </a:solidFill>
                  </a:tcPr>
                </a:tc>
                <a:tc>
                  <a:txBody>
                    <a:bodyPr/>
                    <a:lstStyle/>
                    <a:p>
                      <a:r>
                        <a:rPr sz="1875" b="0">
                          <a:solidFill>
                            <a:srgbClr val="193E3A"/>
                          </a:solidFill>
                          <a:latin typeface="Arial"/>
                          <a:ea typeface="Arial"/>
                          <a:cs typeface="Arial"/>
                        </a:rPr>
                        <a:t>0,485</a:t>
                      </a:r>
                    </a:p>
                  </a:txBody>
                  <a:tcPr marL="91440" marR="91440" marT="45720" marB="45720">
                    <a:lnR w="9525">
                      <a:solidFill>
                        <a:srgbClr val="CBDDD6"/>
                      </a:solidFill>
                      <a:prstDash val="solid"/>
                    </a:lnR>
                    <a:lnB w="9525">
                      <a:solidFill>
                        <a:srgbClr val="CBDDD6"/>
                      </a:solidFill>
                      <a:prstDash val="solid"/>
                    </a:lnB>
                    <a:solidFill>
                      <a:srgbClr val="FFFFFF"/>
                    </a:solidFill>
                  </a:tcPr>
                </a:tc>
                <a:tc>
                  <a:txBody>
                    <a:bodyPr/>
                    <a:lstStyle/>
                    <a:p>
                      <a:r>
                        <a:rPr sz="1875" b="0">
                          <a:solidFill>
                            <a:srgbClr val="193E3A"/>
                          </a:solidFill>
                          <a:latin typeface="Arial"/>
                          <a:ea typeface="Arial"/>
                          <a:cs typeface="Arial"/>
                        </a:rPr>
                        <a:t>0,740</a:t>
                      </a:r>
                    </a:p>
                  </a:txBody>
                  <a:tcPr marL="91440" marR="91440" marT="45720" marB="45720">
                    <a:lnR w="9525">
                      <a:solidFill>
                        <a:srgbClr val="CBDDD6"/>
                      </a:solidFill>
                      <a:prstDash val="solid"/>
                    </a:lnR>
                    <a:lnB w="9525">
                      <a:solidFill>
                        <a:srgbClr val="CBDDD6"/>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C3D861AD-8BB6-4C28-BD5B-9BA75EFFCCC2}"/>
              </a:ext>
            </a:extLst>
          </p:cNvPr>
          <p:cNvSpPr>
            <a:spLocks xmlns:a="http://schemas.openxmlformats.org/drawingml/2006/main" noGrp="1"/>
          </p:cNvSpPr>
          <p:nvPr/>
        </p:nvSpPr>
        <p:spPr>
          <a:xfrm xmlns:a="http://schemas.openxmlformats.org/drawingml/2006/main">
            <a:off x="609600" y="4800600"/>
            <a:ext cx="5048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775" b="1">
                <a:solidFill>
                  <a:srgbClr val="087F77"/>
                </a:solidFill>
                <a:latin typeface="Arial"/>
                <a:ea typeface="Arial"/>
                <a:cs typeface="Arial"/>
              </a:defRPr>
            </a:defPPr>
          </a:lstStyle>
          <a:p xmlns:a="http://schemas.openxmlformats.org/drawingml/2006/main">
            <a:pPr>
              <a:buNone/>
              <a:defRPr sz="2775" b="1">
                <a:solidFill>
                  <a:srgbClr val="087F77"/>
                </a:solidFill>
                <a:latin typeface="Arial"/>
                <a:ea typeface="Arial"/>
                <a:cs typeface="Arial"/>
              </a:defRPr>
            </a:pPr>
            <a:r>
              <a:rPr sz="2775" b="1">
                <a:solidFill>
                  <a:srgbClr val="087F77"/>
                </a:solidFill>
                <a:latin typeface="Arial"/>
                <a:ea typeface="Arial"/>
                <a:cs typeface="Arial"/>
              </a:rPr>
              <a:t>224 × 224 RGB</a:t>
            </a:r>
          </a:p>
        </p:txBody>
      </p:sp>
      <p:sp>
        <p:nvSpPr>
          <p:cNvPr id="5" name="">
            <a:extLst xmlns:a="http://schemas.openxmlformats.org/drawingml/2006/main">
              <a:ext uri="{FF2B5EF4-FFF2-40B4-BE49-F238E27FC236}">
                <a16:creationId xmlns:a16="http://schemas.microsoft.com/office/drawing/2014/main" id="{2AD33468-7868-4132-8941-4A2F5713D0E2}"/>
              </a:ext>
            </a:extLst>
          </p:cNvPr>
          <p:cNvSpPr>
            <a:spLocks xmlns:a="http://schemas.openxmlformats.org/drawingml/2006/main" noGrp="1"/>
          </p:cNvSpPr>
          <p:nvPr/>
        </p:nvSpPr>
        <p:spPr>
          <a:xfrm xmlns:a="http://schemas.openxmlformats.org/drawingml/2006/main">
            <a:off x="628650" y="5514975"/>
            <a:ext cx="5191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617C77"/>
                </a:solidFill>
                <a:latin typeface="Arial"/>
                <a:ea typeface="Arial"/>
                <a:cs typeface="Arial"/>
              </a:defRPr>
            </a:defPPr>
          </a:lstStyle>
          <a:p xmlns:a="http://schemas.openxmlformats.org/drawingml/2006/main">
            <a:pPr>
              <a:buNone/>
              <a:defRPr sz="1875" b="0">
                <a:solidFill>
                  <a:srgbClr val="617C77"/>
                </a:solidFill>
                <a:latin typeface="Arial"/>
                <a:ea typeface="Arial"/>
                <a:cs typeface="Arial"/>
              </a:defRPr>
            </a:pPr>
            <a:r>
              <a:rPr sz="1875" b="0">
                <a:solidFill>
                  <a:srgbClr val="617C77"/>
                </a:solidFill>
                <a:latin typeface="Arial"/>
                <a:ea typeface="Arial"/>
                <a:cs typeface="Arial"/>
              </a:rPr>
              <a:t>Colab-тағы өңдеу сайтта сақталған</a:t>
            </a:r>
          </a:p>
        </p:txBody>
      </p:sp>
      <p:sp>
        <p:nvSpPr>
          <p:cNvPr id="6" name="">
            <a:extLst xmlns:a="http://schemas.openxmlformats.org/drawingml/2006/main">
              <a:ext uri="{FF2B5EF4-FFF2-40B4-BE49-F238E27FC236}">
                <a16:creationId xmlns:a16="http://schemas.microsoft.com/office/drawing/2014/main" id="{96B5F87E-D07A-41C3-99CB-14ED63462ABB}"/>
              </a:ext>
            </a:extLst>
          </p:cNvPr>
          <p:cNvSpPr>
            <a:spLocks xmlns:a="http://schemas.openxmlformats.org/drawingml/2006/main" noGrp="1"/>
          </p:cNvSpPr>
          <p:nvPr/>
        </p:nvSpPr>
        <p:spPr>
          <a:xfrm xmlns:a="http://schemas.openxmlformats.org/drawingml/2006/main">
            <a:off x="6648450" y="4800600"/>
            <a:ext cx="4857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550" b="1">
                <a:solidFill>
                  <a:srgbClr val="193E3A"/>
                </a:solidFill>
                <a:latin typeface="Arial"/>
                <a:ea typeface="Arial"/>
                <a:cs typeface="Arial"/>
              </a:defRPr>
            </a:defPPr>
          </a:lstStyle>
          <a:p xmlns:a="http://schemas.openxmlformats.org/drawingml/2006/main">
            <a:pPr>
              <a:buNone/>
              <a:defRPr sz="2550" b="1">
                <a:solidFill>
                  <a:srgbClr val="193E3A"/>
                </a:solidFill>
                <a:latin typeface="Arial"/>
                <a:ea typeface="Arial"/>
                <a:cs typeface="Arial"/>
              </a:defRPr>
            </a:pPr>
            <a:r>
              <a:rPr sz="2550" b="1">
                <a:solidFill>
                  <a:srgbClr val="193E3A"/>
                </a:solidFill>
                <a:latin typeface="Arial"/>
                <a:ea typeface="Arial"/>
                <a:cs typeface="Arial"/>
              </a:rPr>
              <a:t>FastAPI + TensorFlow</a:t>
            </a:r>
          </a:p>
        </p:txBody>
      </p:sp>
      <p:sp>
        <p:nvSpPr>
          <p:cNvPr id="7" name="">
            <a:extLst xmlns:a="http://schemas.openxmlformats.org/drawingml/2006/main">
              <a:ext uri="{FF2B5EF4-FFF2-40B4-BE49-F238E27FC236}">
                <a16:creationId xmlns:a16="http://schemas.microsoft.com/office/drawing/2014/main" id="{9B3B8877-3692-4752-94E8-2A1E56A593E7}"/>
              </a:ext>
            </a:extLst>
          </p:cNvPr>
          <p:cNvSpPr>
            <a:spLocks xmlns:a="http://schemas.openxmlformats.org/drawingml/2006/main" noGrp="1"/>
          </p:cNvSpPr>
          <p:nvPr/>
        </p:nvSpPr>
        <p:spPr>
          <a:xfrm xmlns:a="http://schemas.openxmlformats.org/drawingml/2006/main">
            <a:off x="6667500" y="5514975"/>
            <a:ext cx="4667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617C77"/>
                </a:solidFill>
                <a:latin typeface="Arial"/>
                <a:ea typeface="Arial"/>
                <a:cs typeface="Arial"/>
              </a:defRPr>
            </a:defPPr>
          </a:lstStyle>
          <a:p xmlns:a="http://schemas.openxmlformats.org/drawingml/2006/main">
            <a:pPr>
              <a:buNone/>
              <a:defRPr sz="1875" b="0">
                <a:solidFill>
                  <a:srgbClr val="617C77"/>
                </a:solidFill>
                <a:latin typeface="Arial"/>
                <a:ea typeface="Arial"/>
                <a:cs typeface="Arial"/>
              </a:defRPr>
            </a:pPr>
            <a:r>
              <a:rPr sz="1875" b="0">
                <a:solidFill>
                  <a:srgbClr val="617C77"/>
                </a:solidFill>
                <a:latin typeface="Arial"/>
                <a:ea typeface="Arial"/>
                <a:cs typeface="Arial"/>
              </a:rPr>
              <a:t>HTML / CSS / JavaScript интерфейсі</a:t>
            </a:r>
          </a:p>
        </p:txBody>
      </p:sp>
    </p:spTree>
    <p:extLst>
      <p:ext uri="{BB962C8B-B14F-4D97-AF65-F5344CB8AC3E}">
        <p14:creationId xmlns:p14="http://schemas.microsoft.com/office/powerpoint/2010/main" val="1464400271"/>
      </p:ext>
    </p:extLst>
  </p:cSld>
</p:sld>
</file>

<file path=ppt/slides/slide5.xml><?xml version="1.0" encoding="utf-8"?>
<p:sld xmlns:p="http://schemas.openxmlformats.org/presentationml/2006/main">
  <p:cSld>
    <p:bg>
      <p:bgPr>
        <a:solidFill xmlns:a="http://schemas.openxmlformats.org/drawingml/2006/main">
          <a:srgbClr val="193E3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9E9D075-2B0B-4B88-A12A-19A432F8F421}"/>
              </a:ext>
            </a:extLst>
          </p:cNvPr>
          <p:cNvSpPr>
            <a:spLocks xmlns:a="http://schemas.openxmlformats.org/drawingml/2006/main" noGrp="1"/>
          </p:cNvSpPr>
          <p:nvPr/>
        </p:nvSpPr>
        <p:spPr>
          <a:xfrm xmlns:a="http://schemas.openxmlformats.org/drawingml/2006/main">
            <a:off x="609600" y="4953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1">
                <a:solidFill>
                  <a:srgbClr val="FFFFFF"/>
                </a:solidFill>
                <a:latin typeface="Arial"/>
                <a:ea typeface="Arial"/>
                <a:cs typeface="Arial"/>
              </a:defRPr>
            </a:defPPr>
          </a:lstStyle>
          <a:p xmlns:a="http://schemas.openxmlformats.org/drawingml/2006/main">
            <a:pPr>
              <a:buNone/>
              <a:defRPr sz="3225" b="1">
                <a:solidFill>
                  <a:srgbClr val="FFFFFF"/>
                </a:solidFill>
                <a:latin typeface="Arial"/>
                <a:ea typeface="Arial"/>
                <a:cs typeface="Arial"/>
              </a:defRPr>
            </a:pPr>
            <a:r>
              <a:rPr sz="3225" b="1">
                <a:solidFill>
                  <a:srgbClr val="FFFFFF"/>
                </a:solidFill>
                <a:latin typeface="Arial"/>
                <a:ea typeface="Arial"/>
                <a:cs typeface="Arial"/>
              </a:rPr>
              <a:t>Математикалық прототип</a:t>
            </a:r>
          </a:p>
        </p:txBody>
      </p:sp>
      <p:sp>
        <p:nvSpPr>
          <p:cNvPr id="2" name="">
            <a:extLst xmlns:a="http://schemas.openxmlformats.org/drawingml/2006/main">
              <a:ext uri="{FF2B5EF4-FFF2-40B4-BE49-F238E27FC236}">
                <a16:creationId xmlns:a16="http://schemas.microsoft.com/office/drawing/2014/main" id="{36400A86-411B-43CB-AE21-6FF216846015}"/>
              </a:ext>
            </a:extLst>
          </p:cNvPr>
          <p:cNvSpPr>
            <a:spLocks xmlns:a="http://schemas.openxmlformats.org/drawingml/2006/main" noGrp="1"/>
          </p:cNvSpPr>
          <p:nvPr/>
        </p:nvSpPr>
        <p:spPr>
          <a:xfrm xmlns:a="http://schemas.openxmlformats.org/drawingml/2006/main">
            <a:off x="11077575" y="6315075"/>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B8E5D8"/>
                </a:solidFill>
                <a:latin typeface="Arial"/>
                <a:ea typeface="Arial"/>
                <a:cs typeface="Arial"/>
              </a:defRPr>
            </a:defPPr>
          </a:lstStyle>
          <a:p xmlns:a="http://schemas.openxmlformats.org/drawingml/2006/main">
            <a:pPr>
              <a:buNone/>
              <a:defRPr sz="1275" b="0">
                <a:solidFill>
                  <a:srgbClr val="B8E5D8"/>
                </a:solidFill>
                <a:latin typeface="Arial"/>
                <a:ea typeface="Arial"/>
                <a:cs typeface="Arial"/>
              </a:defRPr>
            </a:pPr>
            <a:r>
              <a:rPr sz="1275" b="0">
                <a:solidFill>
                  <a:srgbClr val="B8E5D8"/>
                </a:solidFill>
                <a:latin typeface="Arial"/>
                <a:ea typeface="Arial"/>
                <a:cs typeface="Arial"/>
              </a:rPr>
              <a:t>05</a:t>
            </a:r>
          </a:p>
        </p:txBody>
      </p:sp>
      <p:sp>
        <p:nvSpPr>
          <p:cNvPr id="3" name="">
            <a:extLst xmlns:a="http://schemas.openxmlformats.org/drawingml/2006/main">
              <a:ext uri="{FF2B5EF4-FFF2-40B4-BE49-F238E27FC236}">
                <a16:creationId xmlns:a16="http://schemas.microsoft.com/office/drawing/2014/main" id="{995EA0F0-6952-4E35-9365-46407E02BC54}"/>
              </a:ext>
            </a:extLst>
          </p:cNvPr>
          <p:cNvSpPr>
            <a:spLocks xmlns:a="http://schemas.openxmlformats.org/drawingml/2006/main" noGrp="1"/>
          </p:cNvSpPr>
          <p:nvPr/>
        </p:nvSpPr>
        <p:spPr>
          <a:xfrm xmlns:a="http://schemas.openxmlformats.org/drawingml/2006/main">
            <a:off x="609600" y="1762125"/>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150" b="1">
                <a:solidFill>
                  <a:srgbClr val="B8E5D8"/>
                </a:solidFill>
                <a:latin typeface="Arial"/>
                <a:ea typeface="Arial"/>
                <a:cs typeface="Arial"/>
              </a:defRPr>
            </a:defPPr>
          </a:lstStyle>
          <a:p xmlns:a="http://schemas.openxmlformats.org/drawingml/2006/main">
            <a:pPr>
              <a:buNone/>
              <a:defRPr sz="3150" b="1">
                <a:solidFill>
                  <a:srgbClr val="B8E5D8"/>
                </a:solidFill>
                <a:latin typeface="Arial"/>
                <a:ea typeface="Arial"/>
                <a:cs typeface="Arial"/>
              </a:defRPr>
            </a:pPr>
            <a:r>
              <a:rPr sz="3150" b="1">
                <a:solidFill>
                  <a:srgbClr val="B8E5D8"/>
                </a:solidFill>
                <a:latin typeface="Arial"/>
                <a:ea typeface="Arial"/>
                <a:cs typeface="Arial"/>
              </a:rPr>
              <a:t>z = wᵀhθ(x) + b</a:t>
            </a:r>
          </a:p>
        </p:txBody>
      </p:sp>
      <p:sp>
        <p:nvSpPr>
          <p:cNvPr id="4" name="">
            <a:extLst xmlns:a="http://schemas.openxmlformats.org/drawingml/2006/main">
              <a:ext uri="{FF2B5EF4-FFF2-40B4-BE49-F238E27FC236}">
                <a16:creationId xmlns:a16="http://schemas.microsoft.com/office/drawing/2014/main" id="{F83F1134-5438-42A3-95C9-B558AEA14AC7}"/>
              </a:ext>
            </a:extLst>
          </p:cNvPr>
          <p:cNvSpPr>
            <a:spLocks xmlns:a="http://schemas.openxmlformats.org/drawingml/2006/main" noGrp="1"/>
          </p:cNvSpPr>
          <p:nvPr/>
        </p:nvSpPr>
        <p:spPr>
          <a:xfrm xmlns:a="http://schemas.openxmlformats.org/drawingml/2006/main">
            <a:off x="609600" y="2714625"/>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925" b="0">
                <a:solidFill>
                  <a:srgbClr val="FFFFFF"/>
                </a:solidFill>
                <a:latin typeface="Arial"/>
                <a:ea typeface="Arial"/>
                <a:cs typeface="Arial"/>
              </a:defRPr>
            </a:defPPr>
          </a:lstStyle>
          <a:p xmlns:a="http://schemas.openxmlformats.org/drawingml/2006/main">
            <a:pPr>
              <a:buNone/>
              <a:defRPr sz="2925" b="0">
                <a:solidFill>
                  <a:srgbClr val="FFFFFF"/>
                </a:solidFill>
                <a:latin typeface="Arial"/>
                <a:ea typeface="Arial"/>
                <a:cs typeface="Arial"/>
              </a:defRPr>
            </a:pPr>
            <a:r>
              <a:rPr sz="2925" b="0">
                <a:solidFill>
                  <a:srgbClr val="FFFFFF"/>
                </a:solidFill>
                <a:latin typeface="Arial"/>
                <a:ea typeface="Arial"/>
                <a:cs typeface="Arial"/>
              </a:rPr>
              <a:t>p = 1 / (1 + exp(−z))</a:t>
            </a:r>
          </a:p>
        </p:txBody>
      </p:sp>
      <p:sp>
        <p:nvSpPr>
          <p:cNvPr id="5" name="">
            <a:extLst xmlns:a="http://schemas.openxmlformats.org/drawingml/2006/main">
              <a:ext uri="{FF2B5EF4-FFF2-40B4-BE49-F238E27FC236}">
                <a16:creationId xmlns:a16="http://schemas.microsoft.com/office/drawing/2014/main" id="{60C6E7BF-7826-47BF-A3C2-4B60ABB01F34}"/>
              </a:ext>
            </a:extLst>
          </p:cNvPr>
          <p:cNvSpPr>
            <a:spLocks xmlns:a="http://schemas.openxmlformats.org/drawingml/2006/main" noGrp="1"/>
          </p:cNvSpPr>
          <p:nvPr/>
        </p:nvSpPr>
        <p:spPr>
          <a:xfrm xmlns:a="http://schemas.openxmlformats.org/drawingml/2006/main">
            <a:off x="609600" y="3714750"/>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550" b="0">
                <a:solidFill>
                  <a:srgbClr val="FFFFFF"/>
                </a:solidFill>
                <a:latin typeface="Arial"/>
                <a:ea typeface="Arial"/>
                <a:cs typeface="Arial"/>
              </a:defRPr>
            </a:defPPr>
          </a:lstStyle>
          <a:p xmlns:a="http://schemas.openxmlformats.org/drawingml/2006/main">
            <a:pPr>
              <a:buNone/>
              <a:defRPr sz="2550" b="0">
                <a:solidFill>
                  <a:srgbClr val="FFFFFF"/>
                </a:solidFill>
                <a:latin typeface="Arial"/>
                <a:ea typeface="Arial"/>
                <a:cs typeface="Arial"/>
              </a:defRPr>
            </a:pPr>
            <a:r>
              <a:rPr sz="2550" b="0">
                <a:solidFill>
                  <a:srgbClr val="FFFFFF"/>
                </a:solidFill>
                <a:latin typeface="Arial"/>
                <a:ea typeface="Arial"/>
                <a:cs typeface="Arial"/>
              </a:rPr>
              <a:t>ℓ = −aᵧ[y ln p + (1−y) ln(1−p)]</a:t>
            </a:r>
          </a:p>
        </p:txBody>
      </p:sp>
      <p:sp>
        <p:nvSpPr>
          <p:cNvPr id="6" name="">
            <a:extLst xmlns:a="http://schemas.openxmlformats.org/drawingml/2006/main">
              <a:ext uri="{FF2B5EF4-FFF2-40B4-BE49-F238E27FC236}">
                <a16:creationId xmlns:a16="http://schemas.microsoft.com/office/drawing/2014/main" id="{6A0317C0-CFFB-4FD7-B628-1366C60F50D3}"/>
              </a:ext>
            </a:extLst>
          </p:cNvPr>
          <p:cNvSpPr>
            <a:spLocks xmlns:a="http://schemas.openxmlformats.org/drawingml/2006/main" noGrp="1"/>
          </p:cNvSpPr>
          <p:nvPr/>
        </p:nvSpPr>
        <p:spPr>
          <a:xfrm xmlns:a="http://schemas.openxmlformats.org/drawingml/2006/main">
            <a:off x="609600" y="4810125"/>
            <a:ext cx="5715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1">
                <a:solidFill>
                  <a:srgbClr val="B8E5D8"/>
                </a:solidFill>
                <a:latin typeface="Arial"/>
                <a:ea typeface="Arial"/>
                <a:cs typeface="Arial"/>
              </a:defRPr>
            </a:defPPr>
          </a:lstStyle>
          <a:p xmlns:a="http://schemas.openxmlformats.org/drawingml/2006/main">
            <a:pPr>
              <a:buNone/>
              <a:defRPr sz="1950" b="1">
                <a:solidFill>
                  <a:srgbClr val="B8E5D8"/>
                </a:solidFill>
                <a:latin typeface="Arial"/>
                <a:ea typeface="Arial"/>
                <a:cs typeface="Arial"/>
              </a:defRPr>
            </a:pPr>
            <a:r>
              <a:rPr sz="1950" b="1">
                <a:solidFill>
                  <a:srgbClr val="B8E5D8"/>
                </a:solidFill>
                <a:latin typeface="Arial"/>
                <a:ea typeface="Arial"/>
                <a:cs typeface="Arial"/>
              </a:rPr>
              <a:t>Шартты есеп</a:t>
            </a:r>
          </a:p>
        </p:txBody>
      </p:sp>
      <p:sp>
        <p:nvSpPr>
          <p:cNvPr id="7" name="">
            <a:extLst xmlns:a="http://schemas.openxmlformats.org/drawingml/2006/main">
              <a:ext uri="{FF2B5EF4-FFF2-40B4-BE49-F238E27FC236}">
                <a16:creationId xmlns:a16="http://schemas.microsoft.com/office/drawing/2014/main" id="{0E04C07D-432B-4599-BC24-5D9467CAB730}"/>
              </a:ext>
            </a:extLst>
          </p:cNvPr>
          <p:cNvSpPr>
            <a:spLocks xmlns:a="http://schemas.openxmlformats.org/drawingml/2006/main" noGrp="1"/>
          </p:cNvSpPr>
          <p:nvPr/>
        </p:nvSpPr>
        <p:spPr>
          <a:xfrm xmlns:a="http://schemas.openxmlformats.org/drawingml/2006/main">
            <a:off x="609600" y="5381625"/>
            <a:ext cx="108585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475" b="1">
                <a:solidFill>
                  <a:srgbClr val="FFFFFF"/>
                </a:solidFill>
                <a:latin typeface="Arial"/>
                <a:ea typeface="Arial"/>
                <a:cs typeface="Arial"/>
              </a:defRPr>
            </a:defPPr>
          </a:lstStyle>
          <a:p xmlns:a="http://schemas.openxmlformats.org/drawingml/2006/main">
            <a:pPr>
              <a:buNone/>
              <a:defRPr sz="2475" b="1">
                <a:solidFill>
                  <a:srgbClr val="FFFFFF"/>
                </a:solidFill>
                <a:latin typeface="Arial"/>
                <a:ea typeface="Arial"/>
                <a:cs typeface="Arial"/>
              </a:defRPr>
            </a:pPr>
            <a:r>
              <a:rPr sz="2475" b="1">
                <a:solidFill>
                  <a:srgbClr val="FFFFFF"/>
                </a:solidFill>
                <a:latin typeface="Arial"/>
                <a:ea typeface="Arial"/>
                <a:cs typeface="Arial"/>
              </a:rPr>
              <a:t>z = ln 4,  p = 0,80 ≥ 0,740</a:t>
            </a:r>
          </a:p>
        </p:txBody>
      </p:sp>
      <p:sp>
        <p:nvSpPr>
          <p:cNvPr id="8" name="">
            <a:extLst xmlns:a="http://schemas.openxmlformats.org/drawingml/2006/main">
              <a:ext uri="{FF2B5EF4-FFF2-40B4-BE49-F238E27FC236}">
                <a16:creationId xmlns:a16="http://schemas.microsoft.com/office/drawing/2014/main" id="{17B95961-A4F4-4B14-8A01-C4292A3CD9F5}"/>
              </a:ext>
            </a:extLst>
          </p:cNvPr>
          <p:cNvSpPr>
            <a:spLocks xmlns:a="http://schemas.openxmlformats.org/drawingml/2006/main" noGrp="1"/>
          </p:cNvSpPr>
          <p:nvPr/>
        </p:nvSpPr>
        <p:spPr>
          <a:xfrm xmlns:a="http://schemas.openxmlformats.org/drawingml/2006/main">
            <a:off x="609600" y="6086475"/>
            <a:ext cx="10287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B8E5D8"/>
                </a:solidFill>
                <a:latin typeface="Arial"/>
                <a:ea typeface="Arial"/>
                <a:cs typeface="Arial"/>
              </a:defRPr>
            </a:defPPr>
          </a:lstStyle>
          <a:p xmlns:a="http://schemas.openxmlformats.org/drawingml/2006/main">
            <a:pPr>
              <a:buNone/>
              <a:defRPr sz="1650" b="0">
                <a:solidFill>
                  <a:srgbClr val="B8E5D8"/>
                </a:solidFill>
                <a:latin typeface="Arial"/>
                <a:ea typeface="Arial"/>
                <a:cs typeface="Arial"/>
              </a:defRPr>
            </a:pPr>
            <a:r>
              <a:rPr sz="1650" b="0">
                <a:solidFill>
                  <a:srgbClr val="B8E5D8"/>
                </a:solidFill>
                <a:latin typeface="Arial"/>
                <a:ea typeface="Arial"/>
                <a:cs typeface="Arial"/>
              </a:rPr>
              <a:t>PNEUMONIA болжамы. y = 1, aᵧ = 1 болса, loss ≈ 0,2231</a:t>
            </a:r>
          </a:p>
        </p:txBody>
      </p:sp>
    </p:spTree>
    <p:extLst>
      <p:ext uri="{BB962C8B-B14F-4D97-AF65-F5344CB8AC3E}">
        <p14:creationId xmlns:p14="http://schemas.microsoft.com/office/powerpoint/2010/main" val="1055895497"/>
      </p:ext>
    </p:extLst>
  </p:cSld>
</p:sld>
</file>

<file path=ppt/slides/slide6.xml><?xml version="1.0" encoding="utf-8"?>
<p:sld xmlns:p="http://schemas.openxmlformats.org/presentationml/2006/main">
  <p:cSld>
    <p:bg>
      <p:bgPr>
        <a:solidFill xmlns:a="http://schemas.openxmlformats.org/drawingml/2006/main">
          <a:srgbClr val="F6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AA2A8D1-7844-4B49-B0D3-08B923C08780}"/>
              </a:ext>
            </a:extLst>
          </p:cNvPr>
          <p:cNvSpPr>
            <a:spLocks xmlns:a="http://schemas.openxmlformats.org/drawingml/2006/main" noGrp="1"/>
          </p:cNvSpPr>
          <p:nvPr/>
        </p:nvSpPr>
        <p:spPr>
          <a:xfrm xmlns:a="http://schemas.openxmlformats.org/drawingml/2006/main">
            <a:off x="609600" y="4953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1">
                <a:solidFill>
                  <a:srgbClr val="193E3A"/>
                </a:solidFill>
                <a:latin typeface="Arial"/>
                <a:ea typeface="Arial"/>
                <a:cs typeface="Arial"/>
              </a:defRPr>
            </a:defPPr>
          </a:lstStyle>
          <a:p xmlns:a="http://schemas.openxmlformats.org/drawingml/2006/main">
            <a:pPr>
              <a:buNone/>
              <a:defRPr sz="3225" b="1">
                <a:solidFill>
                  <a:srgbClr val="193E3A"/>
                </a:solidFill>
                <a:latin typeface="Arial"/>
                <a:ea typeface="Arial"/>
                <a:cs typeface="Arial"/>
              </a:defRPr>
            </a:pPr>
            <a:r>
              <a:rPr sz="3225" b="1">
                <a:solidFill>
                  <a:srgbClr val="193E3A"/>
                </a:solidFill>
                <a:latin typeface="Arial"/>
                <a:ea typeface="Arial"/>
                <a:cs typeface="Arial"/>
              </a:rPr>
              <a:t>Соңғы тест нәтижелері</a:t>
            </a:r>
          </a:p>
        </p:txBody>
      </p:sp>
      <p:sp>
        <p:nvSpPr>
          <p:cNvPr id="2" name="">
            <a:extLst xmlns:a="http://schemas.openxmlformats.org/drawingml/2006/main">
              <a:ext uri="{FF2B5EF4-FFF2-40B4-BE49-F238E27FC236}">
                <a16:creationId xmlns:a16="http://schemas.microsoft.com/office/drawing/2014/main" id="{F1609C6E-957B-4628-B363-14D43B84E0D0}"/>
              </a:ext>
            </a:extLst>
          </p:cNvPr>
          <p:cNvSpPr>
            <a:spLocks xmlns:a="http://schemas.openxmlformats.org/drawingml/2006/main" noGrp="1"/>
          </p:cNvSpPr>
          <p:nvPr/>
        </p:nvSpPr>
        <p:spPr>
          <a:xfrm xmlns:a="http://schemas.openxmlformats.org/drawingml/2006/main">
            <a:off x="11077575" y="6315075"/>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617C77"/>
                </a:solidFill>
                <a:latin typeface="Arial"/>
                <a:ea typeface="Arial"/>
                <a:cs typeface="Arial"/>
              </a:defRPr>
            </a:defPPr>
          </a:lstStyle>
          <a:p xmlns:a="http://schemas.openxmlformats.org/drawingml/2006/main">
            <a:pPr>
              <a:buNone/>
              <a:defRPr sz="1275" b="0">
                <a:solidFill>
                  <a:srgbClr val="617C77"/>
                </a:solidFill>
                <a:latin typeface="Arial"/>
                <a:ea typeface="Arial"/>
                <a:cs typeface="Arial"/>
              </a:defRPr>
            </a:pPr>
            <a:r>
              <a:rPr sz="1275" b="0">
                <a:solidFill>
                  <a:srgbClr val="617C77"/>
                </a:solidFill>
                <a:latin typeface="Arial"/>
                <a:ea typeface="Arial"/>
                <a:cs typeface="Arial"/>
              </a:rPr>
              <a:t>06</a:t>
            </a:r>
          </a:p>
        </p:txBody>
      </p:sp>
      <p:graphicFrame>
        <p:nvGraphicFramePr>
          <p:cNvPr id="3" name="">
            <a:extLst xmlns:a="http://schemas.openxmlformats.org/drawingml/2006/main">
              <a:ext uri="{FF2B5EF4-FFF2-40B4-BE49-F238E27FC236}">
                <a16:creationId xmlns:a16="http://schemas.microsoft.com/office/drawing/2014/main" id="{6A6913E0-5136-42A3-A058-9E8D700FEA57}"/>
              </a:ext>
            </a:extLst>
          </p:cNvPr>
          <p:cNvGraphicFramePr/>
          <p:nvPr/>
        </p:nvGraphicFramePr>
        <p:xfrm>
          <a:off xmlns:a="http://schemas.openxmlformats.org/drawingml/2006/main" x="609600" y="1714500"/>
          <a:ext xmlns:a="http://schemas.openxmlformats.org/drawingml/2006/main" cx="10972800" cy="3105150"/>
        </p:xfrm>
        <a:graphic xmlns:a="http://schemas.openxmlformats.org/drawingml/2006/main">
          <a:graphicData uri="http://schemas.openxmlformats.org/drawingml/2006/table">
            <a:tbl>
              <a:tblPr/>
              <a:tblGrid>
                <a:gridCol w="4305300"/>
                <a:gridCol w="3333750"/>
                <a:gridCol w="3333750"/>
              </a:tblGrid>
              <a:tr h="517525">
                <a:tc>
                  <a:txBody>
                    <a:bodyPr/>
                    <a:lstStyle/>
                    <a:p>
                      <a:r>
                        <a:rPr sz="1800" b="1">
                          <a:solidFill>
                            <a:srgbClr val="FFFFFF"/>
                          </a:solidFill>
                          <a:latin typeface="Arial"/>
                          <a:ea typeface="Arial"/>
                          <a:cs typeface="Arial"/>
                        </a:rPr>
                        <a:t>Көрсеткіш</a:t>
                      </a:r>
                    </a:p>
                  </a:txBody>
                  <a:tcPr marL="91440" marR="91440" marT="45720" marB="45720">
                    <a:lnL w="9525">
                      <a:solidFill>
                        <a:srgbClr val="CBDDD6"/>
                      </a:solidFill>
                      <a:prstDash val="solid"/>
                    </a:lnL>
                    <a:lnR w="9525">
                      <a:solidFill>
                        <a:srgbClr val="CBDDD6"/>
                      </a:solidFill>
                      <a:prstDash val="solid"/>
                    </a:lnR>
                    <a:lnT w="9525">
                      <a:solidFill>
                        <a:srgbClr val="CBDDD6"/>
                      </a:solidFill>
                      <a:prstDash val="solid"/>
                    </a:lnT>
                    <a:lnB w="9525">
                      <a:solidFill>
                        <a:srgbClr val="CBDDD6"/>
                      </a:solidFill>
                      <a:prstDash val="solid"/>
                    </a:lnB>
                    <a:solidFill>
                      <a:srgbClr val="193E3A"/>
                    </a:solidFill>
                  </a:tcPr>
                </a:tc>
                <a:tc>
                  <a:txBody>
                    <a:bodyPr/>
                    <a:lstStyle/>
                    <a:p>
                      <a:r>
                        <a:rPr sz="1800" b="1">
                          <a:solidFill>
                            <a:srgbClr val="FFFFFF"/>
                          </a:solidFill>
                          <a:latin typeface="Arial"/>
                          <a:ea typeface="Arial"/>
                          <a:cs typeface="Arial"/>
                        </a:rPr>
                        <a:t>CNN</a:t>
                      </a:r>
                    </a:p>
                  </a:txBody>
                  <a:tcPr marL="91440" marR="91440" marT="45720" marB="45720">
                    <a:lnR w="9525">
                      <a:solidFill>
                        <a:srgbClr val="CBDDD6"/>
                      </a:solidFill>
                      <a:prstDash val="solid"/>
                    </a:lnR>
                    <a:lnT w="9525">
                      <a:solidFill>
                        <a:srgbClr val="CBDDD6"/>
                      </a:solidFill>
                      <a:prstDash val="solid"/>
                    </a:lnT>
                    <a:lnB w="9525">
                      <a:solidFill>
                        <a:srgbClr val="CBDDD6"/>
                      </a:solidFill>
                      <a:prstDash val="solid"/>
                    </a:lnB>
                    <a:solidFill>
                      <a:srgbClr val="193E3A"/>
                    </a:solidFill>
                  </a:tcPr>
                </a:tc>
                <a:tc>
                  <a:txBody>
                    <a:bodyPr/>
                    <a:lstStyle/>
                    <a:p>
                      <a:r>
                        <a:rPr sz="1800" b="1">
                          <a:solidFill>
                            <a:srgbClr val="FFFFFF"/>
                          </a:solidFill>
                          <a:latin typeface="Arial"/>
                          <a:ea typeface="Arial"/>
                          <a:cs typeface="Arial"/>
                        </a:rPr>
                        <a:t>MobileNetV2</a:t>
                      </a:r>
                    </a:p>
                  </a:txBody>
                  <a:tcPr marL="91440" marR="91440" marT="45720" marB="45720">
                    <a:lnR w="9525">
                      <a:solidFill>
                        <a:srgbClr val="CBDDD6"/>
                      </a:solidFill>
                      <a:prstDash val="solid"/>
                    </a:lnR>
                    <a:lnT w="9525">
                      <a:solidFill>
                        <a:srgbClr val="CBDDD6"/>
                      </a:solidFill>
                      <a:prstDash val="solid"/>
                    </a:lnT>
                    <a:lnB w="9525">
                      <a:solidFill>
                        <a:srgbClr val="CBDDD6"/>
                      </a:solidFill>
                      <a:prstDash val="solid"/>
                    </a:lnB>
                    <a:solidFill>
                      <a:srgbClr val="193E3A"/>
                    </a:solidFill>
                  </a:tcPr>
                </a:tc>
              </a:tr>
              <a:tr h="517525">
                <a:tc>
                  <a:txBody>
                    <a:bodyPr/>
                    <a:lstStyle/>
                    <a:p>
                      <a:r>
                        <a:rPr sz="1800" b="0">
                          <a:solidFill>
                            <a:srgbClr val="193E3A"/>
                          </a:solidFill>
                          <a:latin typeface="Arial"/>
                          <a:ea typeface="Arial"/>
                          <a:cs typeface="Arial"/>
                        </a:rPr>
                        <a:t>Accuracy</a:t>
                      </a:r>
                    </a:p>
                  </a:txBody>
                  <a:tcPr marL="91440" marR="91440" marT="45720" marB="45720">
                    <a:lnL w="9525">
                      <a:solidFill>
                        <a:srgbClr val="CBDDD6"/>
                      </a:solidFill>
                      <a:prstDash val="solid"/>
                    </a:lnL>
                    <a:lnR w="9525">
                      <a:solidFill>
                        <a:srgbClr val="CBDDD6"/>
                      </a:solidFill>
                      <a:prstDash val="solid"/>
                    </a:lnR>
                    <a:lnB w="9525">
                      <a:solidFill>
                        <a:srgbClr val="CBDDD6"/>
                      </a:solidFill>
                      <a:prstDash val="solid"/>
                    </a:lnB>
                    <a:solidFill>
                      <a:srgbClr val="FFFFFF"/>
                    </a:solidFill>
                  </a:tcPr>
                </a:tc>
                <a:tc>
                  <a:txBody>
                    <a:bodyPr/>
                    <a:lstStyle/>
                    <a:p>
                      <a:r>
                        <a:rPr sz="1800" b="0">
                          <a:solidFill>
                            <a:srgbClr val="193E3A"/>
                          </a:solidFill>
                          <a:latin typeface="Arial"/>
                          <a:ea typeface="Arial"/>
                          <a:cs typeface="Arial"/>
                        </a:rPr>
                        <a:t>71,68%</a:t>
                      </a:r>
                    </a:p>
                  </a:txBody>
                  <a:tcPr marL="91440" marR="91440" marT="45720" marB="45720">
                    <a:lnR w="9525">
                      <a:solidFill>
                        <a:srgbClr val="CBDDD6"/>
                      </a:solidFill>
                      <a:prstDash val="solid"/>
                    </a:lnR>
                    <a:lnB w="9525">
                      <a:solidFill>
                        <a:srgbClr val="CBDDD6"/>
                      </a:solidFill>
                      <a:prstDash val="solid"/>
                    </a:lnB>
                    <a:solidFill>
                      <a:srgbClr val="FFFFFF"/>
                    </a:solidFill>
                  </a:tcPr>
                </a:tc>
                <a:tc>
                  <a:txBody>
                    <a:bodyPr/>
                    <a:lstStyle/>
                    <a:p>
                      <a:r>
                        <a:rPr sz="1800" b="0">
                          <a:solidFill>
                            <a:srgbClr val="193E3A"/>
                          </a:solidFill>
                          <a:latin typeface="Arial"/>
                          <a:ea typeface="Arial"/>
                          <a:cs typeface="Arial"/>
                        </a:rPr>
                        <a:t>89,16%</a:t>
                      </a:r>
                    </a:p>
                  </a:txBody>
                  <a:tcPr marL="91440" marR="91440" marT="45720" marB="45720">
                    <a:lnR w="9525">
                      <a:solidFill>
                        <a:srgbClr val="CBDDD6"/>
                      </a:solidFill>
                      <a:prstDash val="solid"/>
                    </a:lnR>
                    <a:lnB w="9525">
                      <a:solidFill>
                        <a:srgbClr val="CBDDD6"/>
                      </a:solidFill>
                      <a:prstDash val="solid"/>
                    </a:lnB>
                    <a:solidFill>
                      <a:srgbClr val="FFFFFF"/>
                    </a:solidFill>
                  </a:tcPr>
                </a:tc>
              </a:tr>
              <a:tr h="517525">
                <a:tc>
                  <a:txBody>
                    <a:bodyPr/>
                    <a:lstStyle/>
                    <a:p>
                      <a:r>
                        <a:rPr sz="1800" b="0">
                          <a:solidFill>
                            <a:srgbClr val="193E3A"/>
                          </a:solidFill>
                          <a:latin typeface="Arial"/>
                          <a:ea typeface="Arial"/>
                          <a:cs typeface="Arial"/>
                        </a:rPr>
                        <a:t>Recall / sensitivity</a:t>
                      </a:r>
                    </a:p>
                  </a:txBody>
                  <a:tcPr marL="91440" marR="91440" marT="45720" marB="45720">
                    <a:lnL w="9525">
                      <a:solidFill>
                        <a:srgbClr val="CBDDD6"/>
                      </a:solidFill>
                      <a:prstDash val="solid"/>
                    </a:lnL>
                    <a:lnR w="9525">
                      <a:solidFill>
                        <a:srgbClr val="CBDDD6"/>
                      </a:solidFill>
                      <a:prstDash val="solid"/>
                    </a:lnR>
                    <a:lnB w="9525">
                      <a:solidFill>
                        <a:srgbClr val="CBDDD6"/>
                      </a:solidFill>
                      <a:prstDash val="solid"/>
                    </a:lnB>
                    <a:solidFill>
                      <a:srgbClr val="E9F3EE"/>
                    </a:solidFill>
                  </a:tcPr>
                </a:tc>
                <a:tc>
                  <a:txBody>
                    <a:bodyPr/>
                    <a:lstStyle/>
                    <a:p>
                      <a:r>
                        <a:rPr sz="1800" b="0">
                          <a:solidFill>
                            <a:srgbClr val="193E3A"/>
                          </a:solidFill>
                          <a:latin typeface="Arial"/>
                          <a:ea typeface="Arial"/>
                          <a:cs typeface="Arial"/>
                        </a:rPr>
                        <a:t>92,76%</a:t>
                      </a:r>
                    </a:p>
                  </a:txBody>
                  <a:tcPr marL="91440" marR="91440" marT="45720" marB="45720">
                    <a:lnR w="9525">
                      <a:solidFill>
                        <a:srgbClr val="CBDDD6"/>
                      </a:solidFill>
                      <a:prstDash val="solid"/>
                    </a:lnR>
                    <a:lnB w="9525">
                      <a:solidFill>
                        <a:srgbClr val="CBDDD6"/>
                      </a:solidFill>
                      <a:prstDash val="solid"/>
                    </a:lnB>
                    <a:solidFill>
                      <a:srgbClr val="E9F3EE"/>
                    </a:solidFill>
                  </a:tcPr>
                </a:tc>
                <a:tc>
                  <a:txBody>
                    <a:bodyPr/>
                    <a:lstStyle/>
                    <a:p>
                      <a:r>
                        <a:rPr sz="1800" b="0">
                          <a:solidFill>
                            <a:srgbClr val="193E3A"/>
                          </a:solidFill>
                          <a:latin typeface="Arial"/>
                          <a:ea typeface="Arial"/>
                          <a:cs typeface="Arial"/>
                        </a:rPr>
                        <a:t>96,12%</a:t>
                      </a:r>
                    </a:p>
                  </a:txBody>
                  <a:tcPr marL="91440" marR="91440" marT="45720" marB="45720">
                    <a:lnR w="9525">
                      <a:solidFill>
                        <a:srgbClr val="CBDDD6"/>
                      </a:solidFill>
                      <a:prstDash val="solid"/>
                    </a:lnR>
                    <a:lnB w="9525">
                      <a:solidFill>
                        <a:srgbClr val="CBDDD6"/>
                      </a:solidFill>
                      <a:prstDash val="solid"/>
                    </a:lnB>
                    <a:solidFill>
                      <a:srgbClr val="E9F3EE"/>
                    </a:solidFill>
                  </a:tcPr>
                </a:tc>
              </a:tr>
              <a:tr h="517525">
                <a:tc>
                  <a:txBody>
                    <a:bodyPr/>
                    <a:lstStyle/>
                    <a:p>
                      <a:r>
                        <a:rPr sz="1800" b="0">
                          <a:solidFill>
                            <a:srgbClr val="193E3A"/>
                          </a:solidFill>
                          <a:latin typeface="Arial"/>
                          <a:ea typeface="Arial"/>
                          <a:cs typeface="Arial"/>
                        </a:rPr>
                        <a:t>Specificity</a:t>
                      </a:r>
                    </a:p>
                  </a:txBody>
                  <a:tcPr marL="91440" marR="91440" marT="45720" marB="45720">
                    <a:lnL w="9525">
                      <a:solidFill>
                        <a:srgbClr val="CBDDD6"/>
                      </a:solidFill>
                      <a:prstDash val="solid"/>
                    </a:lnL>
                    <a:lnR w="9525">
                      <a:solidFill>
                        <a:srgbClr val="CBDDD6"/>
                      </a:solidFill>
                      <a:prstDash val="solid"/>
                    </a:lnR>
                    <a:lnB w="9525">
                      <a:solidFill>
                        <a:srgbClr val="CBDDD6"/>
                      </a:solidFill>
                      <a:prstDash val="solid"/>
                    </a:lnB>
                    <a:solidFill>
                      <a:srgbClr val="FFFFFF"/>
                    </a:solidFill>
                  </a:tcPr>
                </a:tc>
                <a:tc>
                  <a:txBody>
                    <a:bodyPr/>
                    <a:lstStyle/>
                    <a:p>
                      <a:r>
                        <a:rPr sz="1800" b="0">
                          <a:solidFill>
                            <a:srgbClr val="193E3A"/>
                          </a:solidFill>
                          <a:latin typeface="Arial"/>
                          <a:ea typeface="Arial"/>
                          <a:cs typeface="Arial"/>
                        </a:rPr>
                        <a:t>36,36%</a:t>
                      </a:r>
                    </a:p>
                  </a:txBody>
                  <a:tcPr marL="91440" marR="91440" marT="45720" marB="45720">
                    <a:lnR w="9525">
                      <a:solidFill>
                        <a:srgbClr val="CBDDD6"/>
                      </a:solidFill>
                      <a:prstDash val="solid"/>
                    </a:lnR>
                    <a:lnB w="9525">
                      <a:solidFill>
                        <a:srgbClr val="CBDDD6"/>
                      </a:solidFill>
                      <a:prstDash val="solid"/>
                    </a:lnB>
                    <a:solidFill>
                      <a:srgbClr val="FFFFFF"/>
                    </a:solidFill>
                  </a:tcPr>
                </a:tc>
                <a:tc>
                  <a:txBody>
                    <a:bodyPr/>
                    <a:lstStyle/>
                    <a:p>
                      <a:r>
                        <a:rPr sz="1800" b="0">
                          <a:solidFill>
                            <a:srgbClr val="193E3A"/>
                          </a:solidFill>
                          <a:latin typeface="Arial"/>
                          <a:ea typeface="Arial"/>
                          <a:cs typeface="Arial"/>
                        </a:rPr>
                        <a:t>77,49%</a:t>
                      </a:r>
                    </a:p>
                  </a:txBody>
                  <a:tcPr marL="91440" marR="91440" marT="45720" marB="45720">
                    <a:lnR w="9525">
                      <a:solidFill>
                        <a:srgbClr val="CBDDD6"/>
                      </a:solidFill>
                      <a:prstDash val="solid"/>
                    </a:lnR>
                    <a:lnB w="9525">
                      <a:solidFill>
                        <a:srgbClr val="CBDDD6"/>
                      </a:solidFill>
                      <a:prstDash val="solid"/>
                    </a:lnB>
                    <a:solidFill>
                      <a:srgbClr val="FFFFFF"/>
                    </a:solidFill>
                  </a:tcPr>
                </a:tc>
              </a:tr>
              <a:tr h="517525">
                <a:tc>
                  <a:txBody>
                    <a:bodyPr/>
                    <a:lstStyle/>
                    <a:p>
                      <a:r>
                        <a:rPr sz="1800" b="0">
                          <a:solidFill>
                            <a:srgbClr val="193E3A"/>
                          </a:solidFill>
                          <a:latin typeface="Arial"/>
                          <a:ea typeface="Arial"/>
                          <a:cs typeface="Arial"/>
                        </a:rPr>
                        <a:t>F1</a:t>
                      </a:r>
                    </a:p>
                  </a:txBody>
                  <a:tcPr marL="91440" marR="91440" marT="45720" marB="45720">
                    <a:lnL w="9525">
                      <a:solidFill>
                        <a:srgbClr val="CBDDD6"/>
                      </a:solidFill>
                      <a:prstDash val="solid"/>
                    </a:lnL>
                    <a:lnR w="9525">
                      <a:solidFill>
                        <a:srgbClr val="CBDDD6"/>
                      </a:solidFill>
                      <a:prstDash val="solid"/>
                    </a:lnR>
                    <a:lnB w="9525">
                      <a:solidFill>
                        <a:srgbClr val="CBDDD6"/>
                      </a:solidFill>
                      <a:prstDash val="solid"/>
                    </a:lnB>
                    <a:solidFill>
                      <a:srgbClr val="E9F3EE"/>
                    </a:solidFill>
                  </a:tcPr>
                </a:tc>
                <a:tc>
                  <a:txBody>
                    <a:bodyPr/>
                    <a:lstStyle/>
                    <a:p>
                      <a:r>
                        <a:rPr sz="1800" b="0">
                          <a:solidFill>
                            <a:srgbClr val="193E3A"/>
                          </a:solidFill>
                          <a:latin typeface="Arial"/>
                          <a:ea typeface="Arial"/>
                          <a:cs typeface="Arial"/>
                        </a:rPr>
                        <a:t>0,8040</a:t>
                      </a:r>
                    </a:p>
                  </a:txBody>
                  <a:tcPr marL="91440" marR="91440" marT="45720" marB="45720">
                    <a:lnR w="9525">
                      <a:solidFill>
                        <a:srgbClr val="CBDDD6"/>
                      </a:solidFill>
                      <a:prstDash val="solid"/>
                    </a:lnR>
                    <a:lnB w="9525">
                      <a:solidFill>
                        <a:srgbClr val="CBDDD6"/>
                      </a:solidFill>
                      <a:prstDash val="solid"/>
                    </a:lnB>
                    <a:solidFill>
                      <a:srgbClr val="E9F3EE"/>
                    </a:solidFill>
                  </a:tcPr>
                </a:tc>
                <a:tc>
                  <a:txBody>
                    <a:bodyPr/>
                    <a:lstStyle/>
                    <a:p>
                      <a:r>
                        <a:rPr sz="1800" b="0">
                          <a:solidFill>
                            <a:srgbClr val="193E3A"/>
                          </a:solidFill>
                          <a:latin typeface="Arial"/>
                          <a:ea typeface="Arial"/>
                          <a:cs typeface="Arial"/>
                        </a:rPr>
                        <a:t>0,9174</a:t>
                      </a:r>
                    </a:p>
                  </a:txBody>
                  <a:tcPr marL="91440" marR="91440" marT="45720" marB="45720">
                    <a:lnR w="9525">
                      <a:solidFill>
                        <a:srgbClr val="CBDDD6"/>
                      </a:solidFill>
                      <a:prstDash val="solid"/>
                    </a:lnR>
                    <a:lnB w="9525">
                      <a:solidFill>
                        <a:srgbClr val="CBDDD6"/>
                      </a:solidFill>
                      <a:prstDash val="solid"/>
                    </a:lnB>
                    <a:solidFill>
                      <a:srgbClr val="E9F3EE"/>
                    </a:solidFill>
                  </a:tcPr>
                </a:tc>
              </a:tr>
              <a:tr h="517525">
                <a:tc>
                  <a:txBody>
                    <a:bodyPr/>
                    <a:lstStyle/>
                    <a:p>
                      <a:r>
                        <a:rPr sz="1800" b="0">
                          <a:solidFill>
                            <a:srgbClr val="193E3A"/>
                          </a:solidFill>
                          <a:latin typeface="Arial"/>
                          <a:ea typeface="Arial"/>
                          <a:cs typeface="Arial"/>
                        </a:rPr>
                        <a:t>ROC-AUC</a:t>
                      </a:r>
                    </a:p>
                  </a:txBody>
                  <a:tcPr marL="91440" marR="91440" marT="45720" marB="45720">
                    <a:lnL w="9525">
                      <a:solidFill>
                        <a:srgbClr val="CBDDD6"/>
                      </a:solidFill>
                      <a:prstDash val="solid"/>
                    </a:lnL>
                    <a:lnR w="9525">
                      <a:solidFill>
                        <a:srgbClr val="CBDDD6"/>
                      </a:solidFill>
                      <a:prstDash val="solid"/>
                    </a:lnR>
                    <a:lnB w="9525">
                      <a:solidFill>
                        <a:srgbClr val="CBDDD6"/>
                      </a:solidFill>
                      <a:prstDash val="solid"/>
                    </a:lnB>
                    <a:solidFill>
                      <a:srgbClr val="FFFFFF"/>
                    </a:solidFill>
                  </a:tcPr>
                </a:tc>
                <a:tc>
                  <a:txBody>
                    <a:bodyPr/>
                    <a:lstStyle/>
                    <a:p>
                      <a:r>
                        <a:rPr sz="1800" b="0">
                          <a:solidFill>
                            <a:srgbClr val="193E3A"/>
                          </a:solidFill>
                          <a:latin typeface="Arial"/>
                          <a:ea typeface="Arial"/>
                          <a:cs typeface="Arial"/>
                        </a:rPr>
                        <a:t>0,8211</a:t>
                      </a:r>
                    </a:p>
                  </a:txBody>
                  <a:tcPr marL="91440" marR="91440" marT="45720" marB="45720">
                    <a:lnR w="9525">
                      <a:solidFill>
                        <a:srgbClr val="CBDDD6"/>
                      </a:solidFill>
                      <a:prstDash val="solid"/>
                    </a:lnR>
                    <a:lnB w="9525">
                      <a:solidFill>
                        <a:srgbClr val="CBDDD6"/>
                      </a:solidFill>
                      <a:prstDash val="solid"/>
                    </a:lnB>
                    <a:solidFill>
                      <a:srgbClr val="FFFFFF"/>
                    </a:solidFill>
                  </a:tcPr>
                </a:tc>
                <a:tc>
                  <a:txBody>
                    <a:bodyPr/>
                    <a:lstStyle/>
                    <a:p>
                      <a:r>
                        <a:rPr sz="1800" b="0">
                          <a:solidFill>
                            <a:srgbClr val="193E3A"/>
                          </a:solidFill>
                          <a:latin typeface="Arial"/>
                          <a:ea typeface="Arial"/>
                          <a:cs typeface="Arial"/>
                        </a:rPr>
                        <a:t>0,9581</a:t>
                      </a:r>
                    </a:p>
                  </a:txBody>
                  <a:tcPr marL="91440" marR="91440" marT="45720" marB="45720">
                    <a:lnR w="9525">
                      <a:solidFill>
                        <a:srgbClr val="CBDDD6"/>
                      </a:solidFill>
                      <a:prstDash val="solid"/>
                    </a:lnR>
                    <a:lnB w="9525">
                      <a:solidFill>
                        <a:srgbClr val="CBDDD6"/>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B45F1A87-F665-4C8B-BAC3-CCB6F1535146}"/>
              </a:ext>
            </a:extLst>
          </p:cNvPr>
          <p:cNvSpPr>
            <a:spLocks xmlns:a="http://schemas.openxmlformats.org/drawingml/2006/main" noGrp="1"/>
          </p:cNvSpPr>
          <p:nvPr/>
        </p:nvSpPr>
        <p:spPr>
          <a:xfrm xmlns:a="http://schemas.openxmlformats.org/drawingml/2006/main">
            <a:off x="609600" y="5133975"/>
            <a:ext cx="5286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150" b="1">
                <a:solidFill>
                  <a:srgbClr val="087F77"/>
                </a:solidFill>
                <a:latin typeface="Arial"/>
                <a:ea typeface="Arial"/>
                <a:cs typeface="Arial"/>
              </a:defRPr>
            </a:defPPr>
          </a:lstStyle>
          <a:p xmlns:a="http://schemas.openxmlformats.org/drawingml/2006/main">
            <a:pPr>
              <a:buNone/>
              <a:defRPr sz="3150" b="1">
                <a:solidFill>
                  <a:srgbClr val="087F77"/>
                </a:solidFill>
                <a:latin typeface="Arial"/>
                <a:ea typeface="Arial"/>
                <a:cs typeface="Arial"/>
              </a:defRPr>
            </a:pPr>
            <a:r>
              <a:rPr sz="3150" b="1">
                <a:solidFill>
                  <a:srgbClr val="087F77"/>
                </a:solidFill>
                <a:latin typeface="Arial"/>
                <a:ea typeface="Arial"/>
                <a:cs typeface="Arial"/>
              </a:rPr>
              <a:t>p = 1,80 × 10⁻²⁰</a:t>
            </a:r>
          </a:p>
        </p:txBody>
      </p:sp>
      <p:sp>
        <p:nvSpPr>
          <p:cNvPr id="5" name="">
            <a:extLst xmlns:a="http://schemas.openxmlformats.org/drawingml/2006/main">
              <a:ext uri="{FF2B5EF4-FFF2-40B4-BE49-F238E27FC236}">
                <a16:creationId xmlns:a16="http://schemas.microsoft.com/office/drawing/2014/main" id="{180D2AB2-03F6-457E-BED7-FB5680596CC9}"/>
              </a:ext>
            </a:extLst>
          </p:cNvPr>
          <p:cNvSpPr>
            <a:spLocks xmlns:a="http://schemas.openxmlformats.org/drawingml/2006/main" noGrp="1"/>
          </p:cNvSpPr>
          <p:nvPr/>
        </p:nvSpPr>
        <p:spPr>
          <a:xfrm xmlns:a="http://schemas.openxmlformats.org/drawingml/2006/main">
            <a:off x="628650" y="5857875"/>
            <a:ext cx="5334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617C77"/>
                </a:solidFill>
                <a:latin typeface="Arial"/>
                <a:ea typeface="Arial"/>
                <a:cs typeface="Arial"/>
              </a:defRPr>
            </a:defPPr>
          </a:lstStyle>
          <a:p xmlns:a="http://schemas.openxmlformats.org/drawingml/2006/main">
            <a:pPr>
              <a:buNone/>
              <a:defRPr sz="1725" b="0">
                <a:solidFill>
                  <a:srgbClr val="617C77"/>
                </a:solidFill>
                <a:latin typeface="Arial"/>
                <a:ea typeface="Arial"/>
                <a:cs typeface="Arial"/>
              </a:defRPr>
            </a:pPr>
            <a:r>
              <a:rPr sz="1725" b="0">
                <a:solidFill>
                  <a:srgbClr val="617C77"/>
                </a:solidFill>
                <a:latin typeface="Arial"/>
                <a:ea typeface="Arial"/>
                <a:cs typeface="Arial"/>
              </a:rPr>
              <a:t>McNemar: осы тестте айырма маңызды</a:t>
            </a:r>
          </a:p>
        </p:txBody>
      </p:sp>
      <p:sp>
        <p:nvSpPr>
          <p:cNvPr id="6" name="">
            <a:extLst xmlns:a="http://schemas.openxmlformats.org/drawingml/2006/main">
              <a:ext uri="{FF2B5EF4-FFF2-40B4-BE49-F238E27FC236}">
                <a16:creationId xmlns:a16="http://schemas.microsoft.com/office/drawing/2014/main" id="{9B1A28C1-93A3-474D-AFCC-7B9941132CAF}"/>
              </a:ext>
            </a:extLst>
          </p:cNvPr>
          <p:cNvSpPr>
            <a:spLocks xmlns:a="http://schemas.openxmlformats.org/drawingml/2006/main" noGrp="1"/>
          </p:cNvSpPr>
          <p:nvPr/>
        </p:nvSpPr>
        <p:spPr>
          <a:xfrm xmlns:a="http://schemas.openxmlformats.org/drawingml/2006/main">
            <a:off x="6943725" y="5162550"/>
            <a:ext cx="4572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775" b="1">
                <a:solidFill>
                  <a:srgbClr val="193E3A"/>
                </a:solidFill>
                <a:latin typeface="Arial"/>
                <a:ea typeface="Arial"/>
                <a:cs typeface="Arial"/>
              </a:defRPr>
            </a:defPPr>
          </a:lstStyle>
          <a:p xmlns:a="http://schemas.openxmlformats.org/drawingml/2006/main">
            <a:pPr>
              <a:buNone/>
              <a:defRPr sz="2775" b="1">
                <a:solidFill>
                  <a:srgbClr val="193E3A"/>
                </a:solidFill>
                <a:latin typeface="Arial"/>
                <a:ea typeface="Arial"/>
                <a:cs typeface="Arial"/>
              </a:defRPr>
            </a:pPr>
            <a:r>
              <a:rPr sz="2775" b="1">
                <a:solidFill>
                  <a:srgbClr val="193E3A"/>
                </a:solidFill>
                <a:latin typeface="Arial"/>
                <a:ea typeface="Arial"/>
                <a:cs typeface="Arial"/>
              </a:rPr>
              <a:t>15 FN / 52 FP</a:t>
            </a:r>
          </a:p>
        </p:txBody>
      </p:sp>
      <p:sp>
        <p:nvSpPr>
          <p:cNvPr id="7" name="">
            <a:extLst xmlns:a="http://schemas.openxmlformats.org/drawingml/2006/main">
              <a:ext uri="{FF2B5EF4-FFF2-40B4-BE49-F238E27FC236}">
                <a16:creationId xmlns:a16="http://schemas.microsoft.com/office/drawing/2014/main" id="{E39C3178-E0ED-4DE1-A7ED-D8984C9EECDD}"/>
              </a:ext>
            </a:extLst>
          </p:cNvPr>
          <p:cNvSpPr>
            <a:spLocks xmlns:a="http://schemas.openxmlformats.org/drawingml/2006/main" noGrp="1"/>
          </p:cNvSpPr>
          <p:nvPr/>
        </p:nvSpPr>
        <p:spPr>
          <a:xfrm xmlns:a="http://schemas.openxmlformats.org/drawingml/2006/main">
            <a:off x="6962775" y="5857875"/>
            <a:ext cx="4476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617C77"/>
                </a:solidFill>
                <a:latin typeface="Arial"/>
                <a:ea typeface="Arial"/>
                <a:cs typeface="Arial"/>
              </a:defRPr>
            </a:defPPr>
          </a:lstStyle>
          <a:p xmlns:a="http://schemas.openxmlformats.org/drawingml/2006/main">
            <a:pPr>
              <a:buNone/>
              <a:defRPr sz="1725" b="0">
                <a:solidFill>
                  <a:srgbClr val="617C77"/>
                </a:solidFill>
                <a:latin typeface="Arial"/>
                <a:ea typeface="Arial"/>
                <a:cs typeface="Arial"/>
              </a:defRPr>
            </a:pPr>
            <a:r>
              <a:rPr sz="1725" b="0">
                <a:solidFill>
                  <a:srgbClr val="617C77"/>
                </a:solidFill>
                <a:latin typeface="Arial"/>
                <a:ea typeface="Arial"/>
                <a:cs typeface="Arial"/>
              </a:rPr>
              <a:t>90% accuracy мақсатына жетпеді</a:t>
            </a:r>
          </a:p>
        </p:txBody>
      </p:sp>
    </p:spTree>
    <p:extLst>
      <p:ext uri="{BB962C8B-B14F-4D97-AF65-F5344CB8AC3E}">
        <p14:creationId xmlns:p14="http://schemas.microsoft.com/office/powerpoint/2010/main" val="813002931"/>
      </p:ext>
    </p:extLst>
  </p:cSld>
</p:sld>
</file>

<file path=ppt/slides/slide7.xml><?xml version="1.0" encoding="utf-8"?>
<p:sld xmlns:p="http://schemas.openxmlformats.org/presentationml/2006/main">
  <p:cSld>
    <p:bg>
      <p:bgPr>
        <a:solidFill xmlns:a="http://schemas.openxmlformats.org/drawingml/2006/main">
          <a:srgbClr val="F6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F738C2B-E224-4678-AE4A-10161C5245DD}"/>
              </a:ext>
            </a:extLst>
          </p:cNvPr>
          <p:cNvSpPr>
            <a:spLocks xmlns:a="http://schemas.openxmlformats.org/drawingml/2006/main" noGrp="1"/>
          </p:cNvSpPr>
          <p:nvPr/>
        </p:nvSpPr>
        <p:spPr>
          <a:xfrm xmlns:a="http://schemas.openxmlformats.org/drawingml/2006/main">
            <a:off x="609600" y="4953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1">
                <a:solidFill>
                  <a:srgbClr val="193E3A"/>
                </a:solidFill>
                <a:latin typeface="Arial"/>
                <a:ea typeface="Arial"/>
                <a:cs typeface="Arial"/>
              </a:defRPr>
            </a:defPPr>
          </a:lstStyle>
          <a:p xmlns:a="http://schemas.openxmlformats.org/drawingml/2006/main">
            <a:pPr>
              <a:buNone/>
              <a:defRPr sz="3225" b="1">
                <a:solidFill>
                  <a:srgbClr val="193E3A"/>
                </a:solidFill>
                <a:latin typeface="Arial"/>
                <a:ea typeface="Arial"/>
                <a:cs typeface="Arial"/>
              </a:defRPr>
            </a:pPr>
            <a:r>
              <a:rPr sz="3225" b="1">
                <a:solidFill>
                  <a:srgbClr val="193E3A"/>
                </a:solidFill>
                <a:latin typeface="Arial"/>
                <a:ea typeface="Arial"/>
                <a:cs typeface="Arial"/>
              </a:rPr>
              <a:t>Бір сурет және екі модель</a:t>
            </a:r>
          </a:p>
        </p:txBody>
      </p:sp>
      <p:sp>
        <p:nvSpPr>
          <p:cNvPr id="2" name="">
            <a:extLst xmlns:a="http://schemas.openxmlformats.org/drawingml/2006/main">
              <a:ext uri="{FF2B5EF4-FFF2-40B4-BE49-F238E27FC236}">
                <a16:creationId xmlns:a16="http://schemas.microsoft.com/office/drawing/2014/main" id="{EE0E43D7-907F-486D-B6F6-4F4505D79D62}"/>
              </a:ext>
            </a:extLst>
          </p:cNvPr>
          <p:cNvSpPr>
            <a:spLocks xmlns:a="http://schemas.openxmlformats.org/drawingml/2006/main" noGrp="1"/>
          </p:cNvSpPr>
          <p:nvPr/>
        </p:nvSpPr>
        <p:spPr>
          <a:xfrm xmlns:a="http://schemas.openxmlformats.org/drawingml/2006/main">
            <a:off x="11077575" y="6315075"/>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617C77"/>
                </a:solidFill>
                <a:latin typeface="Arial"/>
                <a:ea typeface="Arial"/>
                <a:cs typeface="Arial"/>
              </a:defRPr>
            </a:defPPr>
          </a:lstStyle>
          <a:p xmlns:a="http://schemas.openxmlformats.org/drawingml/2006/main">
            <a:pPr>
              <a:buNone/>
              <a:defRPr sz="1275" b="0">
                <a:solidFill>
                  <a:srgbClr val="617C77"/>
                </a:solidFill>
                <a:latin typeface="Arial"/>
                <a:ea typeface="Arial"/>
                <a:cs typeface="Arial"/>
              </a:defRPr>
            </a:pPr>
            <a:r>
              <a:rPr sz="1275" b="0">
                <a:solidFill>
                  <a:srgbClr val="617C77"/>
                </a:solidFill>
                <a:latin typeface="Arial"/>
                <a:ea typeface="Arial"/>
                <a:cs typeface="Arial"/>
              </a:rPr>
              <a:t>07</a:t>
            </a:r>
          </a:p>
        </p:txBody>
      </p:sp>
      <p:pic>
        <p:nvPicPr>
          <p:cNvPr id="3" name="">
            <a:extLst xmlns:a="http://schemas.openxmlformats.org/drawingml/2006/main">
              <a:ext uri="{FF2B5EF4-FFF2-40B4-BE49-F238E27FC236}">
                <a16:creationId xmlns:a16="http://schemas.microsoft.com/office/drawing/2014/main" id="{29F1E25B-09B6-454A-BDC0-2512307E5DC7}"/>
              </a:ext>
            </a:extLst>
          </p:cNvPr>
          <p:cNvPicPr>
            <a:picLocks xmlns:a="http://schemas.openxmlformats.org/drawingml/2006/main" noChangeAspect="1"/>
          </p:cNvPicPr>
          <p:nvPr/>
        </p:nvPicPr>
        <p:blipFill>
          <a:blip xmlns:r="http://schemas.openxmlformats.org/officeDocument/2006/relationships" xmlns:a="http://schemas.openxmlformats.org/drawingml/2006/main" r:embed="R6dc5a5ca6bb14bf2"/>
          <a:stretch xmlns:a="http://schemas.openxmlformats.org/drawingml/2006/main"/>
        </p:blipFill>
        <p:spPr>
          <a:xfrm xmlns:a="http://schemas.openxmlformats.org/drawingml/2006/main">
            <a:off x="860203" y="1743075"/>
            <a:ext cx="6794944" cy="44577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CEC783AF-4F81-48FF-BEC5-157E4809AD97}"/>
              </a:ext>
            </a:extLst>
          </p:cNvPr>
          <p:cNvSpPr>
            <a:spLocks xmlns:a="http://schemas.openxmlformats.org/drawingml/2006/main" noGrp="1"/>
          </p:cNvSpPr>
          <p:nvPr/>
        </p:nvSpPr>
        <p:spPr>
          <a:xfrm xmlns:a="http://schemas.openxmlformats.org/drawingml/2006/main">
            <a:off x="8429625" y="1895475"/>
            <a:ext cx="3143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1">
                <a:solidFill>
                  <a:srgbClr val="087F77"/>
                </a:solidFill>
                <a:latin typeface="Arial"/>
                <a:ea typeface="Arial"/>
                <a:cs typeface="Arial"/>
              </a:defRPr>
            </a:defPPr>
          </a:lstStyle>
          <a:p xmlns:a="http://schemas.openxmlformats.org/drawingml/2006/main">
            <a:pPr>
              <a:buNone/>
              <a:defRPr sz="2025" b="1">
                <a:solidFill>
                  <a:srgbClr val="087F77"/>
                </a:solidFill>
                <a:latin typeface="Arial"/>
                <a:ea typeface="Arial"/>
                <a:cs typeface="Arial"/>
              </a:defRPr>
            </a:pPr>
            <a:r>
              <a:rPr sz="2025" b="1">
                <a:solidFill>
                  <a:srgbClr val="087F77"/>
                </a:solidFill>
                <a:latin typeface="Arial"/>
                <a:ea typeface="Arial"/>
                <a:cs typeface="Arial"/>
              </a:rPr>
              <a:t>JPG / PNG / DICOM</a:t>
            </a:r>
          </a:p>
        </p:txBody>
      </p:sp>
      <p:sp>
        <p:nvSpPr>
          <p:cNvPr id="5" name="">
            <a:extLst xmlns:a="http://schemas.openxmlformats.org/drawingml/2006/main">
              <a:ext uri="{FF2B5EF4-FFF2-40B4-BE49-F238E27FC236}">
                <a16:creationId xmlns:a16="http://schemas.microsoft.com/office/drawing/2014/main" id="{B8502B56-C101-48ED-924C-8DE7379037A9}"/>
              </a:ext>
            </a:extLst>
          </p:cNvPr>
          <p:cNvSpPr>
            <a:spLocks xmlns:a="http://schemas.openxmlformats.org/drawingml/2006/main" noGrp="1"/>
          </p:cNvSpPr>
          <p:nvPr/>
        </p:nvSpPr>
        <p:spPr>
          <a:xfrm xmlns:a="http://schemas.openxmlformats.org/drawingml/2006/main">
            <a:off x="8429625" y="2619375"/>
            <a:ext cx="309562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0">
                <a:solidFill>
                  <a:srgbClr val="617C77"/>
                </a:solidFill>
                <a:latin typeface="Arial"/>
                <a:ea typeface="Arial"/>
                <a:cs typeface="Arial"/>
              </a:defRPr>
            </a:defPPr>
          </a:lstStyle>
          <a:p xmlns:a="http://schemas.openxmlformats.org/drawingml/2006/main">
            <a:pPr>
              <a:buNone/>
              <a:defRPr sz="1950" b="0">
                <a:solidFill>
                  <a:srgbClr val="617C77"/>
                </a:solidFill>
                <a:latin typeface="Arial"/>
                <a:ea typeface="Arial"/>
                <a:cs typeface="Arial"/>
              </a:defRPr>
            </a:pPr>
            <a:r>
              <a:rPr sz="1950" b="0">
                <a:solidFill>
                  <a:srgbClr val="617C77"/>
                </a:solidFill>
                <a:latin typeface="Arial"/>
                <a:ea typeface="Arial"/>
                <a:cs typeface="Arial"/>
              </a:rPr>
              <a:t>Бір топта 10 суретке дейін</a:t>
            </a:r>
          </a:p>
          <a:p xmlns:a="http://schemas.openxmlformats.org/drawingml/2006/main">
            <a:pPr>
              <a:buNone/>
              <a:defRPr sz="1950" b="0">
                <a:solidFill>
                  <a:srgbClr val="617C77"/>
                </a:solidFill>
                <a:latin typeface="Arial"/>
                <a:ea typeface="Arial"/>
                <a:cs typeface="Arial"/>
              </a:defRPr>
            </a:pPr>
            <a:r>
              <a:rPr sz="1950" b="0">
                <a:solidFill>
                  <a:srgbClr val="617C77"/>
                </a:solidFill>
                <a:latin typeface="Arial"/>
                <a:ea typeface="Arial"/>
                <a:cs typeface="Arial"/>
              </a:rPr>
              <a:t>Әр файл ≤ 12 МБ</a:t>
            </a:r>
          </a:p>
        </p:txBody>
      </p:sp>
      <p:sp>
        <p:nvSpPr>
          <p:cNvPr id="6" name="">
            <a:extLst xmlns:a="http://schemas.openxmlformats.org/drawingml/2006/main">
              <a:ext uri="{FF2B5EF4-FFF2-40B4-BE49-F238E27FC236}">
                <a16:creationId xmlns:a16="http://schemas.microsoft.com/office/drawing/2014/main" id="{505080B8-A4AE-407D-ABFF-6657DE7048C7}"/>
              </a:ext>
            </a:extLst>
          </p:cNvPr>
          <p:cNvSpPr>
            <a:spLocks xmlns:a="http://schemas.openxmlformats.org/drawingml/2006/main" noGrp="1"/>
          </p:cNvSpPr>
          <p:nvPr/>
        </p:nvSpPr>
        <p:spPr>
          <a:xfrm xmlns:a="http://schemas.openxmlformats.org/drawingml/2006/main">
            <a:off x="8429625" y="4114800"/>
            <a:ext cx="3143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1">
                <a:solidFill>
                  <a:srgbClr val="193E3A"/>
                </a:solidFill>
                <a:latin typeface="Arial"/>
                <a:ea typeface="Arial"/>
                <a:cs typeface="Arial"/>
              </a:defRPr>
            </a:defPPr>
          </a:lstStyle>
          <a:p xmlns:a="http://schemas.openxmlformats.org/drawingml/2006/main">
            <a:pPr>
              <a:buNone/>
              <a:defRPr sz="2325" b="1">
                <a:solidFill>
                  <a:srgbClr val="193E3A"/>
                </a:solidFill>
                <a:latin typeface="Arial"/>
                <a:ea typeface="Arial"/>
                <a:cs typeface="Arial"/>
              </a:defRPr>
            </a:pPr>
            <a:r>
              <a:rPr sz="2325" b="1">
                <a:solidFill>
                  <a:srgbClr val="193E3A"/>
                </a:solidFill>
                <a:latin typeface="Arial"/>
                <a:ea typeface="Arial"/>
                <a:cs typeface="Arial"/>
              </a:rPr>
              <a:t>Санат, балл және</a:t>
            </a:r>
          </a:p>
          <a:p xmlns:a="http://schemas.openxmlformats.org/drawingml/2006/main">
            <a:pPr>
              <a:buNone/>
              <a:defRPr sz="2325" b="1">
                <a:solidFill>
                  <a:srgbClr val="193E3A"/>
                </a:solidFill>
                <a:latin typeface="Arial"/>
                <a:ea typeface="Arial"/>
                <a:cs typeface="Arial"/>
              </a:defRPr>
            </a:pPr>
            <a:r>
              <a:rPr sz="2325" b="1">
                <a:solidFill>
                  <a:srgbClr val="193E3A"/>
                </a:solidFill>
                <a:latin typeface="Arial"/>
                <a:ea typeface="Arial"/>
                <a:cs typeface="Arial"/>
              </a:rPr>
              <a:t>шешім шегі</a:t>
            </a:r>
          </a:p>
        </p:txBody>
      </p:sp>
      <p:sp>
        <p:nvSpPr>
          <p:cNvPr id="7" name="">
            <a:extLst xmlns:a="http://schemas.openxmlformats.org/drawingml/2006/main">
              <a:ext uri="{FF2B5EF4-FFF2-40B4-BE49-F238E27FC236}">
                <a16:creationId xmlns:a16="http://schemas.microsoft.com/office/drawing/2014/main" id="{507800CE-743C-4B24-BB58-8C54BC023ED3}"/>
              </a:ext>
            </a:extLst>
          </p:cNvPr>
          <p:cNvSpPr>
            <a:spLocks xmlns:a="http://schemas.openxmlformats.org/drawingml/2006/main" noGrp="1"/>
          </p:cNvSpPr>
          <p:nvPr/>
        </p:nvSpPr>
        <p:spPr>
          <a:xfrm xmlns:a="http://schemas.openxmlformats.org/drawingml/2006/main">
            <a:off x="8429625" y="5276850"/>
            <a:ext cx="30956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617C77"/>
                </a:solidFill>
                <a:latin typeface="Arial"/>
                <a:ea typeface="Arial"/>
                <a:cs typeface="Arial"/>
              </a:defRPr>
            </a:defPPr>
          </a:lstStyle>
          <a:p xmlns:a="http://schemas.openxmlformats.org/drawingml/2006/main">
            <a:pPr>
              <a:buNone/>
              <a:defRPr sz="1875" b="0">
                <a:solidFill>
                  <a:srgbClr val="617C77"/>
                </a:solidFill>
                <a:latin typeface="Arial"/>
                <a:ea typeface="Arial"/>
                <a:cs typeface="Arial"/>
              </a:defRPr>
            </a:pPr>
            <a:r>
              <a:rPr sz="1875" b="0">
                <a:solidFill>
                  <a:srgbClr val="617C77"/>
                </a:solidFill>
                <a:latin typeface="Arial"/>
                <a:ea typeface="Arial"/>
                <a:cs typeface="Arial"/>
              </a:rPr>
              <a:t>Болжамдардың сәйкестігін</a:t>
            </a:r>
          </a:p>
          <a:p xmlns:a="http://schemas.openxmlformats.org/drawingml/2006/main">
            <a:pPr>
              <a:buNone/>
              <a:defRPr sz="1875" b="0">
                <a:solidFill>
                  <a:srgbClr val="617C77"/>
                </a:solidFill>
                <a:latin typeface="Arial"/>
                <a:ea typeface="Arial"/>
                <a:cs typeface="Arial"/>
              </a:defRPr>
            </a:pPr>
            <a:r>
              <a:rPr sz="1875" b="0">
                <a:solidFill>
                  <a:srgbClr val="617C77"/>
                </a:solidFill>
                <a:latin typeface="Arial"/>
                <a:ea typeface="Arial"/>
                <a:cs typeface="Arial"/>
              </a:rPr>
              <a:t>бір экранда көру</a:t>
            </a:r>
          </a:p>
        </p:txBody>
      </p:sp>
    </p:spTree>
    <p:extLst>
      <p:ext uri="{BB962C8B-B14F-4D97-AF65-F5344CB8AC3E}">
        <p14:creationId xmlns:p14="http://schemas.microsoft.com/office/powerpoint/2010/main" val="2144803041"/>
      </p:ext>
    </p:extLst>
  </p:cSld>
</p:sld>
</file>

<file path=ppt/slides/slide8.xml><?xml version="1.0" encoding="utf-8"?>
<p:sld xmlns:p="http://schemas.openxmlformats.org/presentationml/2006/main">
  <p:cSld>
    <p:bg>
      <p:bgPr>
        <a:solidFill xmlns:a="http://schemas.openxmlformats.org/drawingml/2006/main">
          <a:srgbClr val="F6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0133CA6-F97E-4619-9E9C-425E60199341}"/>
              </a:ext>
            </a:extLst>
          </p:cNvPr>
          <p:cNvSpPr>
            <a:spLocks xmlns:a="http://schemas.openxmlformats.org/drawingml/2006/main" noGrp="1"/>
          </p:cNvSpPr>
          <p:nvPr/>
        </p:nvSpPr>
        <p:spPr>
          <a:xfrm xmlns:a="http://schemas.openxmlformats.org/drawingml/2006/main">
            <a:off x="609600" y="4953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1">
                <a:solidFill>
                  <a:srgbClr val="193E3A"/>
                </a:solidFill>
                <a:latin typeface="Arial"/>
                <a:ea typeface="Arial"/>
                <a:cs typeface="Arial"/>
              </a:defRPr>
            </a:defPPr>
          </a:lstStyle>
          <a:p xmlns:a="http://schemas.openxmlformats.org/drawingml/2006/main">
            <a:pPr>
              <a:buNone/>
              <a:defRPr sz="3225" b="1">
                <a:solidFill>
                  <a:srgbClr val="193E3A"/>
                </a:solidFill>
                <a:latin typeface="Arial"/>
                <a:ea typeface="Arial"/>
                <a:cs typeface="Arial"/>
              </a:defRPr>
            </a:pPr>
            <a:r>
              <a:rPr sz="3225" b="1">
                <a:solidFill>
                  <a:srgbClr val="193E3A"/>
                </a:solidFill>
                <a:latin typeface="Arial"/>
                <a:ea typeface="Arial"/>
                <a:cs typeface="Arial"/>
              </a:rPr>
              <a:t>Grad-CAM: модель назарын көрсету</a:t>
            </a:r>
          </a:p>
        </p:txBody>
      </p:sp>
      <p:sp>
        <p:nvSpPr>
          <p:cNvPr id="2" name="">
            <a:extLst xmlns:a="http://schemas.openxmlformats.org/drawingml/2006/main">
              <a:ext uri="{FF2B5EF4-FFF2-40B4-BE49-F238E27FC236}">
                <a16:creationId xmlns:a16="http://schemas.microsoft.com/office/drawing/2014/main" id="{AE2EF3AD-8B4F-4A1C-9732-CF7DB8C07A0D}"/>
              </a:ext>
            </a:extLst>
          </p:cNvPr>
          <p:cNvSpPr>
            <a:spLocks xmlns:a="http://schemas.openxmlformats.org/drawingml/2006/main" noGrp="1"/>
          </p:cNvSpPr>
          <p:nvPr/>
        </p:nvSpPr>
        <p:spPr>
          <a:xfrm xmlns:a="http://schemas.openxmlformats.org/drawingml/2006/main">
            <a:off x="11077575" y="6315075"/>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617C77"/>
                </a:solidFill>
                <a:latin typeface="Arial"/>
                <a:ea typeface="Arial"/>
                <a:cs typeface="Arial"/>
              </a:defRPr>
            </a:defPPr>
          </a:lstStyle>
          <a:p xmlns:a="http://schemas.openxmlformats.org/drawingml/2006/main">
            <a:pPr>
              <a:buNone/>
              <a:defRPr sz="1275" b="0">
                <a:solidFill>
                  <a:srgbClr val="617C77"/>
                </a:solidFill>
                <a:latin typeface="Arial"/>
                <a:ea typeface="Arial"/>
                <a:cs typeface="Arial"/>
              </a:defRPr>
            </a:pPr>
            <a:r>
              <a:rPr sz="1275" b="0">
                <a:solidFill>
                  <a:srgbClr val="617C77"/>
                </a:solidFill>
                <a:latin typeface="Arial"/>
                <a:ea typeface="Arial"/>
                <a:cs typeface="Arial"/>
              </a:rPr>
              <a:t>08</a:t>
            </a:r>
          </a:p>
        </p:txBody>
      </p:sp>
      <p:pic>
        <p:nvPicPr>
          <p:cNvPr id="3" name="">
            <a:extLst xmlns:a="http://schemas.openxmlformats.org/drawingml/2006/main">
              <a:ext uri="{FF2B5EF4-FFF2-40B4-BE49-F238E27FC236}">
                <a16:creationId xmlns:a16="http://schemas.microsoft.com/office/drawing/2014/main" id="{B3E27F6E-8FFC-49BD-ABF6-8B0D58FC7460}"/>
              </a:ext>
            </a:extLst>
          </p:cNvPr>
          <p:cNvPicPr>
            <a:picLocks xmlns:a="http://schemas.openxmlformats.org/drawingml/2006/main" noChangeAspect="1"/>
          </p:cNvPicPr>
          <p:nvPr/>
        </p:nvPicPr>
        <p:blipFill>
          <a:blip xmlns:r="http://schemas.openxmlformats.org/officeDocument/2006/relationships" xmlns:a="http://schemas.openxmlformats.org/drawingml/2006/main" r:embed="R2099249900e144f8"/>
          <a:stretch xmlns:a="http://schemas.openxmlformats.org/drawingml/2006/main"/>
        </p:blipFill>
        <p:spPr>
          <a:xfrm xmlns:a="http://schemas.openxmlformats.org/drawingml/2006/main">
            <a:off x="780348" y="1695450"/>
            <a:ext cx="6954654" cy="456247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D8EB5D2A-DF91-4497-81DC-612692BF1C25}"/>
              </a:ext>
            </a:extLst>
          </p:cNvPr>
          <p:cNvSpPr>
            <a:spLocks xmlns:a="http://schemas.openxmlformats.org/drawingml/2006/main" noGrp="1"/>
          </p:cNvSpPr>
          <p:nvPr/>
        </p:nvSpPr>
        <p:spPr>
          <a:xfrm xmlns:a="http://schemas.openxmlformats.org/drawingml/2006/main">
            <a:off x="8429625" y="1895475"/>
            <a:ext cx="3143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550" b="1">
                <a:solidFill>
                  <a:srgbClr val="087F77"/>
                </a:solidFill>
                <a:latin typeface="Arial"/>
                <a:ea typeface="Arial"/>
                <a:cs typeface="Arial"/>
              </a:defRPr>
            </a:defPPr>
          </a:lstStyle>
          <a:p xmlns:a="http://schemas.openxmlformats.org/drawingml/2006/main">
            <a:pPr>
              <a:buNone/>
              <a:defRPr sz="2550" b="1">
                <a:solidFill>
                  <a:srgbClr val="087F77"/>
                </a:solidFill>
                <a:latin typeface="Arial"/>
                <a:ea typeface="Arial"/>
                <a:cs typeface="Arial"/>
              </a:defRPr>
            </a:pPr>
            <a:r>
              <a:rPr sz="2550" b="1">
                <a:solidFill>
                  <a:srgbClr val="087F77"/>
                </a:solidFill>
                <a:latin typeface="Arial"/>
                <a:ea typeface="Arial"/>
                <a:cs typeface="Arial"/>
              </a:rPr>
              <a:t>Модель назары</a:t>
            </a:r>
          </a:p>
        </p:txBody>
      </p:sp>
      <p:sp>
        <p:nvSpPr>
          <p:cNvPr id="5" name="">
            <a:extLst xmlns:a="http://schemas.openxmlformats.org/drawingml/2006/main">
              <a:ext uri="{FF2B5EF4-FFF2-40B4-BE49-F238E27FC236}">
                <a16:creationId xmlns:a16="http://schemas.microsoft.com/office/drawing/2014/main" id="{BAB52083-772D-4712-B8C1-BBA51030F347}"/>
              </a:ext>
            </a:extLst>
          </p:cNvPr>
          <p:cNvSpPr>
            <a:spLocks xmlns:a="http://schemas.openxmlformats.org/drawingml/2006/main" noGrp="1"/>
          </p:cNvSpPr>
          <p:nvPr/>
        </p:nvSpPr>
        <p:spPr>
          <a:xfrm xmlns:a="http://schemas.openxmlformats.org/drawingml/2006/main">
            <a:off x="8429625" y="3228975"/>
            <a:ext cx="3095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193E3A"/>
                </a:solidFill>
                <a:latin typeface="Arial"/>
                <a:ea typeface="Arial"/>
                <a:cs typeface="Arial"/>
              </a:defRPr>
            </a:defPPr>
          </a:lstStyle>
          <a:p xmlns:a="http://schemas.openxmlformats.org/drawingml/2006/main">
            <a:pPr>
              <a:buNone/>
              <a:defRPr sz="2025" b="0">
                <a:solidFill>
                  <a:srgbClr val="193E3A"/>
                </a:solidFill>
                <a:latin typeface="Arial"/>
                <a:ea typeface="Arial"/>
                <a:cs typeface="Arial"/>
              </a:defRPr>
            </a:pPr>
            <a:r>
              <a:rPr sz="2025" b="0">
                <a:solidFill>
                  <a:srgbClr val="193E3A"/>
                </a:solidFill>
                <a:latin typeface="Arial"/>
                <a:ea typeface="Arial"/>
                <a:cs typeface="Arial"/>
              </a:rPr>
              <a:t>Түпнұсқа / жылу картасы</a:t>
            </a:r>
          </a:p>
          <a:p xmlns:a="http://schemas.openxmlformats.org/drawingml/2006/main">
            <a:pPr>
              <a:buNone/>
              <a:defRPr sz="2025" b="0">
                <a:solidFill>
                  <a:srgbClr val="193E3A"/>
                </a:solidFill>
                <a:latin typeface="Arial"/>
                <a:ea typeface="Arial"/>
                <a:cs typeface="Arial"/>
              </a:defRPr>
            </a:pPr>
            <a:r>
              <a:rPr sz="2025" b="0">
                <a:solidFill>
                  <a:srgbClr val="193E3A"/>
                </a:solidFill>
                <a:latin typeface="Arial"/>
                <a:ea typeface="Arial"/>
                <a:cs typeface="Arial"/>
              </a:rPr>
              <a:t>Белгіленген PNG жүктеу</a:t>
            </a:r>
          </a:p>
        </p:txBody>
      </p:sp>
      <p:sp>
        <p:nvSpPr>
          <p:cNvPr id="6" name="">
            <a:extLst xmlns:a="http://schemas.openxmlformats.org/drawingml/2006/main">
              <a:ext uri="{FF2B5EF4-FFF2-40B4-BE49-F238E27FC236}">
                <a16:creationId xmlns:a16="http://schemas.microsoft.com/office/drawing/2014/main" id="{55E8D5EA-5837-4523-9E41-B8EFF07D516C}"/>
              </a:ext>
            </a:extLst>
          </p:cNvPr>
          <p:cNvSpPr>
            <a:spLocks xmlns:a="http://schemas.openxmlformats.org/drawingml/2006/main" noGrp="1"/>
          </p:cNvSpPr>
          <p:nvPr/>
        </p:nvSpPr>
        <p:spPr>
          <a:xfrm xmlns:a="http://schemas.openxmlformats.org/drawingml/2006/main">
            <a:off x="8429625" y="4895850"/>
            <a:ext cx="3143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617C77"/>
                </a:solidFill>
                <a:latin typeface="Arial"/>
                <a:ea typeface="Arial"/>
                <a:cs typeface="Arial"/>
              </a:defRPr>
            </a:defPPr>
          </a:lstStyle>
          <a:p xmlns:a="http://schemas.openxmlformats.org/drawingml/2006/main">
            <a:pPr>
              <a:buNone/>
              <a:defRPr sz="1875" b="0">
                <a:solidFill>
                  <a:srgbClr val="617C77"/>
                </a:solidFill>
                <a:latin typeface="Arial"/>
                <a:ea typeface="Arial"/>
                <a:cs typeface="Arial"/>
              </a:defRPr>
            </a:pPr>
            <a:r>
              <a:rPr sz="1875" b="0">
                <a:solidFill>
                  <a:srgbClr val="617C77"/>
                </a:solidFill>
                <a:latin typeface="Arial"/>
                <a:ea typeface="Arial"/>
                <a:cs typeface="Arial"/>
              </a:rPr>
              <a:t>Карта ықпалды аймақтарды</a:t>
            </a:r>
          </a:p>
          <a:p xmlns:a="http://schemas.openxmlformats.org/drawingml/2006/main">
            <a:pPr>
              <a:buNone/>
              <a:defRPr sz="1875" b="0">
                <a:solidFill>
                  <a:srgbClr val="617C77"/>
                </a:solidFill>
                <a:latin typeface="Arial"/>
                <a:ea typeface="Arial"/>
                <a:cs typeface="Arial"/>
              </a:defRPr>
            </a:pPr>
            <a:r>
              <a:rPr sz="1875" b="0">
                <a:solidFill>
                  <a:srgbClr val="617C77"/>
                </a:solidFill>
                <a:latin typeface="Arial"/>
                <a:ea typeface="Arial"/>
                <a:cs typeface="Arial"/>
              </a:rPr>
              <a:t>жуық көрсетеді. Зақымның</a:t>
            </a:r>
          </a:p>
          <a:p xmlns:a="http://schemas.openxmlformats.org/drawingml/2006/main">
            <a:pPr>
              <a:buNone/>
              <a:defRPr sz="1875" b="0">
                <a:solidFill>
                  <a:srgbClr val="617C77"/>
                </a:solidFill>
                <a:latin typeface="Arial"/>
                <a:ea typeface="Arial"/>
                <a:cs typeface="Arial"/>
              </a:defRPr>
            </a:pPr>
            <a:r>
              <a:rPr sz="1875" b="0">
                <a:solidFill>
                  <a:srgbClr val="617C77"/>
                </a:solidFill>
                <a:latin typeface="Arial"/>
                <a:ea typeface="Arial"/>
                <a:cs typeface="Arial"/>
              </a:rPr>
              <a:t>нақты шекарасын бермейді.</a:t>
            </a:r>
          </a:p>
        </p:txBody>
      </p:sp>
    </p:spTree>
    <p:extLst>
      <p:ext uri="{BB962C8B-B14F-4D97-AF65-F5344CB8AC3E}">
        <p14:creationId xmlns:p14="http://schemas.microsoft.com/office/powerpoint/2010/main" val="67803543"/>
      </p:ext>
    </p:extLst>
  </p:cSld>
</p:sld>
</file>

<file path=ppt/slides/slide9.xml><?xml version="1.0" encoding="utf-8"?>
<p:sld xmlns:p="http://schemas.openxmlformats.org/presentationml/2006/main">
  <p:cSld>
    <p:bg>
      <p:bgPr>
        <a:solidFill xmlns:a="http://schemas.openxmlformats.org/drawingml/2006/main">
          <a:srgbClr val="F6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4299F64-CC26-402C-81BD-4F732A512FFE}"/>
              </a:ext>
            </a:extLst>
          </p:cNvPr>
          <p:cNvSpPr>
            <a:spLocks xmlns:a="http://schemas.openxmlformats.org/drawingml/2006/main" noGrp="1"/>
          </p:cNvSpPr>
          <p:nvPr/>
        </p:nvSpPr>
        <p:spPr>
          <a:xfrm xmlns:a="http://schemas.openxmlformats.org/drawingml/2006/main">
            <a:off x="609600" y="4953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1">
                <a:solidFill>
                  <a:srgbClr val="193E3A"/>
                </a:solidFill>
                <a:latin typeface="Arial"/>
                <a:ea typeface="Arial"/>
                <a:cs typeface="Arial"/>
              </a:defRPr>
            </a:defPPr>
          </a:lstStyle>
          <a:p xmlns:a="http://schemas.openxmlformats.org/drawingml/2006/main">
            <a:pPr>
              <a:buNone/>
              <a:defRPr sz="3225" b="1">
                <a:solidFill>
                  <a:srgbClr val="193E3A"/>
                </a:solidFill>
                <a:latin typeface="Arial"/>
                <a:ea typeface="Arial"/>
                <a:cs typeface="Arial"/>
              </a:defRPr>
            </a:pPr>
            <a:r>
              <a:rPr sz="3225" b="1">
                <a:solidFill>
                  <a:srgbClr val="193E3A"/>
                </a:solidFill>
                <a:latin typeface="Arial"/>
                <a:ea typeface="Arial"/>
                <a:cs typeface="Arial"/>
              </a:rPr>
              <a:t>Қорытынды есеп және талдау тарихы</a:t>
            </a:r>
          </a:p>
        </p:txBody>
      </p:sp>
      <p:sp>
        <p:nvSpPr>
          <p:cNvPr id="2" name="">
            <a:extLst xmlns:a="http://schemas.openxmlformats.org/drawingml/2006/main">
              <a:ext uri="{FF2B5EF4-FFF2-40B4-BE49-F238E27FC236}">
                <a16:creationId xmlns:a16="http://schemas.microsoft.com/office/drawing/2014/main" id="{354845F2-9D71-42C9-9ADC-4E3950A86417}"/>
              </a:ext>
            </a:extLst>
          </p:cNvPr>
          <p:cNvSpPr>
            <a:spLocks xmlns:a="http://schemas.openxmlformats.org/drawingml/2006/main" noGrp="1"/>
          </p:cNvSpPr>
          <p:nvPr/>
        </p:nvSpPr>
        <p:spPr>
          <a:xfrm xmlns:a="http://schemas.openxmlformats.org/drawingml/2006/main">
            <a:off x="11077575" y="6315075"/>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617C77"/>
                </a:solidFill>
                <a:latin typeface="Arial"/>
                <a:ea typeface="Arial"/>
                <a:cs typeface="Arial"/>
              </a:defRPr>
            </a:defPPr>
          </a:lstStyle>
          <a:p xmlns:a="http://schemas.openxmlformats.org/drawingml/2006/main">
            <a:pPr>
              <a:buNone/>
              <a:defRPr sz="1275" b="0">
                <a:solidFill>
                  <a:srgbClr val="617C77"/>
                </a:solidFill>
                <a:latin typeface="Arial"/>
                <a:ea typeface="Arial"/>
                <a:cs typeface="Arial"/>
              </a:defRPr>
            </a:pPr>
            <a:r>
              <a:rPr sz="1275" b="0">
                <a:solidFill>
                  <a:srgbClr val="617C77"/>
                </a:solidFill>
                <a:latin typeface="Arial"/>
                <a:ea typeface="Arial"/>
                <a:cs typeface="Arial"/>
              </a:rPr>
              <a:t>09</a:t>
            </a:r>
          </a:p>
        </p:txBody>
      </p:sp>
      <p:pic>
        <p:nvPicPr>
          <p:cNvPr id="3" name="">
            <a:extLst xmlns:a="http://schemas.openxmlformats.org/drawingml/2006/main">
              <a:ext uri="{FF2B5EF4-FFF2-40B4-BE49-F238E27FC236}">
                <a16:creationId xmlns:a16="http://schemas.microsoft.com/office/drawing/2014/main" id="{EEA4B106-44F7-417F-86C2-2DB6928EBA35}"/>
              </a:ext>
            </a:extLst>
          </p:cNvPr>
          <p:cNvPicPr>
            <a:picLocks xmlns:a="http://schemas.openxmlformats.org/drawingml/2006/main" noChangeAspect="1"/>
          </p:cNvPicPr>
          <p:nvPr/>
        </p:nvPicPr>
        <p:blipFill>
          <a:blip xmlns:r="http://schemas.openxmlformats.org/officeDocument/2006/relationships" xmlns:a="http://schemas.openxmlformats.org/drawingml/2006/main" r:embed="R853c6958f4a944bc"/>
          <a:stretch xmlns:a="http://schemas.openxmlformats.org/drawingml/2006/main"/>
        </p:blipFill>
        <p:spPr>
          <a:xfrm xmlns:a="http://schemas.openxmlformats.org/drawingml/2006/main">
            <a:off x="523875" y="1736494"/>
            <a:ext cx="6524625" cy="4280362"/>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9D3C2524-B5B4-4B2A-AB7B-A3FF140D65E9}"/>
              </a:ext>
            </a:extLst>
          </p:cNvPr>
          <p:cNvPicPr>
            <a:picLocks xmlns:a="http://schemas.openxmlformats.org/drawingml/2006/main" noChangeAspect="1"/>
          </p:cNvPicPr>
          <p:nvPr/>
        </p:nvPicPr>
        <p:blipFill>
          <a:blip xmlns:r="http://schemas.openxmlformats.org/officeDocument/2006/relationships" xmlns:a="http://schemas.openxmlformats.org/drawingml/2006/main" r:embed="R031d0597b5954e39"/>
          <a:stretch xmlns:a="http://schemas.openxmlformats.org/drawingml/2006/main"/>
        </p:blipFill>
        <p:spPr>
          <a:xfrm xmlns:a="http://schemas.openxmlformats.org/drawingml/2006/main">
            <a:off x="7419975" y="1677160"/>
            <a:ext cx="2867025" cy="405613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CD3A8D23-FC49-4980-AD98-4109201CDCE0}"/>
              </a:ext>
            </a:extLst>
          </p:cNvPr>
          <p:cNvSpPr>
            <a:spLocks xmlns:a="http://schemas.openxmlformats.org/drawingml/2006/main" noGrp="1"/>
          </p:cNvSpPr>
          <p:nvPr/>
        </p:nvSpPr>
        <p:spPr>
          <a:xfrm xmlns:a="http://schemas.openxmlformats.org/drawingml/2006/main">
            <a:off x="609600" y="6162675"/>
            <a:ext cx="6477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1">
                <a:solidFill>
                  <a:srgbClr val="087F77"/>
                </a:solidFill>
                <a:latin typeface="Arial"/>
                <a:ea typeface="Arial"/>
                <a:cs typeface="Arial"/>
              </a:defRPr>
            </a:defPPr>
          </a:lstStyle>
          <a:p xmlns:a="http://schemas.openxmlformats.org/drawingml/2006/main">
            <a:pPr>
              <a:buNone/>
              <a:defRPr sz="1725" b="1">
                <a:solidFill>
                  <a:srgbClr val="087F77"/>
                </a:solidFill>
                <a:latin typeface="Arial"/>
                <a:ea typeface="Arial"/>
                <a:cs typeface="Arial"/>
              </a:defRPr>
            </a:pPr>
            <a:r>
              <a:rPr sz="1725" b="1">
                <a:solidFill>
                  <a:srgbClr val="087F77"/>
                </a:solidFill>
                <a:latin typeface="Arial"/>
                <a:ea typeface="Arial"/>
                <a:cs typeface="Arial"/>
              </a:rPr>
              <a:t>Соңғы 20 талдауға қайта оралу</a:t>
            </a:r>
          </a:p>
        </p:txBody>
      </p:sp>
      <p:sp>
        <p:nvSpPr>
          <p:cNvPr id="6" name="">
            <a:extLst xmlns:a="http://schemas.openxmlformats.org/drawingml/2006/main">
              <a:ext uri="{FF2B5EF4-FFF2-40B4-BE49-F238E27FC236}">
                <a16:creationId xmlns:a16="http://schemas.microsoft.com/office/drawing/2014/main" id="{6015357C-F098-493E-AD14-1575D4E9CAFF}"/>
              </a:ext>
            </a:extLst>
          </p:cNvPr>
          <p:cNvSpPr>
            <a:spLocks xmlns:a="http://schemas.openxmlformats.org/drawingml/2006/main" noGrp="1"/>
          </p:cNvSpPr>
          <p:nvPr/>
        </p:nvSpPr>
        <p:spPr>
          <a:xfrm xmlns:a="http://schemas.openxmlformats.org/drawingml/2006/main">
            <a:off x="7600950" y="6162675"/>
            <a:ext cx="32670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1">
                <a:solidFill>
                  <a:srgbClr val="087F77"/>
                </a:solidFill>
                <a:latin typeface="Arial"/>
                <a:ea typeface="Arial"/>
                <a:cs typeface="Arial"/>
              </a:defRPr>
            </a:defPPr>
          </a:lstStyle>
          <a:p xmlns:a="http://schemas.openxmlformats.org/drawingml/2006/main">
            <a:pPr>
              <a:buNone/>
              <a:defRPr sz="1725" b="1">
                <a:solidFill>
                  <a:srgbClr val="087F77"/>
                </a:solidFill>
                <a:latin typeface="Arial"/>
                <a:ea typeface="Arial"/>
                <a:cs typeface="Arial"/>
              </a:defRPr>
            </a:pPr>
            <a:r>
              <a:rPr sz="1725" b="1">
                <a:solidFill>
                  <a:srgbClr val="087F77"/>
                </a:solidFill>
                <a:latin typeface="Arial"/>
                <a:ea typeface="Arial"/>
                <a:cs typeface="Arial"/>
              </a:rPr>
              <a:t>PDF / мәтін есебі</a:t>
            </a:r>
          </a:p>
        </p:txBody>
      </p:sp>
    </p:spTree>
    <p:extLst>
      <p:ext uri="{BB962C8B-B14F-4D97-AF65-F5344CB8AC3E}">
        <p14:creationId xmlns:p14="http://schemas.microsoft.com/office/powerpoint/2010/main" val="99876860"/>
      </p:ext>
    </p:extLst>
  </p:cSld>
</p:sld>
</file>

<file path=ppt/slides/slide10.xml><?xml version="1.0" encoding="utf-8"?>
<p:sld xmlns:p="http://schemas.openxmlformats.org/presentationml/2006/main">
  <p:cSld>
    <p:bg>
      <p:bgPr>
        <a:solidFill xmlns:a="http://schemas.openxmlformats.org/drawingml/2006/main">
          <a:srgbClr val="193E3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64C3BAE-4F07-453C-9DC3-30B491852765}"/>
              </a:ext>
            </a:extLst>
          </p:cNvPr>
          <p:cNvSpPr>
            <a:spLocks xmlns:a="http://schemas.openxmlformats.org/drawingml/2006/main" noGrp="1"/>
          </p:cNvSpPr>
          <p:nvPr/>
        </p:nvSpPr>
        <p:spPr>
          <a:xfrm xmlns:a="http://schemas.openxmlformats.org/drawingml/2006/main">
            <a:off x="609600" y="4953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1">
                <a:solidFill>
                  <a:srgbClr val="FFFFFF"/>
                </a:solidFill>
                <a:latin typeface="Arial"/>
                <a:ea typeface="Arial"/>
                <a:cs typeface="Arial"/>
              </a:defRPr>
            </a:defPPr>
          </a:lstStyle>
          <a:p xmlns:a="http://schemas.openxmlformats.org/drawingml/2006/main">
            <a:pPr>
              <a:buNone/>
              <a:defRPr sz="3225" b="1">
                <a:solidFill>
                  <a:srgbClr val="FFFFFF"/>
                </a:solidFill>
                <a:latin typeface="Arial"/>
                <a:ea typeface="Arial"/>
                <a:cs typeface="Arial"/>
              </a:defRPr>
            </a:pPr>
            <a:r>
              <a:rPr sz="3225" b="1">
                <a:solidFill>
                  <a:srgbClr val="FFFFFF"/>
                </a:solidFill>
                <a:latin typeface="Arial"/>
                <a:ea typeface="Arial"/>
                <a:cs typeface="Arial"/>
              </a:rPr>
              <a:t>Жаңа функциялар және шектеулер</a:t>
            </a:r>
          </a:p>
        </p:txBody>
      </p:sp>
      <p:sp>
        <p:nvSpPr>
          <p:cNvPr id="2" name="">
            <a:extLst xmlns:a="http://schemas.openxmlformats.org/drawingml/2006/main">
              <a:ext uri="{FF2B5EF4-FFF2-40B4-BE49-F238E27FC236}">
                <a16:creationId xmlns:a16="http://schemas.microsoft.com/office/drawing/2014/main" id="{A0E8EB6C-0C1F-43FC-B77D-01BC79C81FAF}"/>
              </a:ext>
            </a:extLst>
          </p:cNvPr>
          <p:cNvSpPr>
            <a:spLocks xmlns:a="http://schemas.openxmlformats.org/drawingml/2006/main" noGrp="1"/>
          </p:cNvSpPr>
          <p:nvPr/>
        </p:nvSpPr>
        <p:spPr>
          <a:xfrm xmlns:a="http://schemas.openxmlformats.org/drawingml/2006/main">
            <a:off x="11077575" y="6315075"/>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B8E5D8"/>
                </a:solidFill>
                <a:latin typeface="Arial"/>
                <a:ea typeface="Arial"/>
                <a:cs typeface="Arial"/>
              </a:defRPr>
            </a:defPPr>
          </a:lstStyle>
          <a:p xmlns:a="http://schemas.openxmlformats.org/drawingml/2006/main">
            <a:pPr>
              <a:buNone/>
              <a:defRPr sz="1275" b="0">
                <a:solidFill>
                  <a:srgbClr val="B8E5D8"/>
                </a:solidFill>
                <a:latin typeface="Arial"/>
                <a:ea typeface="Arial"/>
                <a:cs typeface="Arial"/>
              </a:defRPr>
            </a:pPr>
            <a:r>
              <a:rPr sz="1275" b="0">
                <a:solidFill>
                  <a:srgbClr val="B8E5D8"/>
                </a:solidFill>
                <a:latin typeface="Arial"/>
                <a:ea typeface="Arial"/>
                <a:cs typeface="Arial"/>
              </a:rPr>
              <a:t>10</a:t>
            </a:r>
          </a:p>
        </p:txBody>
      </p:sp>
      <p:sp>
        <p:nvSpPr>
          <p:cNvPr id="3" name="">
            <a:extLst xmlns:a="http://schemas.openxmlformats.org/drawingml/2006/main">
              <a:ext uri="{FF2B5EF4-FFF2-40B4-BE49-F238E27FC236}">
                <a16:creationId xmlns:a16="http://schemas.microsoft.com/office/drawing/2014/main" id="{7EE06768-3186-40F3-BD95-227F0096DC03}"/>
              </a:ext>
            </a:extLst>
          </p:cNvPr>
          <p:cNvSpPr>
            <a:spLocks xmlns:a="http://schemas.openxmlformats.org/drawingml/2006/main" noGrp="1"/>
          </p:cNvSpPr>
          <p:nvPr/>
        </p:nvSpPr>
        <p:spPr>
          <a:xfrm xmlns:a="http://schemas.openxmlformats.org/drawingml/2006/main">
            <a:off x="609600" y="1790700"/>
            <a:ext cx="5143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1">
                <a:solidFill>
                  <a:srgbClr val="B8E5D8"/>
                </a:solidFill>
                <a:latin typeface="Arial"/>
                <a:ea typeface="Arial"/>
                <a:cs typeface="Arial"/>
              </a:defRPr>
            </a:defPPr>
          </a:lstStyle>
          <a:p xmlns:a="http://schemas.openxmlformats.org/drawingml/2006/main">
            <a:pPr>
              <a:buNone/>
              <a:defRPr sz="2325" b="1">
                <a:solidFill>
                  <a:srgbClr val="B8E5D8"/>
                </a:solidFill>
                <a:latin typeface="Arial"/>
                <a:ea typeface="Arial"/>
                <a:cs typeface="Arial"/>
              </a:defRPr>
            </a:pPr>
            <a:r>
              <a:rPr sz="2325" b="1">
                <a:solidFill>
                  <a:srgbClr val="B8E5D8"/>
                </a:solidFill>
                <a:latin typeface="Arial"/>
                <a:ea typeface="Arial"/>
                <a:cs typeface="Arial"/>
              </a:rPr>
              <a:t>Орындалды</a:t>
            </a:r>
          </a:p>
        </p:txBody>
      </p:sp>
      <p:sp>
        <p:nvSpPr>
          <p:cNvPr id="4" name="">
            <a:extLst xmlns:a="http://schemas.openxmlformats.org/drawingml/2006/main">
              <a:ext uri="{FF2B5EF4-FFF2-40B4-BE49-F238E27FC236}">
                <a16:creationId xmlns:a16="http://schemas.microsoft.com/office/drawing/2014/main" id="{F6AF01EE-554D-450A-B8CE-27277DB316CF}"/>
              </a:ext>
            </a:extLst>
          </p:cNvPr>
          <p:cNvSpPr>
            <a:spLocks xmlns:a="http://schemas.openxmlformats.org/drawingml/2006/main" noGrp="1"/>
          </p:cNvSpPr>
          <p:nvPr/>
        </p:nvSpPr>
        <p:spPr>
          <a:xfrm xmlns:a="http://schemas.openxmlformats.org/drawingml/2006/main">
            <a:off x="619125" y="2524125"/>
            <a:ext cx="5334000" cy="2105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250" b="0">
                <a:solidFill>
                  <a:srgbClr val="FFFFFF"/>
                </a:solidFill>
                <a:latin typeface="Arial"/>
                <a:ea typeface="Arial"/>
                <a:cs typeface="Arial"/>
              </a:defRPr>
            </a:defPPr>
          </a:lstStyle>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CR / DX DICOM қолдауы</a:t>
            </a:r>
          </a:p>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34 тест және CI</a:t>
            </a:r>
          </a:p>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Docker конфигурациясы</a:t>
            </a:r>
          </a:p>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Сыртқы бағалау</a:t>
            </a:r>
          </a:p>
        </p:txBody>
      </p:sp>
      <p:sp>
        <p:nvSpPr>
          <p:cNvPr id="5" name="">
            <a:extLst xmlns:a="http://schemas.openxmlformats.org/drawingml/2006/main">
              <a:ext uri="{FF2B5EF4-FFF2-40B4-BE49-F238E27FC236}">
                <a16:creationId xmlns:a16="http://schemas.microsoft.com/office/drawing/2014/main" id="{DF4D3831-1780-4EE7-9548-E2BD4E735B95}"/>
              </a:ext>
            </a:extLst>
          </p:cNvPr>
          <p:cNvSpPr>
            <a:spLocks xmlns:a="http://schemas.openxmlformats.org/drawingml/2006/main" noGrp="1"/>
          </p:cNvSpPr>
          <p:nvPr/>
        </p:nvSpPr>
        <p:spPr>
          <a:xfrm xmlns:a="http://schemas.openxmlformats.org/drawingml/2006/main">
            <a:off x="6753225" y="1790700"/>
            <a:ext cx="4810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1">
                <a:solidFill>
                  <a:srgbClr val="B8E5D8"/>
                </a:solidFill>
                <a:latin typeface="Arial"/>
                <a:ea typeface="Arial"/>
                <a:cs typeface="Arial"/>
              </a:defRPr>
            </a:defPPr>
          </a:lstStyle>
          <a:p xmlns:a="http://schemas.openxmlformats.org/drawingml/2006/main">
            <a:pPr>
              <a:buNone/>
              <a:defRPr sz="2325" b="1">
                <a:solidFill>
                  <a:srgbClr val="B8E5D8"/>
                </a:solidFill>
                <a:latin typeface="Arial"/>
                <a:ea typeface="Arial"/>
                <a:cs typeface="Arial"/>
              </a:defRPr>
            </a:pPr>
            <a:r>
              <a:rPr sz="2325" b="1">
                <a:solidFill>
                  <a:srgbClr val="B8E5D8"/>
                </a:solidFill>
                <a:latin typeface="Arial"/>
                <a:ea typeface="Arial"/>
                <a:cs typeface="Arial"/>
              </a:rPr>
              <a:t>Келесі кезең</a:t>
            </a:r>
          </a:p>
        </p:txBody>
      </p:sp>
      <p:sp>
        <p:nvSpPr>
          <p:cNvPr id="6" name="">
            <a:extLst xmlns:a="http://schemas.openxmlformats.org/drawingml/2006/main">
              <a:ext uri="{FF2B5EF4-FFF2-40B4-BE49-F238E27FC236}">
                <a16:creationId xmlns:a16="http://schemas.microsoft.com/office/drawing/2014/main" id="{9F5A7402-DECA-4F7F-A51D-126FB5E6880E}"/>
              </a:ext>
            </a:extLst>
          </p:cNvPr>
          <p:cNvSpPr>
            <a:spLocks xmlns:a="http://schemas.openxmlformats.org/drawingml/2006/main" noGrp="1"/>
          </p:cNvSpPr>
          <p:nvPr/>
        </p:nvSpPr>
        <p:spPr>
          <a:xfrm xmlns:a="http://schemas.openxmlformats.org/drawingml/2006/main">
            <a:off x="6762750" y="2524125"/>
            <a:ext cx="4762500" cy="2105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0">
                <a:solidFill>
                  <a:srgbClr val="FFFFFF"/>
                </a:solidFill>
                <a:latin typeface="Arial"/>
                <a:ea typeface="Arial"/>
                <a:cs typeface="Arial"/>
              </a:defRPr>
            </a:defPPr>
          </a:lstStyle>
          <a:p xmlns:a="http://schemas.openxmlformats.org/drawingml/2006/main">
            <a:pPr>
              <a:buNone/>
              <a:defRPr sz="2175" b="0">
                <a:solidFill>
                  <a:srgbClr val="FFFFFF"/>
                </a:solidFill>
                <a:latin typeface="Arial"/>
                <a:ea typeface="Arial"/>
                <a:cs typeface="Arial"/>
              </a:defRPr>
            </a:pPr>
            <a:r>
              <a:rPr sz="2175" b="0">
                <a:solidFill>
                  <a:srgbClr val="FFFFFF"/>
                </a:solidFill>
                <a:latin typeface="Arial"/>
                <a:ea typeface="Arial"/>
                <a:cs typeface="Arial"/>
              </a:rPr>
              <a:t>Validation толық жүктеу</a:t>
            </a:r>
          </a:p>
          <a:p xmlns:a="http://schemas.openxmlformats.org/drawingml/2006/main">
            <a:pPr>
              <a:buNone/>
              <a:defRPr sz="2175" b="0">
                <a:solidFill>
                  <a:srgbClr val="FFFFFF"/>
                </a:solidFill>
                <a:latin typeface="Arial"/>
                <a:ea typeface="Arial"/>
                <a:cs typeface="Arial"/>
              </a:defRPr>
            </a:pPr>
            <a:r>
              <a:rPr sz="2175" b="0">
                <a:solidFill>
                  <a:srgbClr val="FFFFFF"/>
                </a:solidFill>
                <a:latin typeface="Arial"/>
                <a:ea typeface="Arial"/>
                <a:cs typeface="Arial"/>
              </a:rPr>
              <a:t>Калибрлеу және OOD есептеу</a:t>
            </a:r>
          </a:p>
          <a:p xmlns:a="http://schemas.openxmlformats.org/drawingml/2006/main">
            <a:pPr>
              <a:buNone/>
              <a:defRPr sz="2175" b="0">
                <a:solidFill>
                  <a:srgbClr val="FFFFFF"/>
                </a:solidFill>
                <a:latin typeface="Arial"/>
                <a:ea typeface="Arial"/>
                <a:cs typeface="Arial"/>
              </a:defRPr>
            </a:pPr>
            <a:r>
              <a:rPr sz="2175" b="0">
                <a:solidFill>
                  <a:srgbClr val="FFFFFF"/>
                </a:solidFill>
                <a:latin typeface="Arial"/>
                <a:ea typeface="Arial"/>
                <a:cs typeface="Arial"/>
              </a:rPr>
              <a:t>Multi-label тәжірибесі</a:t>
            </a:r>
          </a:p>
          <a:p xmlns:a="http://schemas.openxmlformats.org/drawingml/2006/main">
            <a:pPr>
              <a:buNone/>
              <a:defRPr sz="2175" b="0">
                <a:solidFill>
                  <a:srgbClr val="FFFFFF"/>
                </a:solidFill>
                <a:latin typeface="Arial"/>
                <a:ea typeface="Arial"/>
                <a:cs typeface="Arial"/>
              </a:defRPr>
            </a:pPr>
            <a:r>
              <a:rPr sz="2175" b="0">
                <a:solidFill>
                  <a:srgbClr val="FFFFFF"/>
                </a:solidFill>
                <a:latin typeface="Arial"/>
                <a:ea typeface="Arial"/>
                <a:cs typeface="Arial"/>
              </a:rPr>
              <a:t>Клиникалық сыртқы тексеру</a:t>
            </a:r>
          </a:p>
        </p:txBody>
      </p:sp>
      <p:sp>
        <p:nvSpPr>
          <p:cNvPr id="7" name="">
            <a:extLst xmlns:a="http://schemas.openxmlformats.org/drawingml/2006/main">
              <a:ext uri="{FF2B5EF4-FFF2-40B4-BE49-F238E27FC236}">
                <a16:creationId xmlns:a16="http://schemas.microsoft.com/office/drawing/2014/main" id="{9B67C0C3-16A2-4893-AC02-725F7A7CA230}"/>
              </a:ext>
            </a:extLst>
          </p:cNvPr>
          <p:cNvSpPr>
            <a:spLocks xmlns:a="http://schemas.openxmlformats.org/drawingml/2006/main" noGrp="1"/>
          </p:cNvSpPr>
          <p:nvPr/>
        </p:nvSpPr>
        <p:spPr>
          <a:xfrm xmlns:a="http://schemas.openxmlformats.org/drawingml/2006/main">
            <a:off x="609600" y="5381625"/>
            <a:ext cx="108585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1">
                <a:solidFill>
                  <a:srgbClr val="B8E5D8"/>
                </a:solidFill>
                <a:latin typeface="Arial"/>
                <a:ea typeface="Arial"/>
                <a:cs typeface="Arial"/>
              </a:defRPr>
            </a:defPPr>
          </a:lstStyle>
          <a:p xmlns:a="http://schemas.openxmlformats.org/drawingml/2006/main">
            <a:pPr>
              <a:buNone/>
              <a:defRPr sz="2175" b="1">
                <a:solidFill>
                  <a:srgbClr val="B8E5D8"/>
                </a:solidFill>
                <a:latin typeface="Arial"/>
                <a:ea typeface="Arial"/>
                <a:cs typeface="Arial"/>
              </a:defRPr>
            </a:pPr>
            <a:r>
              <a:rPr sz="2175" b="1">
                <a:solidFill>
                  <a:srgbClr val="B8E5D8"/>
                </a:solidFill>
                <a:latin typeface="Arial"/>
                <a:ea typeface="Arial"/>
                <a:cs typeface="Arial"/>
              </a:rPr>
              <a:t>Оқу прототипі. Клиникалық қолдануға бөлек тексеру қажет.</a:t>
            </a:r>
          </a:p>
        </p:txBody>
      </p:sp>
      <p:sp>
        <p:nvSpPr>
          <p:cNvPr id="8" name="">
            <a:extLst xmlns:a="http://schemas.openxmlformats.org/drawingml/2006/main">
              <a:ext uri="{FF2B5EF4-FFF2-40B4-BE49-F238E27FC236}">
                <a16:creationId xmlns:a16="http://schemas.microsoft.com/office/drawing/2014/main" id="{FE7F7376-4450-4EEA-B816-6DF74804ABE4}"/>
              </a:ext>
            </a:extLst>
          </p:cNvPr>
          <p:cNvSpPr>
            <a:spLocks xmlns:a="http://schemas.openxmlformats.org/drawingml/2006/main" noGrp="1"/>
          </p:cNvSpPr>
          <p:nvPr/>
        </p:nvSpPr>
        <p:spPr>
          <a:xfrm xmlns:a="http://schemas.openxmlformats.org/drawingml/2006/main">
            <a:off x="619125" y="6115050"/>
            <a:ext cx="1028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FFFFFF"/>
                </a:solidFill>
                <a:latin typeface="Arial"/>
                <a:ea typeface="Arial"/>
                <a:cs typeface="Arial"/>
              </a:defRPr>
            </a:defPPr>
          </a:lstStyle>
          <a:p xmlns:a="http://schemas.openxmlformats.org/drawingml/2006/main">
            <a:pPr>
              <a:buNone/>
              <a:defRPr sz="1650" b="0">
                <a:solidFill>
                  <a:srgbClr val="FFFFFF"/>
                </a:solidFill>
                <a:latin typeface="Arial"/>
                <a:ea typeface="Arial"/>
                <a:cs typeface="Arial"/>
              </a:defRPr>
            </a:pPr>
            <a:r>
              <a:rPr sz="1650" b="0">
                <a:solidFill>
                  <a:srgbClr val="FFFFFF"/>
                </a:solidFill>
                <a:latin typeface="Arial"/>
                <a:ea typeface="Arial"/>
                <a:cs typeface="Arial"/>
              </a:rPr>
              <a:t>NORMAL жауабы барлық ауруды жоққа шығармайды.</a:t>
            </a:r>
          </a:p>
        </p:txBody>
      </p:sp>
    </p:spTree>
    <p:extLst>
      <p:ext uri="{BB962C8B-B14F-4D97-AF65-F5344CB8AC3E}">
        <p14:creationId xmlns:p14="http://schemas.microsoft.com/office/powerpoint/2010/main" val="1517619638"/>
      </p:ext>
    </p:extLst>
  </p:cSld>
</p:sld>
</file>

<file path=ppt/slides/slide11.xml><?xml version="1.0" encoding="utf-8"?>
<p:sld xmlns:p="http://schemas.openxmlformats.org/presentationml/2006/main">
  <p:cSld>
    <p:bg>
      <p:bgPr>
        <a:solidFill xmlns:a="http://schemas.openxmlformats.org/drawingml/2006/main">
          <a:srgbClr val="F6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DA3A4C0-50AA-42F9-9BB3-2BE339538506}"/>
              </a:ext>
            </a:extLst>
          </p:cNvPr>
          <p:cNvSpPr>
            <a:spLocks xmlns:a="http://schemas.openxmlformats.org/drawingml/2006/main" noGrp="1"/>
          </p:cNvSpPr>
          <p:nvPr/>
        </p:nvSpPr>
        <p:spPr>
          <a:xfrm xmlns:a="http://schemas.openxmlformats.org/drawingml/2006/main">
            <a:off x="609600" y="4953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1">
                <a:solidFill>
                  <a:srgbClr val="193E3A"/>
                </a:solidFill>
                <a:latin typeface="Arial"/>
                <a:ea typeface="Arial"/>
                <a:cs typeface="Arial"/>
              </a:defRPr>
            </a:defPPr>
          </a:lstStyle>
          <a:p xmlns:a="http://schemas.openxmlformats.org/drawingml/2006/main">
            <a:pPr>
              <a:defRPr sz="3225" b="1">
                <a:solidFill>
                  <a:srgbClr val="193E3A"/>
                </a:solidFill>
                <a:latin typeface="Arial"/>
                <a:ea typeface="Arial"/>
                <a:cs typeface="Arial"/>
              </a:defRPr>
            </a:pPr>
            <a:r>
              <a:rPr sz="3225" b="1">
                <a:solidFill>
                  <a:srgbClr val="193E3A"/>
                </a:solidFill>
                <a:latin typeface="Arial"/>
                <a:ea typeface="Arial"/>
                <a:cs typeface="Arial"/>
              </a:rPr>
              <a:t>Сыртқы валидация: OpenI</a:t>
            </a:r>
          </a:p>
        </p:txBody>
      </p:sp>
      <p:sp>
        <p:nvSpPr>
          <p:cNvPr id="2" name="">
            <a:extLst xmlns:a="http://schemas.openxmlformats.org/drawingml/2006/main">
              <a:ext uri="{FF2B5EF4-FFF2-40B4-BE49-F238E27FC236}">
                <a16:creationId xmlns:a16="http://schemas.microsoft.com/office/drawing/2014/main" id="{B25AAFE9-A50D-4DAD-BD80-6609E16D158A}"/>
              </a:ext>
            </a:extLst>
          </p:cNvPr>
          <p:cNvSpPr>
            <a:spLocks xmlns:a="http://schemas.openxmlformats.org/drawingml/2006/main" noGrp="1"/>
          </p:cNvSpPr>
          <p:nvPr/>
        </p:nvSpPr>
        <p:spPr>
          <a:xfrm xmlns:a="http://schemas.openxmlformats.org/drawingml/2006/main">
            <a:off x="11077575" y="6315075"/>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617C77"/>
                </a:solidFill>
                <a:latin typeface="Arial"/>
                <a:ea typeface="Arial"/>
                <a:cs typeface="Arial"/>
              </a:defRPr>
            </a:defPPr>
          </a:lstStyle>
          <a:p xmlns:a="http://schemas.openxmlformats.org/drawingml/2006/main">
            <a:pPr>
              <a:defRPr sz="1275" b="0">
                <a:solidFill>
                  <a:srgbClr val="617C77"/>
                </a:solidFill>
                <a:latin typeface="Arial"/>
                <a:ea typeface="Arial"/>
                <a:cs typeface="Arial"/>
              </a:defRPr>
            </a:pPr>
            <a:r>
              <a:rPr sz="1275" b="0">
                <a:solidFill>
                  <a:srgbClr val="617C77"/>
                </a:solidFill>
                <a:latin typeface="Arial"/>
                <a:ea typeface="Arial"/>
                <a:cs typeface="Arial"/>
              </a:rPr>
              <a:t>11</a:t>
            </a:r>
          </a:p>
        </p:txBody>
      </p:sp>
      <p:graphicFrame>
        <p:nvGraphicFramePr>
          <p:cNvPr id="3" name="">
            <a:extLst xmlns:a="http://schemas.openxmlformats.org/drawingml/2006/main">
              <a:ext uri="{FF2B5EF4-FFF2-40B4-BE49-F238E27FC236}">
                <a16:creationId xmlns:a16="http://schemas.microsoft.com/office/drawing/2014/main" id="{9C5DF348-31E2-4F1C-A003-2791CA6557F1}"/>
              </a:ext>
            </a:extLst>
          </p:cNvPr>
          <p:cNvGraphicFramePr/>
          <p:nvPr/>
        </p:nvGraphicFramePr>
        <p:xfrm>
          <a:off xmlns:a="http://schemas.openxmlformats.org/drawingml/2006/main" x="609600" y="1714500"/>
          <a:ext xmlns:a="http://schemas.openxmlformats.org/drawingml/2006/main" cx="10972800" cy="3105150"/>
        </p:xfrm>
        <a:graphic xmlns:a="http://schemas.openxmlformats.org/drawingml/2006/main">
          <a:graphicData uri="http://schemas.openxmlformats.org/drawingml/2006/table">
            <a:tbl>
              <a:tblPr/>
              <a:tblGrid>
                <a:gridCol w="4305300"/>
                <a:gridCol w="3333750"/>
                <a:gridCol w="3333750"/>
              </a:tblGrid>
              <a:tr h="517525">
                <a:tc>
                  <a:txBody>
                    <a:bodyPr/>
                    <a:lstStyle/>
                    <a:p>
                      <a:r>
                        <a:rPr sz="1800" b="1">
                          <a:solidFill>
                            <a:srgbClr val="FFFFFF"/>
                          </a:solidFill>
                          <a:latin typeface="Arial"/>
                          <a:ea typeface="Arial"/>
                          <a:cs typeface="Arial"/>
                        </a:rPr>
                        <a:t>Көрсеткіш</a:t>
                      </a:r>
                    </a:p>
                  </a:txBody>
                  <a:tcPr marL="91440" marR="91440" marT="45720" marB="45720">
                    <a:lnL w="9525">
                      <a:solidFill>
                        <a:srgbClr val="CBDDD6"/>
                      </a:solidFill>
                      <a:prstDash val="solid"/>
                    </a:lnL>
                    <a:lnR w="9525">
                      <a:solidFill>
                        <a:srgbClr val="CBDDD6"/>
                      </a:solidFill>
                      <a:prstDash val="solid"/>
                    </a:lnR>
                    <a:lnT w="9525">
                      <a:solidFill>
                        <a:srgbClr val="CBDDD6"/>
                      </a:solidFill>
                      <a:prstDash val="solid"/>
                    </a:lnT>
                    <a:lnB w="9525">
                      <a:solidFill>
                        <a:srgbClr val="CBDDD6"/>
                      </a:solidFill>
                      <a:prstDash val="solid"/>
                    </a:lnB>
                    <a:solidFill>
                      <a:srgbClr val="193E3A"/>
                    </a:solidFill>
                  </a:tcPr>
                </a:tc>
                <a:tc>
                  <a:txBody>
                    <a:bodyPr/>
                    <a:lstStyle/>
                    <a:p>
                      <a:r>
                        <a:rPr sz="1800" b="1">
                          <a:solidFill>
                            <a:srgbClr val="FFFFFF"/>
                          </a:solidFill>
                          <a:latin typeface="Arial"/>
                          <a:ea typeface="Arial"/>
                          <a:cs typeface="Arial"/>
                        </a:rPr>
                        <a:t>Ішкі test, 618</a:t>
                      </a:r>
                    </a:p>
                  </a:txBody>
                  <a:tcPr marL="91440" marR="91440" marT="45720" marB="45720">
                    <a:lnR w="9525">
                      <a:solidFill>
                        <a:srgbClr val="CBDDD6"/>
                      </a:solidFill>
                      <a:prstDash val="solid"/>
                    </a:lnR>
                    <a:lnT w="9525">
                      <a:solidFill>
                        <a:srgbClr val="CBDDD6"/>
                      </a:solidFill>
                      <a:prstDash val="solid"/>
                    </a:lnT>
                    <a:lnB w="9525">
                      <a:solidFill>
                        <a:srgbClr val="CBDDD6"/>
                      </a:solidFill>
                      <a:prstDash val="solid"/>
                    </a:lnB>
                    <a:solidFill>
                      <a:srgbClr val="193E3A"/>
                    </a:solidFill>
                  </a:tcPr>
                </a:tc>
                <a:tc>
                  <a:txBody>
                    <a:bodyPr/>
                    <a:lstStyle/>
                    <a:p>
                      <a:r>
                        <a:rPr sz="1800" b="1">
                          <a:solidFill>
                            <a:srgbClr val="FFFFFF"/>
                          </a:solidFill>
                          <a:latin typeface="Arial"/>
                          <a:ea typeface="Arial"/>
                          <a:cs typeface="Arial"/>
                        </a:rPr>
                        <a:t>OpenI, 200</a:t>
                      </a:r>
                    </a:p>
                  </a:txBody>
                  <a:tcPr marL="91440" marR="91440" marT="45720" marB="45720">
                    <a:lnR w="9525">
                      <a:solidFill>
                        <a:srgbClr val="CBDDD6"/>
                      </a:solidFill>
                      <a:prstDash val="solid"/>
                    </a:lnR>
                    <a:lnT w="9525">
                      <a:solidFill>
                        <a:srgbClr val="CBDDD6"/>
                      </a:solidFill>
                      <a:prstDash val="solid"/>
                    </a:lnT>
                    <a:lnB w="9525">
                      <a:solidFill>
                        <a:srgbClr val="CBDDD6"/>
                      </a:solidFill>
                      <a:prstDash val="solid"/>
                    </a:lnB>
                    <a:solidFill>
                      <a:srgbClr val="193E3A"/>
                    </a:solidFill>
                  </a:tcPr>
                </a:tc>
              </a:tr>
              <a:tr h="517525">
                <a:tc>
                  <a:txBody>
                    <a:bodyPr/>
                    <a:lstStyle/>
                    <a:p>
                      <a:r>
                        <a:rPr sz="1800" b="0">
                          <a:solidFill>
                            <a:srgbClr val="193E3A"/>
                          </a:solidFill>
                          <a:latin typeface="Arial"/>
                          <a:ea typeface="Arial"/>
                          <a:cs typeface="Arial"/>
                        </a:rPr>
                        <a:t>Accuracy</a:t>
                      </a:r>
                    </a:p>
                  </a:txBody>
                  <a:tcPr marL="91440" marR="91440" marT="45720" marB="45720">
                    <a:lnL w="9525">
                      <a:solidFill>
                        <a:srgbClr val="CBDDD6"/>
                      </a:solidFill>
                      <a:prstDash val="solid"/>
                    </a:lnL>
                    <a:lnR w="9525">
                      <a:solidFill>
                        <a:srgbClr val="CBDDD6"/>
                      </a:solidFill>
                      <a:prstDash val="solid"/>
                    </a:lnR>
                    <a:lnB w="9525">
                      <a:solidFill>
                        <a:srgbClr val="CBDDD6"/>
                      </a:solidFill>
                      <a:prstDash val="solid"/>
                    </a:lnB>
                    <a:solidFill>
                      <a:srgbClr val="FFFFFF"/>
                    </a:solidFill>
                  </a:tcPr>
                </a:tc>
                <a:tc>
                  <a:txBody>
                    <a:bodyPr/>
                    <a:lstStyle/>
                    <a:p>
                      <a:r>
                        <a:rPr sz="1800" b="0">
                          <a:solidFill>
                            <a:srgbClr val="193E3A"/>
                          </a:solidFill>
                          <a:latin typeface="Arial"/>
                          <a:ea typeface="Arial"/>
                          <a:cs typeface="Arial"/>
                        </a:rPr>
                        <a:t>89,16%</a:t>
                      </a:r>
                    </a:p>
                  </a:txBody>
                  <a:tcPr marL="91440" marR="91440" marT="45720" marB="45720">
                    <a:lnR w="9525">
                      <a:solidFill>
                        <a:srgbClr val="CBDDD6"/>
                      </a:solidFill>
                      <a:prstDash val="solid"/>
                    </a:lnR>
                    <a:lnB w="9525">
                      <a:solidFill>
                        <a:srgbClr val="CBDDD6"/>
                      </a:solidFill>
                      <a:prstDash val="solid"/>
                    </a:lnB>
                    <a:solidFill>
                      <a:srgbClr val="FFFFFF"/>
                    </a:solidFill>
                  </a:tcPr>
                </a:tc>
                <a:tc>
                  <a:txBody>
                    <a:bodyPr/>
                    <a:lstStyle/>
                    <a:p>
                      <a:r>
                        <a:rPr sz="1800" b="0">
                          <a:solidFill>
                            <a:srgbClr val="193E3A"/>
                          </a:solidFill>
                          <a:latin typeface="Arial"/>
                          <a:ea typeface="Arial"/>
                          <a:cs typeface="Arial"/>
                        </a:rPr>
                        <a:t>55,00%</a:t>
                      </a:r>
                    </a:p>
                  </a:txBody>
                  <a:tcPr marL="91440" marR="91440" marT="45720" marB="45720">
                    <a:lnR w="9525">
                      <a:solidFill>
                        <a:srgbClr val="CBDDD6"/>
                      </a:solidFill>
                      <a:prstDash val="solid"/>
                    </a:lnR>
                    <a:lnB w="9525">
                      <a:solidFill>
                        <a:srgbClr val="CBDDD6"/>
                      </a:solidFill>
                      <a:prstDash val="solid"/>
                    </a:lnB>
                    <a:solidFill>
                      <a:srgbClr val="FFFFFF"/>
                    </a:solidFill>
                  </a:tcPr>
                </a:tc>
              </a:tr>
              <a:tr h="517525">
                <a:tc>
                  <a:txBody>
                    <a:bodyPr/>
                    <a:lstStyle/>
                    <a:p>
                      <a:r>
                        <a:rPr sz="1800" b="0">
                          <a:solidFill>
                            <a:srgbClr val="193E3A"/>
                          </a:solidFill>
                          <a:latin typeface="Arial"/>
                          <a:ea typeface="Arial"/>
                          <a:cs typeface="Arial"/>
                        </a:rPr>
                        <a:t>Precision</a:t>
                      </a:r>
                    </a:p>
                  </a:txBody>
                  <a:tcPr marL="91440" marR="91440" marT="45720" marB="45720">
                    <a:lnL w="9525">
                      <a:solidFill>
                        <a:srgbClr val="CBDDD6"/>
                      </a:solidFill>
                      <a:prstDash val="solid"/>
                    </a:lnL>
                    <a:lnR w="9525">
                      <a:solidFill>
                        <a:srgbClr val="CBDDD6"/>
                      </a:solidFill>
                      <a:prstDash val="solid"/>
                    </a:lnR>
                    <a:lnB w="9525">
                      <a:solidFill>
                        <a:srgbClr val="CBDDD6"/>
                      </a:solidFill>
                      <a:prstDash val="solid"/>
                    </a:lnB>
                    <a:solidFill>
                      <a:srgbClr val="E9F3EE"/>
                    </a:solidFill>
                  </a:tcPr>
                </a:tc>
                <a:tc>
                  <a:txBody>
                    <a:bodyPr/>
                    <a:lstStyle/>
                    <a:p>
                      <a:r>
                        <a:rPr sz="1800" b="0">
                          <a:solidFill>
                            <a:srgbClr val="193E3A"/>
                          </a:solidFill>
                          <a:latin typeface="Arial"/>
                          <a:ea typeface="Arial"/>
                          <a:cs typeface="Arial"/>
                        </a:rPr>
                        <a:t>87,74%</a:t>
                      </a:r>
                    </a:p>
                  </a:txBody>
                  <a:tcPr marL="91440" marR="91440" marT="45720" marB="45720">
                    <a:lnR w="9525">
                      <a:solidFill>
                        <a:srgbClr val="CBDDD6"/>
                      </a:solidFill>
                      <a:prstDash val="solid"/>
                    </a:lnR>
                    <a:lnB w="9525">
                      <a:solidFill>
                        <a:srgbClr val="CBDDD6"/>
                      </a:solidFill>
                      <a:prstDash val="solid"/>
                    </a:lnB>
                    <a:solidFill>
                      <a:srgbClr val="E9F3EE"/>
                    </a:solidFill>
                  </a:tcPr>
                </a:tc>
                <a:tc>
                  <a:txBody>
                    <a:bodyPr/>
                    <a:lstStyle/>
                    <a:p>
                      <a:r>
                        <a:rPr sz="1800" b="0">
                          <a:solidFill>
                            <a:srgbClr val="193E3A"/>
                          </a:solidFill>
                          <a:latin typeface="Arial"/>
                          <a:ea typeface="Arial"/>
                          <a:cs typeface="Arial"/>
                        </a:rPr>
                        <a:t>23,96%</a:t>
                      </a:r>
                    </a:p>
                  </a:txBody>
                  <a:tcPr marL="91440" marR="91440" marT="45720" marB="45720">
                    <a:lnR w="9525">
                      <a:solidFill>
                        <a:srgbClr val="CBDDD6"/>
                      </a:solidFill>
                      <a:prstDash val="solid"/>
                    </a:lnR>
                    <a:lnB w="9525">
                      <a:solidFill>
                        <a:srgbClr val="CBDDD6"/>
                      </a:solidFill>
                      <a:prstDash val="solid"/>
                    </a:lnB>
                    <a:solidFill>
                      <a:srgbClr val="E9F3EE"/>
                    </a:solidFill>
                  </a:tcPr>
                </a:tc>
              </a:tr>
              <a:tr h="517525">
                <a:tc>
                  <a:txBody>
                    <a:bodyPr/>
                    <a:lstStyle/>
                    <a:p>
                      <a:r>
                        <a:rPr sz="1800" b="0">
                          <a:solidFill>
                            <a:srgbClr val="193E3A"/>
                          </a:solidFill>
                          <a:latin typeface="Arial"/>
                          <a:ea typeface="Arial"/>
                          <a:cs typeface="Arial"/>
                        </a:rPr>
                        <a:t>Recall</a:t>
                      </a:r>
                    </a:p>
                  </a:txBody>
                  <a:tcPr marL="91440" marR="91440" marT="45720" marB="45720">
                    <a:lnL w="9525">
                      <a:solidFill>
                        <a:srgbClr val="CBDDD6"/>
                      </a:solidFill>
                      <a:prstDash val="solid"/>
                    </a:lnL>
                    <a:lnR w="9525">
                      <a:solidFill>
                        <a:srgbClr val="CBDDD6"/>
                      </a:solidFill>
                      <a:prstDash val="solid"/>
                    </a:lnR>
                    <a:lnB w="9525">
                      <a:solidFill>
                        <a:srgbClr val="CBDDD6"/>
                      </a:solidFill>
                      <a:prstDash val="solid"/>
                    </a:lnB>
                    <a:solidFill>
                      <a:srgbClr val="FFFFFF"/>
                    </a:solidFill>
                  </a:tcPr>
                </a:tc>
                <a:tc>
                  <a:txBody>
                    <a:bodyPr/>
                    <a:lstStyle/>
                    <a:p>
                      <a:r>
                        <a:rPr sz="1800" b="0">
                          <a:solidFill>
                            <a:srgbClr val="193E3A"/>
                          </a:solidFill>
                          <a:latin typeface="Arial"/>
                          <a:ea typeface="Arial"/>
                          <a:cs typeface="Arial"/>
                        </a:rPr>
                        <a:t>96,12%</a:t>
                      </a:r>
                    </a:p>
                  </a:txBody>
                  <a:tcPr marL="91440" marR="91440" marT="45720" marB="45720">
                    <a:lnR w="9525">
                      <a:solidFill>
                        <a:srgbClr val="CBDDD6"/>
                      </a:solidFill>
                      <a:prstDash val="solid"/>
                    </a:lnR>
                    <a:lnB w="9525">
                      <a:solidFill>
                        <a:srgbClr val="CBDDD6"/>
                      </a:solidFill>
                      <a:prstDash val="solid"/>
                    </a:lnB>
                    <a:solidFill>
                      <a:srgbClr val="FFFFFF"/>
                    </a:solidFill>
                  </a:tcPr>
                </a:tc>
                <a:tc>
                  <a:txBody>
                    <a:bodyPr/>
                    <a:lstStyle/>
                    <a:p>
                      <a:r>
                        <a:rPr sz="1800" b="0">
                          <a:solidFill>
                            <a:srgbClr val="193E3A"/>
                          </a:solidFill>
                          <a:latin typeface="Arial"/>
                          <a:ea typeface="Arial"/>
                          <a:cs typeface="Arial"/>
                        </a:rPr>
                        <a:t>57,50%</a:t>
                      </a:r>
                    </a:p>
                  </a:txBody>
                  <a:tcPr marL="91440" marR="91440" marT="45720" marB="45720">
                    <a:lnR w="9525">
                      <a:solidFill>
                        <a:srgbClr val="CBDDD6"/>
                      </a:solidFill>
                      <a:prstDash val="solid"/>
                    </a:lnR>
                    <a:lnB w="9525">
                      <a:solidFill>
                        <a:srgbClr val="CBDDD6"/>
                      </a:solidFill>
                      <a:prstDash val="solid"/>
                    </a:lnB>
                    <a:solidFill>
                      <a:srgbClr val="FFFFFF"/>
                    </a:solidFill>
                  </a:tcPr>
                </a:tc>
              </a:tr>
              <a:tr h="517525">
                <a:tc>
                  <a:txBody>
                    <a:bodyPr/>
                    <a:lstStyle/>
                    <a:p>
                      <a:r>
                        <a:rPr sz="1800" b="0">
                          <a:solidFill>
                            <a:srgbClr val="193E3A"/>
                          </a:solidFill>
                          <a:latin typeface="Arial"/>
                          <a:ea typeface="Arial"/>
                          <a:cs typeface="Arial"/>
                        </a:rPr>
                        <a:t>Specificity</a:t>
                      </a:r>
                    </a:p>
                  </a:txBody>
                  <a:tcPr marL="91440" marR="91440" marT="45720" marB="45720">
                    <a:lnL w="9525">
                      <a:solidFill>
                        <a:srgbClr val="CBDDD6"/>
                      </a:solidFill>
                      <a:prstDash val="solid"/>
                    </a:lnL>
                    <a:lnR w="9525">
                      <a:solidFill>
                        <a:srgbClr val="CBDDD6"/>
                      </a:solidFill>
                      <a:prstDash val="solid"/>
                    </a:lnR>
                    <a:lnB w="9525">
                      <a:solidFill>
                        <a:srgbClr val="CBDDD6"/>
                      </a:solidFill>
                      <a:prstDash val="solid"/>
                    </a:lnB>
                    <a:solidFill>
                      <a:srgbClr val="E9F3EE"/>
                    </a:solidFill>
                  </a:tcPr>
                </a:tc>
                <a:tc>
                  <a:txBody>
                    <a:bodyPr/>
                    <a:lstStyle/>
                    <a:p>
                      <a:r>
                        <a:rPr sz="1800" b="0">
                          <a:solidFill>
                            <a:srgbClr val="193E3A"/>
                          </a:solidFill>
                          <a:latin typeface="Arial"/>
                          <a:ea typeface="Arial"/>
                          <a:cs typeface="Arial"/>
                        </a:rPr>
                        <a:t>77,49%</a:t>
                      </a:r>
                    </a:p>
                  </a:txBody>
                  <a:tcPr marL="91440" marR="91440" marT="45720" marB="45720">
                    <a:lnR w="9525">
                      <a:solidFill>
                        <a:srgbClr val="CBDDD6"/>
                      </a:solidFill>
                      <a:prstDash val="solid"/>
                    </a:lnR>
                    <a:lnB w="9525">
                      <a:solidFill>
                        <a:srgbClr val="CBDDD6"/>
                      </a:solidFill>
                      <a:prstDash val="solid"/>
                    </a:lnB>
                    <a:solidFill>
                      <a:srgbClr val="E9F3EE"/>
                    </a:solidFill>
                  </a:tcPr>
                </a:tc>
                <a:tc>
                  <a:txBody>
                    <a:bodyPr/>
                    <a:lstStyle/>
                    <a:p>
                      <a:r>
                        <a:rPr sz="1800" b="0">
                          <a:solidFill>
                            <a:srgbClr val="193E3A"/>
                          </a:solidFill>
                          <a:latin typeface="Arial"/>
                          <a:ea typeface="Arial"/>
                          <a:cs typeface="Arial"/>
                        </a:rPr>
                        <a:t>54,38%</a:t>
                      </a:r>
                    </a:p>
                  </a:txBody>
                  <a:tcPr marL="91440" marR="91440" marT="45720" marB="45720">
                    <a:lnR w="9525">
                      <a:solidFill>
                        <a:srgbClr val="CBDDD6"/>
                      </a:solidFill>
                      <a:prstDash val="solid"/>
                    </a:lnR>
                    <a:lnB w="9525">
                      <a:solidFill>
                        <a:srgbClr val="CBDDD6"/>
                      </a:solidFill>
                      <a:prstDash val="solid"/>
                    </a:lnB>
                    <a:solidFill>
                      <a:srgbClr val="E9F3EE"/>
                    </a:solidFill>
                  </a:tcPr>
                </a:tc>
              </a:tr>
              <a:tr h="517525">
                <a:tc>
                  <a:txBody>
                    <a:bodyPr/>
                    <a:lstStyle/>
                    <a:p>
                      <a:r>
                        <a:rPr sz="1800" b="0">
                          <a:solidFill>
                            <a:srgbClr val="193E3A"/>
                          </a:solidFill>
                          <a:latin typeface="Arial"/>
                          <a:ea typeface="Arial"/>
                          <a:cs typeface="Arial"/>
                        </a:rPr>
                        <a:t>ROC-AUC</a:t>
                      </a:r>
                    </a:p>
                  </a:txBody>
                  <a:tcPr marL="91440" marR="91440" marT="45720" marB="45720">
                    <a:lnL w="9525">
                      <a:solidFill>
                        <a:srgbClr val="CBDDD6"/>
                      </a:solidFill>
                      <a:prstDash val="solid"/>
                    </a:lnL>
                    <a:lnR w="9525">
                      <a:solidFill>
                        <a:srgbClr val="CBDDD6"/>
                      </a:solidFill>
                      <a:prstDash val="solid"/>
                    </a:lnR>
                    <a:lnB w="9525">
                      <a:solidFill>
                        <a:srgbClr val="CBDDD6"/>
                      </a:solidFill>
                      <a:prstDash val="solid"/>
                    </a:lnB>
                    <a:solidFill>
                      <a:srgbClr val="FFFFFF"/>
                    </a:solidFill>
                  </a:tcPr>
                </a:tc>
                <a:tc>
                  <a:txBody>
                    <a:bodyPr/>
                    <a:lstStyle/>
                    <a:p>
                      <a:r>
                        <a:rPr sz="1800" b="0">
                          <a:solidFill>
                            <a:srgbClr val="193E3A"/>
                          </a:solidFill>
                          <a:latin typeface="Arial"/>
                          <a:ea typeface="Arial"/>
                          <a:cs typeface="Arial"/>
                        </a:rPr>
                        <a:t>0,9581</a:t>
                      </a:r>
                    </a:p>
                  </a:txBody>
                  <a:tcPr marL="91440" marR="91440" marT="45720" marB="45720">
                    <a:lnR w="9525">
                      <a:solidFill>
                        <a:srgbClr val="CBDDD6"/>
                      </a:solidFill>
                      <a:prstDash val="solid"/>
                    </a:lnR>
                    <a:lnB w="9525">
                      <a:solidFill>
                        <a:srgbClr val="CBDDD6"/>
                      </a:solidFill>
                      <a:prstDash val="solid"/>
                    </a:lnB>
                    <a:solidFill>
                      <a:srgbClr val="FFFFFF"/>
                    </a:solidFill>
                  </a:tcPr>
                </a:tc>
                <a:tc>
                  <a:txBody>
                    <a:bodyPr/>
                    <a:lstStyle/>
                    <a:p>
                      <a:r>
                        <a:rPr sz="1800" b="0">
                          <a:solidFill>
                            <a:srgbClr val="193E3A"/>
                          </a:solidFill>
                          <a:latin typeface="Arial"/>
                          <a:ea typeface="Arial"/>
                          <a:cs typeface="Arial"/>
                        </a:rPr>
                        <a:t>0,5442</a:t>
                      </a:r>
                    </a:p>
                  </a:txBody>
                  <a:tcPr marL="91440" marR="91440" marT="45720" marB="45720">
                    <a:lnR w="9525">
                      <a:solidFill>
                        <a:srgbClr val="CBDDD6"/>
                      </a:solidFill>
                      <a:prstDash val="solid"/>
                    </a:lnR>
                    <a:lnB w="9525">
                      <a:solidFill>
                        <a:srgbClr val="CBDDD6"/>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0F99C5F4-4F11-4C75-BB83-E31ED3E826CF}"/>
              </a:ext>
            </a:extLst>
          </p:cNvPr>
          <p:cNvSpPr>
            <a:spLocks xmlns:a="http://schemas.openxmlformats.org/drawingml/2006/main" noGrp="1"/>
          </p:cNvSpPr>
          <p:nvPr/>
        </p:nvSpPr>
        <p:spPr>
          <a:xfrm xmlns:a="http://schemas.openxmlformats.org/drawingml/2006/main">
            <a:off x="609600" y="5181600"/>
            <a:ext cx="1085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1">
                <a:solidFill>
                  <a:srgbClr val="087F77"/>
                </a:solidFill>
                <a:latin typeface="Arial"/>
                <a:ea typeface="Arial"/>
                <a:cs typeface="Arial"/>
              </a:defRPr>
            </a:defPPr>
          </a:lstStyle>
          <a:p xmlns:a="http://schemas.openxmlformats.org/drawingml/2006/main">
            <a:pPr>
              <a:defRPr sz="2325" b="1">
                <a:solidFill>
                  <a:srgbClr val="087F77"/>
                </a:solidFill>
                <a:latin typeface="Arial"/>
                <a:ea typeface="Arial"/>
                <a:cs typeface="Arial"/>
              </a:defRPr>
            </a:pPr>
            <a:r>
              <a:rPr sz="2325" b="1">
                <a:solidFill>
                  <a:srgbClr val="087F77"/>
                </a:solidFill>
                <a:latin typeface="Arial"/>
                <a:ea typeface="Arial"/>
                <a:cs typeface="Arial"/>
              </a:rPr>
              <a:t>160 NORMAL / 40 PNEUMONIA</a:t>
            </a:r>
          </a:p>
        </p:txBody>
      </p:sp>
      <p:sp>
        <p:nvSpPr>
          <p:cNvPr id="5" name="">
            <a:extLst xmlns:a="http://schemas.openxmlformats.org/drawingml/2006/main">
              <a:ext uri="{FF2B5EF4-FFF2-40B4-BE49-F238E27FC236}">
                <a16:creationId xmlns:a16="http://schemas.microsoft.com/office/drawing/2014/main" id="{C87A1316-651F-4EE5-BB8E-44EC26898D93}"/>
              </a:ext>
            </a:extLst>
          </p:cNvPr>
          <p:cNvSpPr>
            <a:spLocks xmlns:a="http://schemas.openxmlformats.org/drawingml/2006/main" noGrp="1"/>
          </p:cNvSpPr>
          <p:nvPr/>
        </p:nvSpPr>
        <p:spPr>
          <a:xfrm xmlns:a="http://schemas.openxmlformats.org/drawingml/2006/main">
            <a:off x="628650" y="577215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617C77"/>
                </a:solidFill>
                <a:latin typeface="Arial"/>
                <a:ea typeface="Arial"/>
                <a:cs typeface="Arial"/>
              </a:defRPr>
            </a:defPPr>
          </a:lstStyle>
          <a:p xmlns:a="http://schemas.openxmlformats.org/drawingml/2006/main">
            <a:pPr>
              <a:defRPr sz="1875" b="0">
                <a:solidFill>
                  <a:srgbClr val="617C77"/>
                </a:solidFill>
                <a:latin typeface="Arial"/>
                <a:ea typeface="Arial"/>
                <a:cs typeface="Arial"/>
              </a:defRPr>
            </a:pPr>
            <a:r>
              <a:rPr sz="1875" b="0">
                <a:solidFill>
                  <a:srgbClr val="617C77"/>
                </a:solidFill>
                <a:latin typeface="Arial"/>
                <a:ea typeface="Arial"/>
                <a:cs typeface="Arial"/>
              </a:rPr>
              <a:t>SHA-256 қиылысы: 0. Бір есептен бір сурет.</a:t>
            </a:r>
          </a:p>
        </p:txBody>
      </p:sp>
      <p:sp>
        <p:nvSpPr>
          <p:cNvPr id="6" name="">
            <a:extLst xmlns:a="http://schemas.openxmlformats.org/drawingml/2006/main">
              <a:ext uri="{FF2B5EF4-FFF2-40B4-BE49-F238E27FC236}">
                <a16:creationId xmlns:a16="http://schemas.microsoft.com/office/drawing/2014/main" id="{9B44F38A-8DE0-435D-9F58-B3AD68E1FE94}"/>
              </a:ext>
            </a:extLst>
          </p:cNvPr>
          <p:cNvSpPr>
            <a:spLocks xmlns:a="http://schemas.openxmlformats.org/drawingml/2006/main" noGrp="1"/>
          </p:cNvSpPr>
          <p:nvPr/>
        </p:nvSpPr>
        <p:spPr>
          <a:xfrm xmlns:a="http://schemas.openxmlformats.org/drawingml/2006/main">
            <a:off x="628650" y="6200775"/>
            <a:ext cx="1028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75" b="0">
                <a:solidFill>
                  <a:srgbClr val="617C77"/>
                </a:solidFill>
                <a:latin typeface="Arial"/>
                <a:ea typeface="Arial"/>
                <a:cs typeface="Arial"/>
              </a:defRPr>
            </a:defPPr>
          </a:lstStyle>
          <a:p xmlns:a="http://schemas.openxmlformats.org/drawingml/2006/main">
            <a:pPr>
              <a:defRPr sz="1575" b="0">
                <a:solidFill>
                  <a:srgbClr val="617C77"/>
                </a:solidFill>
                <a:latin typeface="Arial"/>
                <a:ea typeface="Arial"/>
                <a:cs typeface="Arial"/>
              </a:defRPr>
            </a:pPr>
            <a:r>
              <a:rPr sz="1575" b="0">
                <a:solidFill>
                  <a:srgbClr val="617C77"/>
                </a:solidFill>
                <a:latin typeface="Arial"/>
                <a:ea typeface="Arial"/>
                <a:cs typeface="Arial"/>
              </a:rPr>
              <a:t>Топтау есеп ID-іне сүйенеді. Пациент ID толық расталмаған.</a:t>
            </a:r>
          </a:p>
        </p:txBody>
      </p:sp>
    </p:spTree>
    <p:extLst>
      <p:ext uri="{BB962C8B-B14F-4D97-AF65-F5344CB8AC3E}">
        <p14:creationId xmlns:p14="http://schemas.microsoft.com/office/powerpoint/2010/main" val="228856872"/>
      </p:ext>
    </p:extLst>
  </p:cSld>
</p:sld>
</file>

<file path=ppt/slides/slide12.xml><?xml version="1.0" encoding="utf-8"?>
<p:sld xmlns:p="http://schemas.openxmlformats.org/presentationml/2006/main">
  <p:cSld>
    <p:bg>
      <p:bgPr>
        <a:solidFill xmlns:a="http://schemas.openxmlformats.org/drawingml/2006/main">
          <a:srgbClr val="193E3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B350165-DA83-472D-8898-368F046A6E55}"/>
              </a:ext>
            </a:extLst>
          </p:cNvPr>
          <p:cNvSpPr>
            <a:spLocks xmlns:a="http://schemas.openxmlformats.org/drawingml/2006/main" noGrp="1"/>
          </p:cNvSpPr>
          <p:nvPr/>
        </p:nvSpPr>
        <p:spPr>
          <a:xfrm xmlns:a="http://schemas.openxmlformats.org/drawingml/2006/main">
            <a:off x="609600" y="4953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1">
                <a:solidFill>
                  <a:srgbClr val="FFFFFF"/>
                </a:solidFill>
                <a:latin typeface="Arial"/>
                <a:ea typeface="Arial"/>
                <a:cs typeface="Arial"/>
              </a:defRPr>
            </a:defPPr>
          </a:lstStyle>
          <a:p xmlns:a="http://schemas.openxmlformats.org/drawingml/2006/main">
            <a:pPr>
              <a:defRPr sz="3225" b="1">
                <a:solidFill>
                  <a:srgbClr val="FFFFFF"/>
                </a:solidFill>
                <a:latin typeface="Arial"/>
                <a:ea typeface="Arial"/>
                <a:cs typeface="Arial"/>
              </a:defRPr>
            </a:pPr>
            <a:r>
              <a:rPr sz="3225" b="1">
                <a:solidFill>
                  <a:srgbClr val="FFFFFF"/>
                </a:solidFill>
                <a:latin typeface="Arial"/>
                <a:ea typeface="Arial"/>
                <a:cs typeface="Arial"/>
              </a:rPr>
              <a:t>Калибрлеу және OOD: іске қосу күйі</a:t>
            </a:r>
          </a:p>
        </p:txBody>
      </p:sp>
      <p:sp>
        <p:nvSpPr>
          <p:cNvPr id="2" name="">
            <a:extLst xmlns:a="http://schemas.openxmlformats.org/drawingml/2006/main">
              <a:ext uri="{FF2B5EF4-FFF2-40B4-BE49-F238E27FC236}">
                <a16:creationId xmlns:a16="http://schemas.microsoft.com/office/drawing/2014/main" id="{6A2443B1-4DF8-4984-84B3-70E00F7421F5}"/>
              </a:ext>
            </a:extLst>
          </p:cNvPr>
          <p:cNvSpPr>
            <a:spLocks xmlns:a="http://schemas.openxmlformats.org/drawingml/2006/main" noGrp="1"/>
          </p:cNvSpPr>
          <p:nvPr/>
        </p:nvSpPr>
        <p:spPr>
          <a:xfrm xmlns:a="http://schemas.openxmlformats.org/drawingml/2006/main">
            <a:off x="11077575" y="6315075"/>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B8E5D8"/>
                </a:solidFill>
                <a:latin typeface="Arial"/>
                <a:ea typeface="Arial"/>
                <a:cs typeface="Arial"/>
              </a:defRPr>
            </a:defPPr>
          </a:lstStyle>
          <a:p xmlns:a="http://schemas.openxmlformats.org/drawingml/2006/main">
            <a:pPr>
              <a:defRPr sz="1275" b="0">
                <a:solidFill>
                  <a:srgbClr val="B8E5D8"/>
                </a:solidFill>
                <a:latin typeface="Arial"/>
                <a:ea typeface="Arial"/>
                <a:cs typeface="Arial"/>
              </a:defRPr>
            </a:pPr>
            <a:r>
              <a:rPr sz="1275" b="0">
                <a:solidFill>
                  <a:srgbClr val="B8E5D8"/>
                </a:solidFill>
                <a:latin typeface="Arial"/>
                <a:ea typeface="Arial"/>
                <a:cs typeface="Arial"/>
              </a:rPr>
              <a:t>12</a:t>
            </a:r>
          </a:p>
        </p:txBody>
      </p:sp>
      <p:sp>
        <p:nvSpPr>
          <p:cNvPr id="3" name="">
            <a:extLst xmlns:a="http://schemas.openxmlformats.org/drawingml/2006/main">
              <a:ext uri="{FF2B5EF4-FFF2-40B4-BE49-F238E27FC236}">
                <a16:creationId xmlns:a16="http://schemas.microsoft.com/office/drawing/2014/main" id="{918F6ED3-E708-47C7-90EC-4CFD25AF31A0}"/>
              </a:ext>
            </a:extLst>
          </p:cNvPr>
          <p:cNvSpPr>
            <a:spLocks xmlns:a="http://schemas.openxmlformats.org/drawingml/2006/main" noGrp="1"/>
          </p:cNvSpPr>
          <p:nvPr/>
        </p:nvSpPr>
        <p:spPr>
          <a:xfrm xmlns:a="http://schemas.openxmlformats.org/drawingml/2006/main">
            <a:off x="609600" y="1762125"/>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000" b="1">
                <a:solidFill>
                  <a:srgbClr val="B8E5D8"/>
                </a:solidFill>
                <a:latin typeface="Arial"/>
                <a:ea typeface="Arial"/>
                <a:cs typeface="Arial"/>
              </a:defRPr>
            </a:defPPr>
          </a:lstStyle>
          <a:p xmlns:a="http://schemas.openxmlformats.org/drawingml/2006/main">
            <a:pPr>
              <a:defRPr sz="3000" b="1">
                <a:solidFill>
                  <a:srgbClr val="B8E5D8"/>
                </a:solidFill>
                <a:latin typeface="Arial"/>
                <a:ea typeface="Arial"/>
                <a:cs typeface="Arial"/>
              </a:defRPr>
            </a:pPr>
            <a:r>
              <a:rPr sz="3000" b="1">
                <a:solidFill>
                  <a:srgbClr val="B8E5D8"/>
                </a:solidFill>
                <a:latin typeface="Arial"/>
                <a:ea typeface="Arial"/>
                <a:cs typeface="Arial"/>
              </a:rPr>
              <a:t>p_cal = sigmoid(logit(p) / T)</a:t>
            </a:r>
          </a:p>
        </p:txBody>
      </p:sp>
      <p:sp>
        <p:nvSpPr>
          <p:cNvPr id="4" name="">
            <a:extLst xmlns:a="http://schemas.openxmlformats.org/drawingml/2006/main">
              <a:ext uri="{FF2B5EF4-FFF2-40B4-BE49-F238E27FC236}">
                <a16:creationId xmlns:a16="http://schemas.microsoft.com/office/drawing/2014/main" id="{D95BEDF0-6623-491D-B109-9829CD322D1D}"/>
              </a:ext>
            </a:extLst>
          </p:cNvPr>
          <p:cNvSpPr>
            <a:spLocks xmlns:a="http://schemas.openxmlformats.org/drawingml/2006/main" noGrp="1"/>
          </p:cNvSpPr>
          <p:nvPr/>
        </p:nvSpPr>
        <p:spPr>
          <a:xfrm xmlns:a="http://schemas.openxmlformats.org/drawingml/2006/main">
            <a:off x="609600" y="2828925"/>
            <a:ext cx="514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1">
                <a:solidFill>
                  <a:srgbClr val="B8E5D8"/>
                </a:solidFill>
                <a:latin typeface="Arial"/>
                <a:ea typeface="Arial"/>
                <a:cs typeface="Arial"/>
              </a:defRPr>
            </a:defPPr>
          </a:lstStyle>
          <a:p xmlns:a="http://schemas.openxmlformats.org/drawingml/2006/main">
            <a:pPr>
              <a:defRPr sz="2325" b="1">
                <a:solidFill>
                  <a:srgbClr val="B8E5D8"/>
                </a:solidFill>
                <a:latin typeface="Arial"/>
                <a:ea typeface="Arial"/>
                <a:cs typeface="Arial"/>
              </a:defRPr>
            </a:pPr>
            <a:r>
              <a:rPr sz="2325" b="1">
                <a:solidFill>
                  <a:srgbClr val="B8E5D8"/>
                </a:solidFill>
                <a:latin typeface="Arial"/>
                <a:ea typeface="Arial"/>
                <a:cs typeface="Arial"/>
              </a:rPr>
              <a:t>Қосылған код</a:t>
            </a:r>
          </a:p>
        </p:txBody>
      </p:sp>
      <p:sp>
        <p:nvSpPr>
          <p:cNvPr id="5" name="">
            <a:extLst xmlns:a="http://schemas.openxmlformats.org/drawingml/2006/main">
              <a:ext uri="{FF2B5EF4-FFF2-40B4-BE49-F238E27FC236}">
                <a16:creationId xmlns:a16="http://schemas.microsoft.com/office/drawing/2014/main" id="{4C7A1F8B-435A-4E16-898B-7118127FE5BE}"/>
              </a:ext>
            </a:extLst>
          </p:cNvPr>
          <p:cNvSpPr>
            <a:spLocks xmlns:a="http://schemas.openxmlformats.org/drawingml/2006/main" noGrp="1"/>
          </p:cNvSpPr>
          <p:nvPr/>
        </p:nvSpPr>
        <p:spPr>
          <a:xfrm xmlns:a="http://schemas.openxmlformats.org/drawingml/2006/main">
            <a:off x="619125" y="3581400"/>
            <a:ext cx="5381625"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FFFFF"/>
                </a:solidFill>
                <a:latin typeface="Arial"/>
                <a:ea typeface="Arial"/>
                <a:cs typeface="Arial"/>
              </a:defRPr>
            </a:defPPr>
          </a:lstStyle>
          <a:p xmlns:a="http://schemas.openxmlformats.org/drawingml/2006/main">
            <a:pPr>
              <a:defRPr sz="2100" b="0">
                <a:solidFill>
                  <a:srgbClr val="FFFFFF"/>
                </a:solidFill>
                <a:latin typeface="Arial"/>
                <a:ea typeface="Arial"/>
                <a:cs typeface="Arial"/>
              </a:defRPr>
            </a:pPr>
            <a:r>
              <a:rPr sz="2100" b="0">
                <a:solidFill>
                  <a:srgbClr val="FFFFFF"/>
                </a:solidFill>
                <a:latin typeface="Arial"/>
                <a:ea typeface="Arial"/>
                <a:cs typeface="Arial"/>
              </a:rPr>
              <a:t>T: 0,2–5,0, validation NLL</a:t>
            </a:r>
          </a:p>
          <a:p xmlns:a="http://schemas.openxmlformats.org/drawingml/2006/main">
            <a:pPr>
              <a:defRPr sz="2100" b="0">
                <a:solidFill>
                  <a:srgbClr val="FFFFFF"/>
                </a:solidFill>
                <a:latin typeface="Arial"/>
                <a:ea typeface="Arial"/>
                <a:cs typeface="Arial"/>
              </a:defRPr>
            </a:pPr>
            <a:r>
              <a:rPr sz="2100" b="0">
                <a:solidFill>
                  <a:srgbClr val="FFFFFF"/>
                </a:solidFill>
                <a:latin typeface="Arial"/>
                <a:ea typeface="Arial"/>
                <a:cs typeface="Arial"/>
              </a:rPr>
              <a:t>Жаңа шек тек validation-да</a:t>
            </a:r>
          </a:p>
          <a:p xmlns:a="http://schemas.openxmlformats.org/drawingml/2006/main">
            <a:pPr>
              <a:defRPr sz="2100" b="0">
                <a:solidFill>
                  <a:srgbClr val="FFFFFF"/>
                </a:solidFill>
                <a:latin typeface="Arial"/>
                <a:ea typeface="Arial"/>
                <a:cs typeface="Arial"/>
              </a:defRPr>
            </a:pPr>
            <a:r>
              <a:rPr sz="2100" b="0">
                <a:solidFill>
                  <a:srgbClr val="FFFFFF"/>
                </a:solidFill>
                <a:latin typeface="Arial"/>
                <a:ea typeface="Arial"/>
                <a:cs typeface="Arial"/>
              </a:rPr>
              <a:t>Grad-CAM raw баллын тексереді</a:t>
            </a:r>
          </a:p>
        </p:txBody>
      </p:sp>
      <p:sp>
        <p:nvSpPr>
          <p:cNvPr id="6" name="">
            <a:extLst xmlns:a="http://schemas.openxmlformats.org/drawingml/2006/main">
              <a:ext uri="{FF2B5EF4-FFF2-40B4-BE49-F238E27FC236}">
                <a16:creationId xmlns:a16="http://schemas.microsoft.com/office/drawing/2014/main" id="{FA8F63BF-6D96-4BAF-B7D1-920DDD87CB74}"/>
              </a:ext>
            </a:extLst>
          </p:cNvPr>
          <p:cNvSpPr>
            <a:spLocks xmlns:a="http://schemas.openxmlformats.org/drawingml/2006/main" noGrp="1"/>
          </p:cNvSpPr>
          <p:nvPr/>
        </p:nvSpPr>
        <p:spPr>
          <a:xfrm xmlns:a="http://schemas.openxmlformats.org/drawingml/2006/main">
            <a:off x="6753225" y="2828925"/>
            <a:ext cx="4810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1">
                <a:solidFill>
                  <a:srgbClr val="B8E5D8"/>
                </a:solidFill>
                <a:latin typeface="Arial"/>
                <a:ea typeface="Arial"/>
                <a:cs typeface="Arial"/>
              </a:defRPr>
            </a:defPPr>
          </a:lstStyle>
          <a:p xmlns:a="http://schemas.openxmlformats.org/drawingml/2006/main">
            <a:pPr>
              <a:defRPr sz="2325" b="1">
                <a:solidFill>
                  <a:srgbClr val="B8E5D8"/>
                </a:solidFill>
                <a:latin typeface="Arial"/>
                <a:ea typeface="Arial"/>
                <a:cs typeface="Arial"/>
              </a:defRPr>
            </a:pPr>
            <a:r>
              <a:rPr sz="2325" b="1">
                <a:solidFill>
                  <a:srgbClr val="B8E5D8"/>
                </a:solidFill>
                <a:latin typeface="Arial"/>
                <a:ea typeface="Arial"/>
                <a:cs typeface="Arial"/>
              </a:rPr>
              <a:t>Қазіргі күйі</a:t>
            </a:r>
          </a:p>
        </p:txBody>
      </p:sp>
      <p:sp>
        <p:nvSpPr>
          <p:cNvPr id="7" name="">
            <a:extLst xmlns:a="http://schemas.openxmlformats.org/drawingml/2006/main">
              <a:ext uri="{FF2B5EF4-FFF2-40B4-BE49-F238E27FC236}">
                <a16:creationId xmlns:a16="http://schemas.microsoft.com/office/drawing/2014/main" id="{50DF91B3-2F41-464E-9973-85F9512AAF92}"/>
              </a:ext>
            </a:extLst>
          </p:cNvPr>
          <p:cNvSpPr>
            <a:spLocks xmlns:a="http://schemas.openxmlformats.org/drawingml/2006/main" noGrp="1"/>
          </p:cNvSpPr>
          <p:nvPr/>
        </p:nvSpPr>
        <p:spPr>
          <a:xfrm xmlns:a="http://schemas.openxmlformats.org/drawingml/2006/main">
            <a:off x="6762750" y="3581400"/>
            <a:ext cx="4810125"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FFFFFF"/>
                </a:solidFill>
                <a:latin typeface="Arial"/>
                <a:ea typeface="Arial"/>
                <a:cs typeface="Arial"/>
              </a:defRPr>
            </a:defPPr>
          </a:lstStyle>
          <a:p xmlns:a="http://schemas.openxmlformats.org/drawingml/2006/main">
            <a:pPr>
              <a:defRPr sz="2025" b="0">
                <a:solidFill>
                  <a:srgbClr val="FFFFFF"/>
                </a:solidFill>
                <a:latin typeface="Arial"/>
                <a:ea typeface="Arial"/>
                <a:cs typeface="Arial"/>
              </a:defRPr>
            </a:pPr>
            <a:r>
              <a:rPr sz="2025" b="0">
                <a:solidFill>
                  <a:srgbClr val="FFFFFF"/>
                </a:solidFill>
                <a:latin typeface="Arial"/>
                <a:ea typeface="Arial"/>
                <a:cs typeface="Arial"/>
              </a:rPr>
              <a:t>T = 1, калибрлеу қолданылмаған</a:t>
            </a:r>
          </a:p>
          <a:p xmlns:a="http://schemas.openxmlformats.org/drawingml/2006/main">
            <a:pPr>
              <a:defRPr sz="2025" b="0">
                <a:solidFill>
                  <a:srgbClr val="FFFFFF"/>
                </a:solidFill>
                <a:latin typeface="Arial"/>
                <a:ea typeface="Arial"/>
                <a:cs typeface="Arial"/>
              </a:defRPr>
            </a:pPr>
            <a:r>
              <a:rPr sz="2025" b="0">
                <a:solidFill>
                  <a:srgbClr val="FFFFFF"/>
                </a:solidFill>
                <a:latin typeface="Arial"/>
                <a:ea typeface="Arial"/>
                <a:cs typeface="Arial"/>
              </a:rPr>
              <a:t>OOD параметрлері есептелмеген</a:t>
            </a:r>
          </a:p>
          <a:p xmlns:a="http://schemas.openxmlformats.org/drawingml/2006/main">
            <a:pPr>
              <a:defRPr sz="2025" b="0">
                <a:solidFill>
                  <a:srgbClr val="FFFFFF"/>
                </a:solidFill>
                <a:latin typeface="Arial"/>
                <a:ea typeface="Arial"/>
                <a:cs typeface="Arial"/>
              </a:defRPr>
            </a:pPr>
            <a:r>
              <a:rPr sz="2025" b="0">
                <a:solidFill>
                  <a:srgbClr val="FFFFFF"/>
                </a:solidFill>
                <a:latin typeface="Arial"/>
                <a:ea typeface="Arial"/>
                <a:cs typeface="Arial"/>
              </a:rPr>
              <a:t>312 / 952 файл, желі тайм-ауты</a:t>
            </a:r>
          </a:p>
        </p:txBody>
      </p:sp>
      <p:sp>
        <p:nvSpPr>
          <p:cNvPr id="8" name="">
            <a:extLst xmlns:a="http://schemas.openxmlformats.org/drawingml/2006/main">
              <a:ext uri="{FF2B5EF4-FFF2-40B4-BE49-F238E27FC236}">
                <a16:creationId xmlns:a16="http://schemas.microsoft.com/office/drawing/2014/main" id="{5F162A07-EC40-43F1-87BF-7473D67B534C}"/>
              </a:ext>
            </a:extLst>
          </p:cNvPr>
          <p:cNvSpPr>
            <a:spLocks xmlns:a="http://schemas.openxmlformats.org/drawingml/2006/main" noGrp="1"/>
          </p:cNvSpPr>
          <p:nvPr/>
        </p:nvSpPr>
        <p:spPr>
          <a:xfrm xmlns:a="http://schemas.openxmlformats.org/drawingml/2006/main">
            <a:off x="609600" y="5734050"/>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1">
                <a:solidFill>
                  <a:srgbClr val="B8E5D8"/>
                </a:solidFill>
                <a:latin typeface="Arial"/>
                <a:ea typeface="Arial"/>
                <a:cs typeface="Arial"/>
              </a:defRPr>
            </a:defPPr>
          </a:lstStyle>
          <a:p xmlns:a="http://schemas.openxmlformats.org/drawingml/2006/main">
            <a:pPr>
              <a:defRPr sz="2175" b="1">
                <a:solidFill>
                  <a:srgbClr val="B8E5D8"/>
                </a:solidFill>
                <a:latin typeface="Arial"/>
                <a:ea typeface="Arial"/>
                <a:cs typeface="Arial"/>
              </a:defRPr>
            </a:pPr>
            <a:r>
              <a:rPr sz="2175" b="1">
                <a:solidFill>
                  <a:srgbClr val="B8E5D8"/>
                </a:solidFill>
                <a:latin typeface="Arial"/>
                <a:ea typeface="Arial"/>
                <a:cs typeface="Arial"/>
              </a:rPr>
              <a:t>Оқу прототипі. Клиникалық қолдануға бөлек тексеру қажет.</a:t>
            </a:r>
          </a:p>
        </p:txBody>
      </p:sp>
    </p:spTree>
    <p:extLst>
      <p:ext uri="{BB962C8B-B14F-4D97-AF65-F5344CB8AC3E}">
        <p14:creationId xmlns:p14="http://schemas.microsoft.com/office/powerpoint/2010/main" val="27901653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2026-10-15T11:16:52.8760000Z</dcterms:created>
  <dcterms:modified xsi:type="dcterms:W3CDTF">2026-10-15T11:16:52.8760000Z</dcterms:modified>
</coreProperties>
</file>